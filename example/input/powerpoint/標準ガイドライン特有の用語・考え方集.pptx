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removePersonalInfoOnSave="1" saveSubsetFonts="1" autoCompressPictures="0">
  <p:sldMasterIdLst>
    <p:sldMasterId id="2147483648" r:id="rId1"/>
  </p:sldMasterIdLst>
  <p:notesMasterIdLst>
    <p:notesMasterId r:id="rId16"/>
  </p:notesMasterIdLst>
  <p:handoutMasterIdLst>
    <p:handoutMasterId r:id="rId17"/>
  </p:handoutMasterIdLst>
  <p:sldIdLst>
    <p:sldId id="2147470300" r:id="rId2"/>
    <p:sldId id="2147470298" r:id="rId3"/>
    <p:sldId id="2147470301" r:id="rId4"/>
    <p:sldId id="2147470282" r:id="rId5"/>
    <p:sldId id="2147470284" r:id="rId6"/>
    <p:sldId id="2147470287" r:id="rId7"/>
    <p:sldId id="2147470286" r:id="rId8"/>
    <p:sldId id="2147470293" r:id="rId9"/>
    <p:sldId id="2147470289" r:id="rId10"/>
    <p:sldId id="2147470292" r:id="rId11"/>
    <p:sldId id="2147470288" r:id="rId12"/>
    <p:sldId id="2147470294" r:id="rId13"/>
    <p:sldId id="2147470295" r:id="rId14"/>
    <p:sldId id="2147470296"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作成者"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a:srgbClr val="009999"/>
    <a:srgbClr val="FFFFFF"/>
    <a:srgbClr val="60733A"/>
    <a:srgbClr val="D7E4BD"/>
    <a:srgbClr val="1E50B5"/>
    <a:srgbClr val="E9EDF4"/>
    <a:srgbClr val="404040"/>
    <a:srgbClr val="F4F4F4"/>
    <a:srgbClr val="3E5C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淡色スタイル 3 - アクセント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D03447BB-5D67-496B-8E87-E561075AD55C}" styleName="濃色スタイル 1 - アクセント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99" autoAdjust="0"/>
    <p:restoredTop sz="77430" autoAdjust="0"/>
  </p:normalViewPr>
  <p:slideViewPr>
    <p:cSldViewPr snapToGrid="0">
      <p:cViewPr varScale="1">
        <p:scale>
          <a:sx n="80" d="100"/>
          <a:sy n="80" d="100"/>
        </p:scale>
        <p:origin x="80" y="380"/>
      </p:cViewPr>
      <p:guideLst/>
    </p:cSldViewPr>
  </p:slideViewPr>
  <p:notesTextViewPr>
    <p:cViewPr>
      <p:scale>
        <a:sx n="100" d="100"/>
        <a:sy n="100" d="100"/>
      </p:scale>
      <p:origin x="0" y="0"/>
    </p:cViewPr>
  </p:notesTextViewPr>
  <p:sorterViewPr>
    <p:cViewPr>
      <p:scale>
        <a:sx n="170" d="100"/>
        <a:sy n="17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1CE066A2-80AD-43A2-A219-2EA363DE0E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D0F1F566-E206-4497-A045-9748E4E54D8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FB63DF-E160-42EB-8E2B-592BF8341029}" type="datetimeFigureOut">
              <a:rPr kumimoji="1" lang="ja-JP" altLang="en-US" smtClean="0"/>
              <a:t>2026/7/9</a:t>
            </a:fld>
            <a:endParaRPr kumimoji="1" lang="ja-JP" altLang="en-US"/>
          </a:p>
        </p:txBody>
      </p:sp>
      <p:sp>
        <p:nvSpPr>
          <p:cNvPr id="4" name="フッター プレースホルダー 3">
            <a:extLst>
              <a:ext uri="{FF2B5EF4-FFF2-40B4-BE49-F238E27FC236}">
                <a16:creationId xmlns:a16="http://schemas.microsoft.com/office/drawing/2014/main" id="{23837DE8-A473-4AF9-9810-C1A1D9F4FF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A60060F2-222F-4090-A141-4BD7E4E554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D3E8D4-4D9A-4767-B4A8-F306926D80EE}" type="slidenum">
              <a:rPr kumimoji="1" lang="ja-JP" altLang="en-US" smtClean="0"/>
              <a:t>‹#›</a:t>
            </a:fld>
            <a:endParaRPr kumimoji="1" lang="ja-JP" altLang="en-US"/>
          </a:p>
        </p:txBody>
      </p:sp>
    </p:spTree>
    <p:extLst>
      <p:ext uri="{BB962C8B-B14F-4D97-AF65-F5344CB8AC3E}">
        <p14:creationId xmlns:p14="http://schemas.microsoft.com/office/powerpoint/2010/main" val="14499707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14164F-1AF4-4168-B424-02521B930000}" type="datetimeFigureOut">
              <a:rPr kumimoji="1" lang="ja-JP" altLang="en-US" smtClean="0"/>
              <a:t>2026/7/9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969D58-0200-4E0D-8C47-F0B8749FCF3F}" type="slidenum">
              <a:rPr kumimoji="1" lang="ja-JP" altLang="en-US" smtClean="0"/>
              <a:t>‹#›</a:t>
            </a:fld>
            <a:endParaRPr kumimoji="1" lang="ja-JP" altLang="en-US"/>
          </a:p>
        </p:txBody>
      </p:sp>
    </p:spTree>
    <p:extLst>
      <p:ext uri="{BB962C8B-B14F-4D97-AF65-F5344CB8AC3E}">
        <p14:creationId xmlns:p14="http://schemas.microsoft.com/office/powerpoint/2010/main" val="302595258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65956-BA52-A7D8-D4B8-A7739529D9F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99899B-7AEE-5CCC-578C-1728E934D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C486765-CBC7-5825-F8A2-38DFF18511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E261B82-A279-660A-0870-46C0B28CA3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969D58-0200-4E0D-8C47-F0B8749FCF3F}"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92621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0225E-E571-9ECC-FD8F-0739F04708F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EC5395-2FA8-7683-DA91-7439D6BE709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73109D7-E6AD-097A-E1CA-61871EBE86D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0F4E4F5-D088-6EEE-313F-1D103EF3F8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969D58-0200-4E0D-8C47-F0B8749FCF3F}"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95838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EE69D-AF2C-010E-6D05-DA4ABE678C3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058FB92-98AA-9061-7A0C-81AAADFD0D0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EEFE76-6365-5869-AB36-0D13BEBAFBA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0BE6B79-815E-33D6-4DCB-7378CD9EBD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969D58-0200-4E0D-8C47-F0B8749FCF3F}"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554060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9DBA3-376A-BFAC-510B-4DA594851A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5C7FB4E-4FFA-31EF-FFFD-C78B27AFB9F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8787E3D-8FBE-D7D0-3C4B-5A5B2E696D2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9B3B503-DACA-F5DA-6B37-8325EEFA46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969D58-0200-4E0D-8C47-F0B8749FCF3F}"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001222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14958-5442-554D-A3C9-A93755EF44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533544-F7B8-5C15-D079-FD2774C8891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956F393-6852-DFF0-A4F6-F435E8C80A5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35255F2-C55A-7A8D-1C69-8C69BF4600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969D58-0200-4E0D-8C47-F0B8749FCF3F}"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875437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833D2-33E2-6CAB-998A-0904EA16897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D70ED22-320F-6958-5EE5-497C37C1F0E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E837B1-01CB-CF51-3A3D-2B0E9D56795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A004466-057A-351D-1E3D-CF14F80F03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969D58-0200-4E0D-8C47-F0B8749FCF3F}"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624767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A184C-C9B3-5C0F-6849-3FA154C2B6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260F5C-EC39-3DEC-D342-1BE5D89AFE7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DDE8553-9BBE-7970-FBB2-00C499B8839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E8956EC-310F-2274-B6C7-C32F2ADD5B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969D58-0200-4E0D-8C47-F0B8749FCF3F}"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052585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2C7DC-E244-2160-0FE0-598B521987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7DCB8CA-FE99-980A-FD29-6430111C1BB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6B4D7A-4D7C-4660-52DA-46C507183A4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F9A3CAF-00EB-F836-6F8C-96834FE340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969D58-0200-4E0D-8C47-F0B8749FCF3F}"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295671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71065-53B1-F2B6-0D2B-D26C6DA435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A01F823-2815-BDB2-289D-0B2DABD5598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33DB41A-7214-9225-B63F-FB44B1AA847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89FD3E1-3710-9726-B05D-C40427E193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969D58-0200-4E0D-8C47-F0B8749FCF3F}"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873770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FDD3C-50A4-037C-4C89-5A47CFBCD0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AA7EB32-3860-316F-3B33-5C5D80E9E75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C168D2-6A63-8253-D817-158939812B2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F986A56-BF4F-B610-2BD9-F992C2E180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969D58-0200-4E0D-8C47-F0B8749FCF3F}"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9349772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6FA42-C24E-CA23-BB16-24AB8BAEB6C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8DA6E9F-6713-F276-4B41-5302F23836F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239F23-C88A-2569-81E9-42D78DF6F3D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97FAAEB-5533-ACE5-0C9F-CD1F78BDDB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969D58-0200-4E0D-8C47-F0B8749FCF3F}"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909392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842E95-3220-42D0-ADBD-4DD722CDA9C6}"/>
              </a:ext>
            </a:extLst>
          </p:cNvPr>
          <p:cNvSpPr>
            <a:spLocks noGrp="1"/>
          </p:cNvSpPr>
          <p:nvPr>
            <p:ph type="ctrTitle"/>
          </p:nvPr>
        </p:nvSpPr>
        <p:spPr>
          <a:xfrm>
            <a:off x="1741932" y="1378947"/>
            <a:ext cx="8708136" cy="1938992"/>
          </a:xfrm>
        </p:spPr>
        <p:txBody>
          <a:bodyPr anchor="b"/>
          <a:lstStyle>
            <a:lvl1pPr algn="l">
              <a:lnSpc>
                <a:spcPct val="100000"/>
              </a:lnSpc>
              <a:defRPr sz="6000" b="1">
                <a:latin typeface="Yu Gothic Medium" panose="020B0500000000000000" pitchFamily="34" charset="-128"/>
                <a:ea typeface="Yu Gothic Medium" panose="020B0500000000000000" pitchFamily="34" charset="-128"/>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6AC1769-CAF8-471C-80F2-350AEAEA5029}"/>
              </a:ext>
            </a:extLst>
          </p:cNvPr>
          <p:cNvSpPr>
            <a:spLocks noGrp="1"/>
          </p:cNvSpPr>
          <p:nvPr>
            <p:ph type="subTitle" idx="1"/>
          </p:nvPr>
        </p:nvSpPr>
        <p:spPr>
          <a:xfrm>
            <a:off x="1874982" y="3571614"/>
            <a:ext cx="8575086" cy="885299"/>
          </a:xfrm>
        </p:spPr>
        <p:txBody>
          <a:bodyPr/>
          <a:lstStyle>
            <a:lvl1pPr marL="0" indent="0" algn="l">
              <a:buFont typeface="Arial" panose="020B0604020202020204" pitchFamily="34" charset="0"/>
              <a:buNone/>
              <a:defRPr sz="2400" b="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en-US" altLang="ja-JP"/>
          </a:p>
          <a:p>
            <a:r>
              <a:rPr kumimoji="1" lang="ja-JP" altLang="en-US"/>
              <a:t>サブタイトルサブ</a:t>
            </a:r>
          </a:p>
        </p:txBody>
      </p:sp>
      <p:pic>
        <p:nvPicPr>
          <p:cNvPr id="15" name="図 14" descr="デジタル庁ロゴ&#10;">
            <a:extLst>
              <a:ext uri="{FF2B5EF4-FFF2-40B4-BE49-F238E27FC236}">
                <a16:creationId xmlns:a16="http://schemas.microsoft.com/office/drawing/2014/main" id="{5C512B69-CD07-4175-A3E8-70BF55D7DD01}"/>
              </a:ext>
            </a:extLst>
          </p:cNvPr>
          <p:cNvPicPr>
            <a:picLocks noChangeAspect="1"/>
          </p:cNvPicPr>
          <p:nvPr userDrawn="1"/>
        </p:nvPicPr>
        <p:blipFill>
          <a:blip r:embed="rId2"/>
          <a:stretch>
            <a:fillRect/>
          </a:stretch>
        </p:blipFill>
        <p:spPr>
          <a:xfrm>
            <a:off x="1597391" y="4840084"/>
            <a:ext cx="3286944" cy="1065125"/>
          </a:xfrm>
          <a:prstGeom prst="rect">
            <a:avLst/>
          </a:prstGeom>
        </p:spPr>
      </p:pic>
    </p:spTree>
    <p:extLst>
      <p:ext uri="{BB962C8B-B14F-4D97-AF65-F5344CB8AC3E}">
        <p14:creationId xmlns:p14="http://schemas.microsoft.com/office/powerpoint/2010/main" val="1372980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セクションタイトル">
    <p:bg>
      <p:bgRef idx="1001">
        <a:schemeClr val="bg1"/>
      </p:bgRef>
    </p:bg>
    <p:spTree>
      <p:nvGrpSpPr>
        <p:cNvPr id="1" name=""/>
        <p:cNvGrpSpPr/>
        <p:nvPr/>
      </p:nvGrpSpPr>
      <p:grpSpPr>
        <a:xfrm>
          <a:off x="0" y="0"/>
          <a:ext cx="0" cy="0"/>
          <a:chOff x="0" y="0"/>
          <a:chExt cx="0" cy="0"/>
        </a:xfrm>
      </p:grpSpPr>
      <p:sp>
        <p:nvSpPr>
          <p:cNvPr id="9" name="スライド番号プレースホルダー 7">
            <a:extLst>
              <a:ext uri="{FF2B5EF4-FFF2-40B4-BE49-F238E27FC236}">
                <a16:creationId xmlns:a16="http://schemas.microsoft.com/office/drawing/2014/main" id="{FB4E48A9-D590-461B-8F64-59900B1D64CD}"/>
              </a:ext>
            </a:extLst>
          </p:cNvPr>
          <p:cNvSpPr txBox="1">
            <a:spLocks/>
          </p:cNvSpPr>
          <p:nvPr userDrawn="1"/>
        </p:nvSpPr>
        <p:spPr>
          <a:xfrm>
            <a:off x="8972463" y="6321264"/>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400" b="0" kern="1200">
                <a:solidFill>
                  <a:schemeClr val="bg1">
                    <a:lumMod val="50000"/>
                  </a:schemeClr>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FD4F317-19D0-4848-B5EB-5B174DBE8CF9}" type="slidenum">
              <a:rPr lang="ja-JP" altLang="en-US" smtClean="0"/>
              <a:pPr/>
              <a:t>‹#›</a:t>
            </a:fld>
            <a:endParaRPr lang="ja-JP" altLang="en-US"/>
          </a:p>
        </p:txBody>
      </p:sp>
      <p:sp>
        <p:nvSpPr>
          <p:cNvPr id="3" name="テキスト プレースホルダー 2">
            <a:extLst>
              <a:ext uri="{FF2B5EF4-FFF2-40B4-BE49-F238E27FC236}">
                <a16:creationId xmlns:a16="http://schemas.microsoft.com/office/drawing/2014/main" id="{40BB1C74-900B-433F-890C-085C1B5AD068}"/>
              </a:ext>
            </a:extLst>
          </p:cNvPr>
          <p:cNvSpPr>
            <a:spLocks noGrp="1"/>
          </p:cNvSpPr>
          <p:nvPr>
            <p:ph type="body" idx="1"/>
          </p:nvPr>
        </p:nvSpPr>
        <p:spPr>
          <a:xfrm>
            <a:off x="960698" y="3607309"/>
            <a:ext cx="10386751" cy="702565"/>
          </a:xfrm>
        </p:spPr>
        <p:txBody>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12" name="四角形: 角を丸くする 11">
            <a:extLst>
              <a:ext uri="{FF2B5EF4-FFF2-40B4-BE49-F238E27FC236}">
                <a16:creationId xmlns:a16="http://schemas.microsoft.com/office/drawing/2014/main" id="{43627A73-0747-4D72-B2BD-4AAA11DE0439}"/>
              </a:ext>
            </a:extLst>
          </p:cNvPr>
          <p:cNvSpPr/>
          <p:nvPr userDrawn="1"/>
        </p:nvSpPr>
        <p:spPr>
          <a:xfrm flipH="1" flipV="1">
            <a:off x="-88553" y="2999808"/>
            <a:ext cx="432000" cy="72000"/>
          </a:xfrm>
          <a:prstGeom prst="roundRect">
            <a:avLst>
              <a:gd name="adj" fmla="val 50000"/>
            </a:avLst>
          </a:prstGeom>
          <a:solidFill>
            <a:srgbClr val="11AC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タイトル 13">
            <a:extLst>
              <a:ext uri="{FF2B5EF4-FFF2-40B4-BE49-F238E27FC236}">
                <a16:creationId xmlns:a16="http://schemas.microsoft.com/office/drawing/2014/main" id="{61A0D176-8CFC-4AF5-8C87-029AD308E19B}"/>
              </a:ext>
            </a:extLst>
          </p:cNvPr>
          <p:cNvSpPr>
            <a:spLocks noGrp="1"/>
          </p:cNvSpPr>
          <p:nvPr>
            <p:ph type="title"/>
          </p:nvPr>
        </p:nvSpPr>
        <p:spPr>
          <a:xfrm>
            <a:off x="838200" y="2684525"/>
            <a:ext cx="10515600" cy="702565"/>
          </a:xfrm>
        </p:spPr>
        <p:txBody>
          <a:bodyPr/>
          <a:lstStyle/>
          <a:p>
            <a:r>
              <a:rPr kumimoji="1" lang="ja-JP" altLang="en-US"/>
              <a:t>マスター タイトルの書式設定</a:t>
            </a:r>
          </a:p>
        </p:txBody>
      </p:sp>
    </p:spTree>
    <p:extLst>
      <p:ext uri="{BB962C8B-B14F-4D97-AF65-F5344CB8AC3E}">
        <p14:creationId xmlns:p14="http://schemas.microsoft.com/office/powerpoint/2010/main" val="412207743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セクションタイトル">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0BB1C74-900B-433F-890C-085C1B5AD068}"/>
              </a:ext>
            </a:extLst>
          </p:cNvPr>
          <p:cNvSpPr>
            <a:spLocks noGrp="1"/>
          </p:cNvSpPr>
          <p:nvPr>
            <p:ph type="body" idx="1"/>
          </p:nvPr>
        </p:nvSpPr>
        <p:spPr>
          <a:xfrm>
            <a:off x="960698" y="3607309"/>
            <a:ext cx="10386751" cy="702565"/>
          </a:xfrm>
        </p:spPr>
        <p:txBody>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12" name="四角形: 角を丸くする 11">
            <a:extLst>
              <a:ext uri="{FF2B5EF4-FFF2-40B4-BE49-F238E27FC236}">
                <a16:creationId xmlns:a16="http://schemas.microsoft.com/office/drawing/2014/main" id="{43627A73-0747-4D72-B2BD-4AAA11DE0439}"/>
              </a:ext>
            </a:extLst>
          </p:cNvPr>
          <p:cNvSpPr/>
          <p:nvPr userDrawn="1"/>
        </p:nvSpPr>
        <p:spPr>
          <a:xfrm flipH="1" flipV="1">
            <a:off x="-88553" y="2999808"/>
            <a:ext cx="432000" cy="72000"/>
          </a:xfrm>
          <a:prstGeom prst="roundRect">
            <a:avLst>
              <a:gd name="adj" fmla="val 50000"/>
            </a:avLst>
          </a:prstGeom>
          <a:solidFill>
            <a:srgbClr val="1E50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タイトル 13">
            <a:extLst>
              <a:ext uri="{FF2B5EF4-FFF2-40B4-BE49-F238E27FC236}">
                <a16:creationId xmlns:a16="http://schemas.microsoft.com/office/drawing/2014/main" id="{61A0D176-8CFC-4AF5-8C87-029AD308E19B}"/>
              </a:ext>
            </a:extLst>
          </p:cNvPr>
          <p:cNvSpPr>
            <a:spLocks noGrp="1"/>
          </p:cNvSpPr>
          <p:nvPr>
            <p:ph type="title" hasCustomPrompt="1"/>
          </p:nvPr>
        </p:nvSpPr>
        <p:spPr>
          <a:xfrm>
            <a:off x="838200" y="2684525"/>
            <a:ext cx="10515600" cy="702565"/>
          </a:xfrm>
        </p:spPr>
        <p:txBody>
          <a:bodyPr/>
          <a:lstStyle/>
          <a:p>
            <a:r>
              <a:rPr kumimoji="1" lang="ja-JP" altLang="en-US"/>
              <a:t>デジタルブルー</a:t>
            </a:r>
          </a:p>
        </p:txBody>
      </p:sp>
      <p:sp>
        <p:nvSpPr>
          <p:cNvPr id="6" name="スライド番号プレースホルダー 7">
            <a:extLst>
              <a:ext uri="{FF2B5EF4-FFF2-40B4-BE49-F238E27FC236}">
                <a16:creationId xmlns:a16="http://schemas.microsoft.com/office/drawing/2014/main" id="{8DDD4E5B-9CED-4198-B634-4431C8A64A65}"/>
              </a:ext>
            </a:extLst>
          </p:cNvPr>
          <p:cNvSpPr txBox="1">
            <a:spLocks/>
          </p:cNvSpPr>
          <p:nvPr userDrawn="1"/>
        </p:nvSpPr>
        <p:spPr>
          <a:xfrm>
            <a:off x="8972463" y="6321264"/>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400" b="0" kern="1200">
                <a:solidFill>
                  <a:schemeClr val="bg1">
                    <a:lumMod val="50000"/>
                  </a:schemeClr>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FD4F317-19D0-4848-B5EB-5B174DBE8CF9}" type="slidenum">
              <a:rPr lang="ja-JP" altLang="en-US" smtClean="0"/>
              <a:pPr/>
              <a:t>‹#›</a:t>
            </a:fld>
            <a:endParaRPr lang="ja-JP" altLang="en-US"/>
          </a:p>
        </p:txBody>
      </p:sp>
    </p:spTree>
    <p:extLst>
      <p:ext uri="{BB962C8B-B14F-4D97-AF65-F5344CB8AC3E}">
        <p14:creationId xmlns:p14="http://schemas.microsoft.com/office/powerpoint/2010/main" val="2156719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セクションタイトル">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0BB1C74-900B-433F-890C-085C1B5AD068}"/>
              </a:ext>
            </a:extLst>
          </p:cNvPr>
          <p:cNvSpPr>
            <a:spLocks noGrp="1"/>
          </p:cNvSpPr>
          <p:nvPr>
            <p:ph type="body" idx="1"/>
          </p:nvPr>
        </p:nvSpPr>
        <p:spPr>
          <a:xfrm>
            <a:off x="960698" y="3607309"/>
            <a:ext cx="10386751" cy="702565"/>
          </a:xfrm>
        </p:spPr>
        <p:txBody>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12" name="四角形: 角を丸くする 11">
            <a:extLst>
              <a:ext uri="{FF2B5EF4-FFF2-40B4-BE49-F238E27FC236}">
                <a16:creationId xmlns:a16="http://schemas.microsoft.com/office/drawing/2014/main" id="{43627A73-0747-4D72-B2BD-4AAA11DE0439}"/>
              </a:ext>
            </a:extLst>
          </p:cNvPr>
          <p:cNvSpPr/>
          <p:nvPr userDrawn="1"/>
        </p:nvSpPr>
        <p:spPr>
          <a:xfrm flipH="1" flipV="1">
            <a:off x="-88553" y="2999808"/>
            <a:ext cx="432000" cy="72000"/>
          </a:xfrm>
          <a:prstGeom prst="roundRect">
            <a:avLst>
              <a:gd name="adj" fmla="val 50000"/>
            </a:avLst>
          </a:prstGeom>
          <a:solidFill>
            <a:srgbClr val="E600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タイトル 13">
            <a:extLst>
              <a:ext uri="{FF2B5EF4-FFF2-40B4-BE49-F238E27FC236}">
                <a16:creationId xmlns:a16="http://schemas.microsoft.com/office/drawing/2014/main" id="{61A0D176-8CFC-4AF5-8C87-029AD308E19B}"/>
              </a:ext>
            </a:extLst>
          </p:cNvPr>
          <p:cNvSpPr>
            <a:spLocks noGrp="1"/>
          </p:cNvSpPr>
          <p:nvPr>
            <p:ph type="title" hasCustomPrompt="1"/>
          </p:nvPr>
        </p:nvSpPr>
        <p:spPr>
          <a:xfrm>
            <a:off x="838200" y="2684525"/>
            <a:ext cx="10515600" cy="702565"/>
          </a:xfrm>
        </p:spPr>
        <p:txBody>
          <a:bodyPr/>
          <a:lstStyle/>
          <a:p>
            <a:r>
              <a:rPr kumimoji="1" lang="ja-JP" altLang="en-US"/>
              <a:t>デジタルレッド</a:t>
            </a:r>
          </a:p>
        </p:txBody>
      </p:sp>
      <p:sp>
        <p:nvSpPr>
          <p:cNvPr id="6" name="スライド番号プレースホルダー 7">
            <a:extLst>
              <a:ext uri="{FF2B5EF4-FFF2-40B4-BE49-F238E27FC236}">
                <a16:creationId xmlns:a16="http://schemas.microsoft.com/office/drawing/2014/main" id="{940027AC-B58D-4BD7-9D7F-AA5E91E04E6F}"/>
              </a:ext>
            </a:extLst>
          </p:cNvPr>
          <p:cNvSpPr txBox="1">
            <a:spLocks/>
          </p:cNvSpPr>
          <p:nvPr userDrawn="1"/>
        </p:nvSpPr>
        <p:spPr>
          <a:xfrm>
            <a:off x="8972463" y="6321264"/>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400" b="0" kern="1200">
                <a:solidFill>
                  <a:schemeClr val="bg1">
                    <a:lumMod val="50000"/>
                  </a:schemeClr>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FD4F317-19D0-4848-B5EB-5B174DBE8CF9}" type="slidenum">
              <a:rPr lang="ja-JP" altLang="en-US" smtClean="0"/>
              <a:pPr/>
              <a:t>‹#›</a:t>
            </a:fld>
            <a:endParaRPr lang="ja-JP" altLang="en-US"/>
          </a:p>
        </p:txBody>
      </p:sp>
    </p:spTree>
    <p:extLst>
      <p:ext uri="{BB962C8B-B14F-4D97-AF65-F5344CB8AC3E}">
        <p14:creationId xmlns:p14="http://schemas.microsoft.com/office/powerpoint/2010/main" val="64217494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24732648-477B-4A43-9D46-DAE92109370E}"/>
              </a:ext>
            </a:extLst>
          </p:cNvPr>
          <p:cNvSpPr>
            <a:spLocks noGrp="1"/>
          </p:cNvSpPr>
          <p:nvPr>
            <p:ph idx="1"/>
          </p:nvPr>
        </p:nvSpPr>
        <p:spPr>
          <a:xfrm>
            <a:off x="838200" y="1371241"/>
            <a:ext cx="10515600" cy="481599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四角形: 角を丸くする 9">
            <a:extLst>
              <a:ext uri="{FF2B5EF4-FFF2-40B4-BE49-F238E27FC236}">
                <a16:creationId xmlns:a16="http://schemas.microsoft.com/office/drawing/2014/main" id="{289409F8-EA45-418E-82BE-AC3F77EFB8EA}"/>
              </a:ext>
            </a:extLst>
          </p:cNvPr>
          <p:cNvSpPr/>
          <p:nvPr userDrawn="1"/>
        </p:nvSpPr>
        <p:spPr>
          <a:xfrm flipH="1" flipV="1">
            <a:off x="-88553" y="779126"/>
            <a:ext cx="432000" cy="72000"/>
          </a:xfrm>
          <a:prstGeom prst="roundRect">
            <a:avLst>
              <a:gd name="adj" fmla="val 50000"/>
            </a:avLst>
          </a:prstGeom>
          <a:solidFill>
            <a:srgbClr val="1E50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タイトル 12">
            <a:extLst>
              <a:ext uri="{FF2B5EF4-FFF2-40B4-BE49-F238E27FC236}">
                <a16:creationId xmlns:a16="http://schemas.microsoft.com/office/drawing/2014/main" id="{380D5B96-5C60-4A67-AFCD-B21CB4FAEA04}"/>
              </a:ext>
            </a:extLst>
          </p:cNvPr>
          <p:cNvSpPr>
            <a:spLocks noGrp="1"/>
          </p:cNvSpPr>
          <p:nvPr>
            <p:ph type="title"/>
          </p:nvPr>
        </p:nvSpPr>
        <p:spPr>
          <a:xfrm>
            <a:off x="838200" y="547229"/>
            <a:ext cx="10515600" cy="535788"/>
          </a:xfrm>
        </p:spPr>
        <p:txBody>
          <a:bodyPr/>
          <a:lstStyle>
            <a:lvl1pPr>
              <a:defRPr sz="3200"/>
            </a:lvl1pPr>
          </a:lstStyle>
          <a:p>
            <a:r>
              <a:rPr kumimoji="1" lang="ja-JP" altLang="en-US"/>
              <a:t>マスター タイトルの書式設定</a:t>
            </a:r>
          </a:p>
        </p:txBody>
      </p:sp>
      <p:sp>
        <p:nvSpPr>
          <p:cNvPr id="6" name="スライド番号プレースホルダー 7">
            <a:extLst>
              <a:ext uri="{FF2B5EF4-FFF2-40B4-BE49-F238E27FC236}">
                <a16:creationId xmlns:a16="http://schemas.microsoft.com/office/drawing/2014/main" id="{42F948A6-C7DA-4BC1-919D-DE580ED31601}"/>
              </a:ext>
            </a:extLst>
          </p:cNvPr>
          <p:cNvSpPr txBox="1">
            <a:spLocks/>
          </p:cNvSpPr>
          <p:nvPr userDrawn="1"/>
        </p:nvSpPr>
        <p:spPr>
          <a:xfrm>
            <a:off x="9387329" y="6475461"/>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400" b="0" kern="1200">
                <a:solidFill>
                  <a:schemeClr val="bg1">
                    <a:lumMod val="50000"/>
                  </a:schemeClr>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FD4F317-19D0-4848-B5EB-5B174DBE8CF9}" type="slidenum">
              <a:rPr lang="ja-JP" altLang="en-US" smtClean="0"/>
              <a:pPr/>
              <a:t>‹#›</a:t>
            </a:fld>
            <a:endParaRPr lang="ja-JP" altLang="en-US" dirty="0"/>
          </a:p>
        </p:txBody>
      </p:sp>
    </p:spTree>
    <p:extLst>
      <p:ext uri="{BB962C8B-B14F-4D97-AF65-F5344CB8AC3E}">
        <p14:creationId xmlns:p14="http://schemas.microsoft.com/office/powerpoint/2010/main" val="2461713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タイトルとサマリ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4C7E0D-74A9-4B86-AB69-599D176FF025}"/>
              </a:ext>
            </a:extLst>
          </p:cNvPr>
          <p:cNvSpPr>
            <a:spLocks noGrp="1"/>
          </p:cNvSpPr>
          <p:nvPr>
            <p:ph type="title"/>
          </p:nvPr>
        </p:nvSpPr>
        <p:spPr/>
        <p:txBody>
          <a:bodyPr/>
          <a:lstStyle/>
          <a:p>
            <a:r>
              <a:rPr kumimoji="1" lang="ja-JP" altLang="en-US"/>
              <a:t>マスター タイトルの書式設定</a:t>
            </a:r>
          </a:p>
        </p:txBody>
      </p:sp>
      <p:sp>
        <p:nvSpPr>
          <p:cNvPr id="5" name="コンテンツ プレースホルダー 4">
            <a:extLst>
              <a:ext uri="{FF2B5EF4-FFF2-40B4-BE49-F238E27FC236}">
                <a16:creationId xmlns:a16="http://schemas.microsoft.com/office/drawing/2014/main" id="{8206B1B8-1AF3-434B-8280-C73033673391}"/>
              </a:ext>
            </a:extLst>
          </p:cNvPr>
          <p:cNvSpPr>
            <a:spLocks noGrp="1"/>
          </p:cNvSpPr>
          <p:nvPr>
            <p:ph sz="quarter" idx="11"/>
          </p:nvPr>
        </p:nvSpPr>
        <p:spPr>
          <a:xfrm>
            <a:off x="838201" y="1333178"/>
            <a:ext cx="10515600" cy="2191186"/>
          </a:xfrm>
          <a:solidFill>
            <a:schemeClr val="bg1">
              <a:lumMod val="95000"/>
            </a:schemeClr>
          </a:solidFill>
          <a:ln>
            <a:noFill/>
          </a:ln>
        </p:spPr>
        <p:txBody>
          <a:bodyPr lIns="360000" tIns="216000" rIns="360000" bIns="216000" anchor="t" anchorCtr="0">
            <a:sp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プレースホルダー 6">
            <a:extLst>
              <a:ext uri="{FF2B5EF4-FFF2-40B4-BE49-F238E27FC236}">
                <a16:creationId xmlns:a16="http://schemas.microsoft.com/office/drawing/2014/main" id="{D79A32D3-134A-4CE3-A056-4DF21D27B02B}"/>
              </a:ext>
            </a:extLst>
          </p:cNvPr>
          <p:cNvSpPr>
            <a:spLocks noGrp="1"/>
          </p:cNvSpPr>
          <p:nvPr>
            <p:ph type="body" sz="quarter" idx="12"/>
          </p:nvPr>
        </p:nvSpPr>
        <p:spPr>
          <a:xfrm>
            <a:off x="838200" y="3648074"/>
            <a:ext cx="10515600" cy="250334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四角形: 角を丸くする 5">
            <a:extLst>
              <a:ext uri="{FF2B5EF4-FFF2-40B4-BE49-F238E27FC236}">
                <a16:creationId xmlns:a16="http://schemas.microsoft.com/office/drawing/2014/main" id="{2C5074BC-E1F6-41F5-AA0E-167124EC1255}"/>
              </a:ext>
            </a:extLst>
          </p:cNvPr>
          <p:cNvSpPr/>
          <p:nvPr userDrawn="1"/>
        </p:nvSpPr>
        <p:spPr>
          <a:xfrm flipH="1" flipV="1">
            <a:off x="-88553" y="779126"/>
            <a:ext cx="432000" cy="72000"/>
          </a:xfrm>
          <a:prstGeom prst="roundRect">
            <a:avLst>
              <a:gd name="adj" fmla="val 50000"/>
            </a:avLst>
          </a:prstGeom>
          <a:solidFill>
            <a:srgbClr val="1E50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7">
            <a:extLst>
              <a:ext uri="{FF2B5EF4-FFF2-40B4-BE49-F238E27FC236}">
                <a16:creationId xmlns:a16="http://schemas.microsoft.com/office/drawing/2014/main" id="{53E927DE-A765-4E88-BB59-3BA56940226C}"/>
              </a:ext>
            </a:extLst>
          </p:cNvPr>
          <p:cNvSpPr txBox="1">
            <a:spLocks/>
          </p:cNvSpPr>
          <p:nvPr userDrawn="1"/>
        </p:nvSpPr>
        <p:spPr>
          <a:xfrm>
            <a:off x="8972463" y="6321264"/>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400" b="0" kern="1200">
                <a:solidFill>
                  <a:schemeClr val="bg1">
                    <a:lumMod val="50000"/>
                  </a:schemeClr>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FD4F317-19D0-4848-B5EB-5B174DBE8CF9}" type="slidenum">
              <a:rPr lang="ja-JP" altLang="en-US" smtClean="0"/>
              <a:pPr/>
              <a:t>‹#›</a:t>
            </a:fld>
            <a:endParaRPr lang="ja-JP" altLang="en-US"/>
          </a:p>
        </p:txBody>
      </p:sp>
    </p:spTree>
    <p:extLst>
      <p:ext uri="{BB962C8B-B14F-4D97-AF65-F5344CB8AC3E}">
        <p14:creationId xmlns:p14="http://schemas.microsoft.com/office/powerpoint/2010/main" val="1489428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タイトルとサマリ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4C7E0D-74A9-4B86-AB69-599D176FF025}"/>
              </a:ext>
            </a:extLst>
          </p:cNvPr>
          <p:cNvSpPr>
            <a:spLocks noGrp="1"/>
          </p:cNvSpPr>
          <p:nvPr>
            <p:ph type="title" hasCustomPrompt="1"/>
          </p:nvPr>
        </p:nvSpPr>
        <p:spPr/>
        <p:txBody>
          <a:bodyPr/>
          <a:lstStyle>
            <a:lvl1pPr>
              <a:defRPr/>
            </a:lvl1pPr>
          </a:lstStyle>
          <a:p>
            <a:r>
              <a:rPr kumimoji="1" lang="ja-JP" altLang="en-US"/>
              <a:t>デジタルグリーン</a:t>
            </a:r>
          </a:p>
        </p:txBody>
      </p:sp>
      <p:sp>
        <p:nvSpPr>
          <p:cNvPr id="5" name="コンテンツ プレースホルダー 4">
            <a:extLst>
              <a:ext uri="{FF2B5EF4-FFF2-40B4-BE49-F238E27FC236}">
                <a16:creationId xmlns:a16="http://schemas.microsoft.com/office/drawing/2014/main" id="{8206B1B8-1AF3-434B-8280-C73033673391}"/>
              </a:ext>
            </a:extLst>
          </p:cNvPr>
          <p:cNvSpPr>
            <a:spLocks noGrp="1"/>
          </p:cNvSpPr>
          <p:nvPr>
            <p:ph sz="quarter" idx="11"/>
          </p:nvPr>
        </p:nvSpPr>
        <p:spPr>
          <a:xfrm>
            <a:off x="838201" y="1333178"/>
            <a:ext cx="10515600" cy="2191186"/>
          </a:xfrm>
          <a:solidFill>
            <a:schemeClr val="bg1">
              <a:lumMod val="95000"/>
            </a:schemeClr>
          </a:solidFill>
          <a:ln>
            <a:noFill/>
          </a:ln>
        </p:spPr>
        <p:txBody>
          <a:bodyPr lIns="360000" tIns="216000" rIns="360000" bIns="216000" anchor="t" anchorCtr="0">
            <a:sp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プレースホルダー 6">
            <a:extLst>
              <a:ext uri="{FF2B5EF4-FFF2-40B4-BE49-F238E27FC236}">
                <a16:creationId xmlns:a16="http://schemas.microsoft.com/office/drawing/2014/main" id="{D79A32D3-134A-4CE3-A056-4DF21D27B02B}"/>
              </a:ext>
            </a:extLst>
          </p:cNvPr>
          <p:cNvSpPr>
            <a:spLocks noGrp="1"/>
          </p:cNvSpPr>
          <p:nvPr>
            <p:ph type="body" sz="quarter" idx="12"/>
          </p:nvPr>
        </p:nvSpPr>
        <p:spPr>
          <a:xfrm>
            <a:off x="838200" y="3648074"/>
            <a:ext cx="10515600" cy="250334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四角形: 角を丸くする 5">
            <a:extLst>
              <a:ext uri="{FF2B5EF4-FFF2-40B4-BE49-F238E27FC236}">
                <a16:creationId xmlns:a16="http://schemas.microsoft.com/office/drawing/2014/main" id="{2C5074BC-E1F6-41F5-AA0E-167124EC1255}"/>
              </a:ext>
            </a:extLst>
          </p:cNvPr>
          <p:cNvSpPr/>
          <p:nvPr userDrawn="1"/>
        </p:nvSpPr>
        <p:spPr>
          <a:xfrm flipH="1" flipV="1">
            <a:off x="-88553" y="779126"/>
            <a:ext cx="432000" cy="72000"/>
          </a:xfrm>
          <a:prstGeom prst="roundRect">
            <a:avLst>
              <a:gd name="adj" fmla="val 50000"/>
            </a:avLst>
          </a:prstGeom>
          <a:solidFill>
            <a:srgbClr val="11AC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7">
            <a:extLst>
              <a:ext uri="{FF2B5EF4-FFF2-40B4-BE49-F238E27FC236}">
                <a16:creationId xmlns:a16="http://schemas.microsoft.com/office/drawing/2014/main" id="{61DBAEDA-5117-404D-AB7F-7B3DE64FE4FC}"/>
              </a:ext>
            </a:extLst>
          </p:cNvPr>
          <p:cNvSpPr txBox="1">
            <a:spLocks/>
          </p:cNvSpPr>
          <p:nvPr userDrawn="1"/>
        </p:nvSpPr>
        <p:spPr>
          <a:xfrm>
            <a:off x="8972463" y="6321264"/>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400" b="0" kern="1200">
                <a:solidFill>
                  <a:schemeClr val="bg1">
                    <a:lumMod val="50000"/>
                  </a:schemeClr>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FD4F317-19D0-4848-B5EB-5B174DBE8CF9}" type="slidenum">
              <a:rPr lang="ja-JP" altLang="en-US" smtClean="0"/>
              <a:pPr/>
              <a:t>‹#›</a:t>
            </a:fld>
            <a:endParaRPr lang="ja-JP" altLang="en-US"/>
          </a:p>
        </p:txBody>
      </p:sp>
    </p:spTree>
    <p:extLst>
      <p:ext uri="{BB962C8B-B14F-4D97-AF65-F5344CB8AC3E}">
        <p14:creationId xmlns:p14="http://schemas.microsoft.com/office/powerpoint/2010/main" val="4114564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タイトルとサマリ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4C7E0D-74A9-4B86-AB69-599D176FF025}"/>
              </a:ext>
            </a:extLst>
          </p:cNvPr>
          <p:cNvSpPr>
            <a:spLocks noGrp="1"/>
          </p:cNvSpPr>
          <p:nvPr>
            <p:ph type="title" hasCustomPrompt="1"/>
          </p:nvPr>
        </p:nvSpPr>
        <p:spPr/>
        <p:txBody>
          <a:bodyPr/>
          <a:lstStyle>
            <a:lvl1pPr>
              <a:defRPr/>
            </a:lvl1pPr>
          </a:lstStyle>
          <a:p>
            <a:r>
              <a:rPr kumimoji="1" lang="ja-JP" altLang="en-US"/>
              <a:t>デジタルレッド</a:t>
            </a:r>
          </a:p>
        </p:txBody>
      </p:sp>
      <p:sp>
        <p:nvSpPr>
          <p:cNvPr id="5" name="コンテンツ プレースホルダー 4">
            <a:extLst>
              <a:ext uri="{FF2B5EF4-FFF2-40B4-BE49-F238E27FC236}">
                <a16:creationId xmlns:a16="http://schemas.microsoft.com/office/drawing/2014/main" id="{8206B1B8-1AF3-434B-8280-C73033673391}"/>
              </a:ext>
            </a:extLst>
          </p:cNvPr>
          <p:cNvSpPr>
            <a:spLocks noGrp="1"/>
          </p:cNvSpPr>
          <p:nvPr>
            <p:ph sz="quarter" idx="11"/>
          </p:nvPr>
        </p:nvSpPr>
        <p:spPr>
          <a:xfrm>
            <a:off x="838201" y="1333178"/>
            <a:ext cx="10515600" cy="2191186"/>
          </a:xfrm>
          <a:solidFill>
            <a:schemeClr val="bg1">
              <a:lumMod val="95000"/>
            </a:schemeClr>
          </a:solidFill>
          <a:ln>
            <a:noFill/>
          </a:ln>
        </p:spPr>
        <p:txBody>
          <a:bodyPr lIns="360000" tIns="216000" rIns="360000" bIns="216000" anchor="t" anchorCtr="0">
            <a:sp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プレースホルダー 6">
            <a:extLst>
              <a:ext uri="{FF2B5EF4-FFF2-40B4-BE49-F238E27FC236}">
                <a16:creationId xmlns:a16="http://schemas.microsoft.com/office/drawing/2014/main" id="{D79A32D3-134A-4CE3-A056-4DF21D27B02B}"/>
              </a:ext>
            </a:extLst>
          </p:cNvPr>
          <p:cNvSpPr>
            <a:spLocks noGrp="1"/>
          </p:cNvSpPr>
          <p:nvPr>
            <p:ph type="body" sz="quarter" idx="12"/>
          </p:nvPr>
        </p:nvSpPr>
        <p:spPr>
          <a:xfrm>
            <a:off x="838200" y="3648074"/>
            <a:ext cx="10515600" cy="250334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四角形: 角を丸くする 5">
            <a:extLst>
              <a:ext uri="{FF2B5EF4-FFF2-40B4-BE49-F238E27FC236}">
                <a16:creationId xmlns:a16="http://schemas.microsoft.com/office/drawing/2014/main" id="{2C5074BC-E1F6-41F5-AA0E-167124EC1255}"/>
              </a:ext>
            </a:extLst>
          </p:cNvPr>
          <p:cNvSpPr/>
          <p:nvPr userDrawn="1"/>
        </p:nvSpPr>
        <p:spPr>
          <a:xfrm flipH="1" flipV="1">
            <a:off x="-88553" y="779126"/>
            <a:ext cx="432000" cy="72000"/>
          </a:xfrm>
          <a:prstGeom prst="roundRect">
            <a:avLst>
              <a:gd name="adj" fmla="val 50000"/>
            </a:avLst>
          </a:prstGeom>
          <a:solidFill>
            <a:srgbClr val="E600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7">
            <a:extLst>
              <a:ext uri="{FF2B5EF4-FFF2-40B4-BE49-F238E27FC236}">
                <a16:creationId xmlns:a16="http://schemas.microsoft.com/office/drawing/2014/main" id="{465FF78C-CCAD-4BC0-A9B0-59D31A78D0AC}"/>
              </a:ext>
            </a:extLst>
          </p:cNvPr>
          <p:cNvSpPr txBox="1">
            <a:spLocks/>
          </p:cNvSpPr>
          <p:nvPr userDrawn="1"/>
        </p:nvSpPr>
        <p:spPr>
          <a:xfrm>
            <a:off x="8972463" y="6321264"/>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400" b="0" kern="1200">
                <a:solidFill>
                  <a:schemeClr val="bg1">
                    <a:lumMod val="50000"/>
                  </a:schemeClr>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FD4F317-19D0-4848-B5EB-5B174DBE8CF9}" type="slidenum">
              <a:rPr lang="ja-JP" altLang="en-US" smtClean="0"/>
              <a:pPr/>
              <a:t>‹#›</a:t>
            </a:fld>
            <a:endParaRPr lang="ja-JP" altLang="en-US"/>
          </a:p>
        </p:txBody>
      </p:sp>
    </p:spTree>
    <p:extLst>
      <p:ext uri="{BB962C8B-B14F-4D97-AF65-F5344CB8AC3E}">
        <p14:creationId xmlns:p14="http://schemas.microsoft.com/office/powerpoint/2010/main" val="111746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ロゴのみ">
    <p:spTree>
      <p:nvGrpSpPr>
        <p:cNvPr id="1" name=""/>
        <p:cNvGrpSpPr/>
        <p:nvPr/>
      </p:nvGrpSpPr>
      <p:grpSpPr>
        <a:xfrm>
          <a:off x="0" y="0"/>
          <a:ext cx="0" cy="0"/>
          <a:chOff x="0" y="0"/>
          <a:chExt cx="0" cy="0"/>
        </a:xfrm>
      </p:grpSpPr>
      <p:pic>
        <p:nvPicPr>
          <p:cNvPr id="4" name="図 3" descr="デジタル庁ロゴ">
            <a:extLst>
              <a:ext uri="{FF2B5EF4-FFF2-40B4-BE49-F238E27FC236}">
                <a16:creationId xmlns:a16="http://schemas.microsoft.com/office/drawing/2014/main" id="{EA198951-577B-4ABC-81D8-F2E3F6468955}"/>
              </a:ext>
            </a:extLst>
          </p:cNvPr>
          <p:cNvPicPr>
            <a:picLocks noChangeAspect="1"/>
          </p:cNvPicPr>
          <p:nvPr userDrawn="1"/>
        </p:nvPicPr>
        <p:blipFill>
          <a:blip r:embed="rId2"/>
          <a:stretch>
            <a:fillRect/>
          </a:stretch>
        </p:blipFill>
        <p:spPr>
          <a:xfrm>
            <a:off x="3786161" y="2712273"/>
            <a:ext cx="4619677" cy="1433454"/>
          </a:xfrm>
          <a:prstGeom prst="rect">
            <a:avLst/>
          </a:prstGeom>
        </p:spPr>
      </p:pic>
    </p:spTree>
    <p:extLst>
      <p:ext uri="{BB962C8B-B14F-4D97-AF65-F5344CB8AC3E}">
        <p14:creationId xmlns:p14="http://schemas.microsoft.com/office/powerpoint/2010/main" val="3109770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スライド番号プレースホルダー 7">
            <a:extLst>
              <a:ext uri="{FF2B5EF4-FFF2-40B4-BE49-F238E27FC236}">
                <a16:creationId xmlns:a16="http://schemas.microsoft.com/office/drawing/2014/main" id="{6C32DF7F-F7C7-4E4A-A796-AEA568A01522}"/>
              </a:ext>
            </a:extLst>
          </p:cNvPr>
          <p:cNvSpPr txBox="1">
            <a:spLocks/>
          </p:cNvSpPr>
          <p:nvPr userDrawn="1"/>
        </p:nvSpPr>
        <p:spPr>
          <a:xfrm>
            <a:off x="9378863" y="6492875"/>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400" b="0" kern="1200">
                <a:solidFill>
                  <a:schemeClr val="bg1">
                    <a:lumMod val="50000"/>
                  </a:schemeClr>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FD4F317-19D0-4848-B5EB-5B174DBE8CF9}" type="slidenum">
              <a:rPr lang="ja-JP" altLang="en-US" smtClean="0"/>
              <a:pPr/>
              <a:t>‹#›</a:t>
            </a:fld>
            <a:endParaRPr lang="ja-JP" altLang="en-US" dirty="0"/>
          </a:p>
        </p:txBody>
      </p:sp>
    </p:spTree>
    <p:extLst>
      <p:ext uri="{BB962C8B-B14F-4D97-AF65-F5344CB8AC3E}">
        <p14:creationId xmlns:p14="http://schemas.microsoft.com/office/powerpoint/2010/main" val="1321743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作成1">
    <p:spTree>
      <p:nvGrpSpPr>
        <p:cNvPr id="1" name=""/>
        <p:cNvGrpSpPr/>
        <p:nvPr/>
      </p:nvGrpSpPr>
      <p:grpSpPr>
        <a:xfrm>
          <a:off x="0" y="0"/>
          <a:ext cx="0" cy="0"/>
          <a:chOff x="0" y="0"/>
          <a:chExt cx="0" cy="0"/>
        </a:xfrm>
      </p:grpSpPr>
      <p:sp>
        <p:nvSpPr>
          <p:cNvPr id="3" name="スライド番号プレースホルダー 7">
            <a:extLst>
              <a:ext uri="{FF2B5EF4-FFF2-40B4-BE49-F238E27FC236}">
                <a16:creationId xmlns:a16="http://schemas.microsoft.com/office/drawing/2014/main" id="{E80B152B-62CB-E59E-DAE8-F321379169C2}"/>
              </a:ext>
            </a:extLst>
          </p:cNvPr>
          <p:cNvSpPr txBox="1">
            <a:spLocks/>
          </p:cNvSpPr>
          <p:nvPr userDrawn="1"/>
        </p:nvSpPr>
        <p:spPr>
          <a:xfrm>
            <a:off x="11742103" y="6493510"/>
            <a:ext cx="230833" cy="215444"/>
          </a:xfrm>
          <a:prstGeom prst="rect">
            <a:avLst/>
          </a:prstGeom>
        </p:spPr>
        <p:txBody>
          <a:bodyPr vert="horz" wrap="none" lIns="0" tIns="0" rIns="0" bIns="0" rtlCol="0" anchor="ctr">
            <a:spAutoFit/>
          </a:bodyPr>
          <a:lstStyle>
            <a:defPPr>
              <a:defRPr lang="ja-JP"/>
            </a:defPPr>
            <a:lvl1pPr marL="0" algn="r" defTabSz="914400" rtl="0" eaLnBrk="1" latinLnBrk="0" hangingPunct="1">
              <a:defRPr kumimoji="1" sz="1400" b="0" kern="1200">
                <a:solidFill>
                  <a:schemeClr val="bg1">
                    <a:lumMod val="50000"/>
                  </a:schemeClr>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DFD4F317-19D0-4848-B5EB-5B174DBE8CF9}" type="slidenum">
              <a:rPr lang="ja-JP" altLang="en-US" sz="1400" b="1" smtClean="0">
                <a:solidFill>
                  <a:srgbClr val="009999"/>
                </a:solidFill>
                <a:latin typeface="Segoe UI" panose="020B0502040204020203" pitchFamily="34" charset="0"/>
                <a:cs typeface="Segoe UI" panose="020B0502040204020203" pitchFamily="34" charset="0"/>
              </a:rPr>
              <a:pPr algn="r"/>
              <a:t>‹#›</a:t>
            </a:fld>
            <a:endParaRPr lang="ja-JP" altLang="en-US" sz="1400" b="1" dirty="0">
              <a:solidFill>
                <a:srgbClr val="009999"/>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871116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表紙2">
    <p:spTree>
      <p:nvGrpSpPr>
        <p:cNvPr id="1" name=""/>
        <p:cNvGrpSpPr/>
        <p:nvPr/>
      </p:nvGrpSpPr>
      <p:grpSpPr>
        <a:xfrm>
          <a:off x="0" y="0"/>
          <a:ext cx="0" cy="0"/>
          <a:chOff x="0" y="0"/>
          <a:chExt cx="0" cy="0"/>
        </a:xfrm>
      </p:grpSpPr>
      <p:pic>
        <p:nvPicPr>
          <p:cNvPr id="4" name="図 3" descr="ダイアグラム&#10;&#10;AI 生成コンテンツは誤りを含む可能性があります。">
            <a:extLst>
              <a:ext uri="{FF2B5EF4-FFF2-40B4-BE49-F238E27FC236}">
                <a16:creationId xmlns:a16="http://schemas.microsoft.com/office/drawing/2014/main" id="{2BAC5651-0504-B420-82FB-2BAB861A7D68}"/>
              </a:ext>
            </a:extLst>
          </p:cNvPr>
          <p:cNvPicPr>
            <a:picLocks noChangeAspect="1"/>
          </p:cNvPicPr>
          <p:nvPr userDrawn="1"/>
        </p:nvPicPr>
        <p:blipFill>
          <a:blip r:embed="rId2"/>
          <a:stretch>
            <a:fillRect/>
          </a:stretch>
        </p:blipFill>
        <p:spPr>
          <a:xfrm>
            <a:off x="191" y="0"/>
            <a:ext cx="12191809" cy="6858000"/>
          </a:xfrm>
          <a:prstGeom prst="rect">
            <a:avLst/>
          </a:prstGeom>
        </p:spPr>
      </p:pic>
    </p:spTree>
    <p:extLst>
      <p:ext uri="{BB962C8B-B14F-4D97-AF65-F5344CB8AC3E}">
        <p14:creationId xmlns:p14="http://schemas.microsoft.com/office/powerpoint/2010/main" val="3212238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紙面">
    <p:spTree>
      <p:nvGrpSpPr>
        <p:cNvPr id="1" name=""/>
        <p:cNvGrpSpPr/>
        <p:nvPr/>
      </p:nvGrpSpPr>
      <p:grpSpPr>
        <a:xfrm>
          <a:off x="0" y="0"/>
          <a:ext cx="0" cy="0"/>
          <a:chOff x="0" y="0"/>
          <a:chExt cx="0" cy="0"/>
        </a:xfrm>
      </p:grpSpPr>
      <p:sp>
        <p:nvSpPr>
          <p:cNvPr id="3" name="スライド番号プレースホルダー 7">
            <a:extLst>
              <a:ext uri="{FF2B5EF4-FFF2-40B4-BE49-F238E27FC236}">
                <a16:creationId xmlns:a16="http://schemas.microsoft.com/office/drawing/2014/main" id="{E80B152B-62CB-E59E-DAE8-F321379169C2}"/>
              </a:ext>
            </a:extLst>
          </p:cNvPr>
          <p:cNvSpPr txBox="1">
            <a:spLocks/>
          </p:cNvSpPr>
          <p:nvPr userDrawn="1"/>
        </p:nvSpPr>
        <p:spPr>
          <a:xfrm>
            <a:off x="11742103" y="6493510"/>
            <a:ext cx="230833" cy="215444"/>
          </a:xfrm>
          <a:prstGeom prst="rect">
            <a:avLst/>
          </a:prstGeom>
        </p:spPr>
        <p:txBody>
          <a:bodyPr vert="horz" wrap="none" lIns="0" tIns="0" rIns="0" bIns="0" rtlCol="0" anchor="ctr">
            <a:spAutoFit/>
          </a:bodyPr>
          <a:lstStyle>
            <a:defPPr>
              <a:defRPr lang="ja-JP"/>
            </a:defPPr>
            <a:lvl1pPr marL="0" algn="r" defTabSz="914400" rtl="0" eaLnBrk="1" latinLnBrk="0" hangingPunct="1">
              <a:defRPr kumimoji="1" sz="1400" b="0" kern="1200">
                <a:solidFill>
                  <a:schemeClr val="bg1">
                    <a:lumMod val="50000"/>
                  </a:schemeClr>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DFD4F317-19D0-4848-B5EB-5B174DBE8CF9}" type="slidenum">
              <a:rPr lang="ja-JP" altLang="en-US" sz="1400" b="1" smtClean="0">
                <a:solidFill>
                  <a:srgbClr val="009999"/>
                </a:solidFill>
                <a:latin typeface="Segoe UI" panose="020B0502040204020203" pitchFamily="34" charset="0"/>
                <a:cs typeface="Segoe UI" panose="020B0502040204020203" pitchFamily="34" charset="0"/>
              </a:rPr>
              <a:pPr algn="r"/>
              <a:t>‹#›</a:t>
            </a:fld>
            <a:endParaRPr lang="ja-JP" altLang="en-US" sz="1400" b="1" dirty="0">
              <a:solidFill>
                <a:srgbClr val="009999"/>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79133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397C095-A7F2-4984-ACC5-C9562C920942}"/>
              </a:ext>
            </a:extLst>
          </p:cNvPr>
          <p:cNvSpPr>
            <a:spLocks noGrp="1"/>
          </p:cNvSpPr>
          <p:nvPr>
            <p:ph type="title"/>
          </p:nvPr>
        </p:nvSpPr>
        <p:spPr>
          <a:xfrm>
            <a:off x="838200" y="463841"/>
            <a:ext cx="10515600" cy="702565"/>
          </a:xfrm>
          <a:prstGeom prst="rect">
            <a:avLst/>
          </a:prstGeom>
        </p:spPr>
        <p:txBody>
          <a:bodyPr vert="horz" lIns="91440" tIns="45720" rIns="91440" bIns="45720" rtlCol="0" anchor="ctr">
            <a:sp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CBA1709-158A-4617-99E8-415D5F793D73}"/>
              </a:ext>
            </a:extLst>
          </p:cNvPr>
          <p:cNvSpPr>
            <a:spLocks noGrp="1"/>
          </p:cNvSpPr>
          <p:nvPr>
            <p:ph type="body" idx="1"/>
          </p:nvPr>
        </p:nvSpPr>
        <p:spPr>
          <a:xfrm>
            <a:off x="838200" y="1362076"/>
            <a:ext cx="10515600" cy="481488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38451619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2" r:id="rId3"/>
    <p:sldLayoutId id="2147483663" r:id="rId4"/>
    <p:sldLayoutId id="2147483650" r:id="rId5"/>
    <p:sldLayoutId id="2147483659" r:id="rId6"/>
    <p:sldLayoutId id="2147483660" r:id="rId7"/>
    <p:sldLayoutId id="2147483661" r:id="rId8"/>
    <p:sldLayoutId id="2147483658" r:id="rId9"/>
    <p:sldLayoutId id="2147483664" r:id="rId10"/>
    <p:sldLayoutId id="2147483665" r:id="rId11"/>
    <p:sldLayoutId id="2147483667" r:id="rId12"/>
    <p:sldLayoutId id="2147483668" r:id="rId13"/>
  </p:sldLayoutIdLst>
  <p:hf hdr="0" ftr="0" dt="0"/>
  <p:txStyles>
    <p:titleStyle>
      <a:lvl1pPr algn="l" defTabSz="914400" rtl="0" eaLnBrk="1" latinLnBrk="0" hangingPunct="1">
        <a:lnSpc>
          <a:spcPct val="90000"/>
        </a:lnSpc>
        <a:spcBef>
          <a:spcPct val="0"/>
        </a:spcBef>
        <a:buNone/>
        <a:defRPr kumimoji="1"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www.fsa.go.jp/news/newsj/16/f-20050427-3/01.pdf"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hyperlink" Target="https://www.cas.go.jp/jp/seisaku/digital_gyozaikaikaku/kakusyoDX1/kakusyoDX1_siryo2.pdf" TargetMode="External"/><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www.cas.go.jp/jp/houan/190315/siryou1.pdf" TargetMode="External"/><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hyperlink" Target="https://www.digital.go.jp/policies/priority-policy-program"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cyber.go.jp/policy/group/general/kijun.html" TargetMode="Externa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hyperlink" Target="https://www.cyber.go.jp/pdf/policy/general/2siryou04-1d.pdf" TargetMode="External"/><Relationship Id="rId4" Type="http://schemas.openxmlformats.org/officeDocument/2006/relationships/hyperlink" Target="https://www.cyber.go.jp/pdf/policy/general/R0707-kijyun-study.pdf"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www.ismap.go.jp/csm?id=kb_article_view&amp;sysparm_article=KB0010005&amp;sys_kb_id=b0840cc92b072a90434ff14a6e91bf96&amp;spa=1" TargetMode="External"/><Relationship Id="rId3" Type="http://schemas.openxmlformats.org/officeDocument/2006/relationships/image" Target="../media/image9.png"/><Relationship Id="rId7" Type="http://schemas.openxmlformats.org/officeDocument/2006/relationships/hyperlink" Target="https://www.digital.go.jp/policies/security/ismap-liu" TargetMode="Externa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hyperlink" Target="https://www.digital.go.jp/assets/contents/node/basic_page/field_ref_resources/e2a06143-ed29-4f1d-9c31-0f06fca67afc/a612d406/20250619_resources_standard_guidelines_guideline_08.pdf" TargetMode="External"/><Relationship Id="rId5" Type="http://schemas.openxmlformats.org/officeDocument/2006/relationships/hyperlink" Target="https://www.cyber.go.jp/policy/group/general/ismap.html" TargetMode="External"/><Relationship Id="rId4" Type="http://schemas.openxmlformats.org/officeDocument/2006/relationships/hyperlink" Target="https://www.cyber.go.jp/pdf/policy/general/kihanr7.pdf" TargetMode="External"/><Relationship Id="rId9" Type="http://schemas.openxmlformats.org/officeDocument/2006/relationships/hyperlink" Target="https://www.ismap.go.jp/csm?id=csm_ismap_index"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cas.go.jp/jp/seisaku/chotatsu/index.html"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hyperlink" Target="https://www.mofa.go.jp/mofaj/annai/shocho/chotatsu/kijyungaku2024.html" TargetMode="External"/><Relationship Id="rId4" Type="http://schemas.openxmlformats.org/officeDocument/2006/relationships/hyperlink" Target="https://www.mofa.go.jp/mofaj/gaiko/wto/chotatu.htm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laws.e-gov.go.jp/law/322AC0000000035#Mp-Ch_4-At_29_3-Pr_1" TargetMode="External"/><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hyperlink" Target="https://www.digital.go.jp/assets/contents/node/basic_page/field_ref_resources/c5d7192e-22e0-4810-8afd-ce83c50af6a4/20220309_policies_procurement_doc_01_1.pdf" TargetMode="External"/><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79EF7-2F51-479C-29C9-375FFE4EDBEE}"/>
            </a:ext>
          </a:extLst>
        </p:cNvPr>
        <p:cNvGrpSpPr/>
        <p:nvPr/>
      </p:nvGrpSpPr>
      <p:grpSpPr>
        <a:xfrm>
          <a:off x="0" y="0"/>
          <a:ext cx="0" cy="0"/>
          <a:chOff x="0" y="0"/>
          <a:chExt cx="0" cy="0"/>
        </a:xfrm>
      </p:grpSpPr>
      <p:pic>
        <p:nvPicPr>
          <p:cNvPr id="19" name="図 18" descr="デジタル庁ロゴ&#10;">
            <a:extLst>
              <a:ext uri="{FF2B5EF4-FFF2-40B4-BE49-F238E27FC236}">
                <a16:creationId xmlns:a16="http://schemas.microsoft.com/office/drawing/2014/main" id="{63200407-0381-1546-D877-4C0412342A24}"/>
              </a:ext>
            </a:extLst>
          </p:cNvPr>
          <p:cNvPicPr>
            <a:picLocks noChangeAspect="1"/>
          </p:cNvPicPr>
          <p:nvPr/>
        </p:nvPicPr>
        <p:blipFill>
          <a:blip r:embed="rId2"/>
          <a:stretch>
            <a:fillRect/>
          </a:stretch>
        </p:blipFill>
        <p:spPr>
          <a:xfrm>
            <a:off x="7068433" y="5096840"/>
            <a:ext cx="3286944" cy="1065125"/>
          </a:xfrm>
          <a:prstGeom prst="rect">
            <a:avLst/>
          </a:prstGeom>
        </p:spPr>
      </p:pic>
      <p:sp>
        <p:nvSpPr>
          <p:cNvPr id="22" name="テキスト ボックス 21">
            <a:extLst>
              <a:ext uri="{FF2B5EF4-FFF2-40B4-BE49-F238E27FC236}">
                <a16:creationId xmlns:a16="http://schemas.microsoft.com/office/drawing/2014/main" id="{9D2183D9-57A1-71D0-AFF7-99651AA28239}"/>
              </a:ext>
            </a:extLst>
          </p:cNvPr>
          <p:cNvSpPr txBox="1"/>
          <p:nvPr/>
        </p:nvSpPr>
        <p:spPr>
          <a:xfrm>
            <a:off x="1904359" y="5637207"/>
            <a:ext cx="3600000" cy="276999"/>
          </a:xfrm>
          <a:prstGeom prst="rect">
            <a:avLst/>
          </a:prstGeom>
          <a:noFill/>
        </p:spPr>
        <p:txBody>
          <a:bodyPr wrap="square" lIns="0" tIns="0" rIns="0" bIns="0" rtlCol="0">
            <a:spAutoFit/>
          </a:bodyPr>
          <a:lstStyle/>
          <a:p>
            <a:pPr fontAlgn="base"/>
            <a:r>
              <a:rPr kumimoji="1" lang="ja-JP" altLang="en-US" b="1" kern="500" spc="100" dirty="0">
                <a:latin typeface="Segoe UI" panose="020B0502040204020203" pitchFamily="34" charset="0"/>
                <a:cs typeface="Segoe UI" panose="020B0502040204020203" pitchFamily="34" charset="0"/>
              </a:rPr>
              <a:t>令和</a:t>
            </a:r>
            <a:r>
              <a:rPr kumimoji="1" lang="en-US" altLang="ja-JP" b="1" kern="500" spc="100" dirty="0">
                <a:latin typeface="Segoe UI" panose="020B0502040204020203" pitchFamily="34" charset="0"/>
                <a:cs typeface="Segoe UI" panose="020B0502040204020203" pitchFamily="34" charset="0"/>
              </a:rPr>
              <a:t>8</a:t>
            </a:r>
            <a:r>
              <a:rPr kumimoji="1" lang="ja-JP" altLang="en-US" b="1" kern="500" spc="100" dirty="0">
                <a:latin typeface="Segoe UI" panose="020B0502040204020203" pitchFamily="34" charset="0"/>
                <a:cs typeface="Segoe UI" panose="020B0502040204020203" pitchFamily="34" charset="0"/>
              </a:rPr>
              <a:t>年</a:t>
            </a:r>
            <a:r>
              <a:rPr kumimoji="1" lang="en-US" altLang="ja-JP" b="1" kern="500" spc="100" dirty="0">
                <a:latin typeface="Segoe UI" panose="020B0502040204020203" pitchFamily="34" charset="0"/>
                <a:cs typeface="Segoe UI" panose="020B0502040204020203" pitchFamily="34" charset="0"/>
              </a:rPr>
              <a:t>6</a:t>
            </a:r>
            <a:r>
              <a:rPr kumimoji="1" lang="ja-JP" altLang="en-US" b="1" kern="500" spc="100" dirty="0">
                <a:latin typeface="Segoe UI" panose="020B0502040204020203" pitchFamily="34" charset="0"/>
                <a:cs typeface="Segoe UI" panose="020B0502040204020203" pitchFamily="34" charset="0"/>
              </a:rPr>
              <a:t>月</a:t>
            </a:r>
            <a:r>
              <a:rPr kumimoji="1" lang="en-US" altLang="ja-JP" b="1" kern="500" spc="100" dirty="0">
                <a:latin typeface="Segoe UI" panose="020B0502040204020203" pitchFamily="34" charset="0"/>
                <a:cs typeface="Segoe UI" panose="020B0502040204020203" pitchFamily="34" charset="0"/>
              </a:rPr>
              <a:t>12</a:t>
            </a:r>
            <a:r>
              <a:rPr kumimoji="1" lang="ja-JP" altLang="en-US" b="1" kern="500" spc="100" dirty="0">
                <a:latin typeface="Segoe UI" panose="020B0502040204020203" pitchFamily="34" charset="0"/>
                <a:cs typeface="Segoe UI" panose="020B0502040204020203" pitchFamily="34" charset="0"/>
              </a:rPr>
              <a:t>日</a:t>
            </a:r>
          </a:p>
        </p:txBody>
      </p:sp>
    </p:spTree>
    <p:extLst>
      <p:ext uri="{BB962C8B-B14F-4D97-AF65-F5344CB8AC3E}">
        <p14:creationId xmlns:p14="http://schemas.microsoft.com/office/powerpoint/2010/main" val="4252059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90FD3-31C6-B7C2-CD26-24F692E07B34}"/>
            </a:ext>
          </a:extLst>
        </p:cNvPr>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1B5B870B-09FD-D96C-F5D8-D539E1596D58}"/>
              </a:ext>
            </a:extLst>
          </p:cNvPr>
          <p:cNvSpPr/>
          <p:nvPr/>
        </p:nvSpPr>
        <p:spPr>
          <a:xfrm>
            <a:off x="0" y="0"/>
            <a:ext cx="288000" cy="6858000"/>
          </a:xfrm>
          <a:prstGeom prst="rect">
            <a:avLst/>
          </a:prstGeom>
          <a:solidFill>
            <a:srgbClr val="CC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4" name="テキスト プレースホルダー 8">
            <a:extLst>
              <a:ext uri="{FF2B5EF4-FFF2-40B4-BE49-F238E27FC236}">
                <a16:creationId xmlns:a16="http://schemas.microsoft.com/office/drawing/2014/main" id="{703D0BFB-C135-B46D-7345-F573B7C526DD}"/>
              </a:ext>
            </a:extLst>
          </p:cNvPr>
          <p:cNvSpPr txBox="1">
            <a:spLocks/>
          </p:cNvSpPr>
          <p:nvPr/>
        </p:nvSpPr>
        <p:spPr>
          <a:xfrm>
            <a:off x="3183152" y="1336435"/>
            <a:ext cx="2880000" cy="9000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defTabSz="3321050" fontAlgn="base">
              <a:lnSpc>
                <a:spcPts val="3600"/>
              </a:lnSpc>
              <a:spcBef>
                <a:spcPts val="0"/>
              </a:spcBef>
              <a:buClr>
                <a:srgbClr val="009999"/>
              </a:buClr>
              <a:buSzPct val="80000"/>
              <a:buNone/>
              <a:tabLst>
                <a:tab pos="3494088" algn="r"/>
                <a:tab pos="6189663" algn="r"/>
                <a:tab pos="6372225" algn="r"/>
                <a:tab pos="6457950" algn="r"/>
                <a:tab pos="6815138" algn="r"/>
                <a:tab pos="7267575" algn="r"/>
                <a:tab pos="8701088" algn="r"/>
                <a:tab pos="9056688" algn="r"/>
              </a:tabLst>
            </a:pPr>
            <a:r>
              <a:rPr lang="ja-JP" altLang="en-US" sz="1800" dirty="0">
                <a:latin typeface="Segoe UI" panose="020B0502040204020203" pitchFamily="34" charset="0"/>
                <a:ea typeface="メイリオ" panose="020B0604030504040204" pitchFamily="50" charset="-128"/>
                <a:cs typeface="Segoe UI" panose="020B0502040204020203" pitchFamily="34" charset="0"/>
              </a:rPr>
              <a:t>はじめに</a:t>
            </a:r>
            <a:endParaRPr lang="en-US" altLang="ja-JP" sz="1800" dirty="0">
              <a:latin typeface="Segoe UI" panose="020B0502040204020203" pitchFamily="34" charset="0"/>
              <a:ea typeface="メイリオ" panose="020B0604030504040204" pitchFamily="50" charset="-128"/>
              <a:cs typeface="Segoe UI" panose="020B0502040204020203" pitchFamily="34" charset="0"/>
            </a:endParaRPr>
          </a:p>
          <a:p>
            <a:pPr marL="0" indent="0" defTabSz="3321050" fontAlgn="base">
              <a:lnSpc>
                <a:spcPts val="3600"/>
              </a:lnSpc>
              <a:spcBef>
                <a:spcPts val="0"/>
              </a:spcBef>
              <a:buClr>
                <a:srgbClr val="009999"/>
              </a:buClr>
              <a:buSzPct val="80000"/>
              <a:buNone/>
              <a:tabLst>
                <a:tab pos="3494088" algn="r"/>
                <a:tab pos="6189663" algn="r"/>
                <a:tab pos="6372225" algn="r"/>
                <a:tab pos="6457950" algn="r"/>
                <a:tab pos="6815138" algn="r"/>
                <a:tab pos="7267575" algn="r"/>
                <a:tab pos="8701088" algn="r"/>
                <a:tab pos="9056688" algn="r"/>
              </a:tabLst>
            </a:pPr>
            <a:r>
              <a:rPr lang="ja-JP" altLang="en-US" sz="1800" dirty="0">
                <a:latin typeface="Segoe UI" panose="020B0502040204020203" pitchFamily="34" charset="0"/>
                <a:ea typeface="メイリオ" panose="020B0604030504040204" pitchFamily="50" charset="-128"/>
                <a:cs typeface="Segoe UI" panose="020B0502040204020203" pitchFamily="34" charset="0"/>
              </a:rPr>
              <a:t>用語・考え方</a:t>
            </a:r>
          </a:p>
        </p:txBody>
      </p:sp>
      <p:sp>
        <p:nvSpPr>
          <p:cNvPr id="27" name="テキスト プレースホルダー 8">
            <a:extLst>
              <a:ext uri="{FF2B5EF4-FFF2-40B4-BE49-F238E27FC236}">
                <a16:creationId xmlns:a16="http://schemas.microsoft.com/office/drawing/2014/main" id="{841DBA86-CC57-0F15-94D6-543ABA37159E}"/>
              </a:ext>
            </a:extLst>
          </p:cNvPr>
          <p:cNvSpPr txBox="1">
            <a:spLocks/>
          </p:cNvSpPr>
          <p:nvPr/>
        </p:nvSpPr>
        <p:spPr>
          <a:xfrm>
            <a:off x="3315232" y="2290186"/>
            <a:ext cx="6120000" cy="3996000"/>
          </a:xfrm>
          <a:prstGeom prst="rect">
            <a:avLst/>
          </a:prstGeom>
        </p:spPr>
        <p:txBody>
          <a:bodyPr vert="horz" wrap="squar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16000" indent="-216000" defTabSz="3321050" fontAlgn="base">
              <a:lnSpc>
                <a:spcPts val="2400"/>
              </a:lnSpc>
              <a:spcBef>
                <a:spcPts val="0"/>
              </a:spcBef>
              <a:buClr>
                <a:srgbClr val="009999"/>
              </a:buClr>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PMO</a:t>
            </a:r>
            <a:r>
              <a:rPr lang="ja-JP" altLang="en-US" sz="1600" dirty="0">
                <a:latin typeface="Segoe UI" panose="020B0502040204020203" pitchFamily="34" charset="0"/>
                <a:ea typeface="メイリオ" panose="020B0604030504040204" pitchFamily="50" charset="-128"/>
                <a:cs typeface="Segoe UI" panose="020B0502040204020203" pitchFamily="34" charset="0"/>
              </a:rPr>
              <a:t>の役割</a:t>
            </a:r>
            <a:endParaRPr lang="en-US" altLang="ja-JP" sz="1600" dirty="0">
              <a:latin typeface="Segoe UI" panose="020B0502040204020203" pitchFamily="34" charset="0"/>
              <a:ea typeface="メイリオ" panose="020B0604030504040204" pitchFamily="50" charset="-128"/>
              <a:cs typeface="Segoe UI" panose="020B0502040204020203" pitchFamily="34" charset="0"/>
            </a:endParaRPr>
          </a:p>
          <a:p>
            <a:pPr marL="216000" indent="-216000" defTabSz="3321050" fontAlgn="base">
              <a:lnSpc>
                <a:spcPts val="2400"/>
              </a:lnSpc>
              <a:spcBef>
                <a:spcPts val="0"/>
              </a:spcBef>
              <a:buClr>
                <a:srgbClr val="009999"/>
              </a:buClr>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PJMO</a:t>
            </a:r>
            <a:r>
              <a:rPr lang="ja-JP" altLang="en-US" sz="1600" dirty="0">
                <a:latin typeface="Segoe UI" panose="020B0502040204020203" pitchFamily="34" charset="0"/>
                <a:ea typeface="メイリオ" panose="020B0604030504040204" pitchFamily="50" charset="-128"/>
                <a:cs typeface="Segoe UI" panose="020B0502040204020203" pitchFamily="34" charset="0"/>
              </a:rPr>
              <a:t>の役割</a:t>
            </a:r>
            <a:endParaRPr lang="en-US" altLang="ja-JP" sz="1600" dirty="0">
              <a:latin typeface="Segoe UI" panose="020B0502040204020203" pitchFamily="34" charset="0"/>
              <a:ea typeface="メイリオ" panose="020B0604030504040204" pitchFamily="50" charset="-128"/>
              <a:cs typeface="Segoe UI" panose="020B0502040204020203" pitchFamily="34" charset="0"/>
            </a:endParaRPr>
          </a:p>
          <a:p>
            <a:pPr marL="216000" indent="-216000" defTabSz="3321050" fontAlgn="base">
              <a:lnSpc>
                <a:spcPts val="2400"/>
              </a:lnSpc>
              <a:spcBef>
                <a:spcPts val="0"/>
              </a:spcBef>
              <a:buClr>
                <a:srgbClr val="009999"/>
              </a:buClr>
              <a:tabLst>
                <a:tab pos="3494088" algn="r"/>
                <a:tab pos="6189663" algn="r"/>
                <a:tab pos="6372225" algn="r"/>
                <a:tab pos="6457950" algn="r"/>
                <a:tab pos="6815138" algn="r"/>
                <a:tab pos="7267575" algn="r"/>
                <a:tab pos="8701088" algn="r"/>
                <a:tab pos="9056688" algn="r"/>
              </a:tabLst>
            </a:pPr>
            <a:r>
              <a:rPr lang="ja-JP" altLang="en-US" sz="1600" dirty="0">
                <a:latin typeface="Segoe UI" panose="020B0502040204020203" pitchFamily="34" charset="0"/>
                <a:ea typeface="メイリオ" panose="020B0604030504040204" pitchFamily="50" charset="-128"/>
                <a:cs typeface="Segoe UI" panose="020B0502040204020203" pitchFamily="34" charset="0"/>
              </a:rPr>
              <a:t>プロジェクトの対象範囲</a:t>
            </a:r>
            <a:endParaRPr lang="en-US" altLang="ja-JP" sz="1600" dirty="0">
              <a:latin typeface="Segoe UI" panose="020B0502040204020203" pitchFamily="34" charset="0"/>
              <a:ea typeface="メイリオ" panose="020B0604030504040204" pitchFamily="50" charset="-128"/>
              <a:cs typeface="Segoe UI" panose="020B0502040204020203" pitchFamily="34" charset="0"/>
            </a:endParaRPr>
          </a:p>
          <a:p>
            <a:pPr marL="216000" indent="-216000" defTabSz="3321050" fontAlgn="base">
              <a:lnSpc>
                <a:spcPts val="2400"/>
              </a:lnSpc>
              <a:spcBef>
                <a:spcPts val="0"/>
              </a:spcBef>
              <a:buClr>
                <a:srgbClr val="009999"/>
              </a:buClr>
              <a:tabLst>
                <a:tab pos="3494088" algn="r"/>
                <a:tab pos="6189663" algn="r"/>
                <a:tab pos="6372225" algn="r"/>
                <a:tab pos="6457950" algn="r"/>
                <a:tab pos="6815138" algn="r"/>
                <a:tab pos="7267575" algn="r"/>
                <a:tab pos="8701088" algn="r"/>
                <a:tab pos="9056688" algn="r"/>
              </a:tabLst>
            </a:pPr>
            <a:r>
              <a:rPr lang="ja-JP" altLang="en-US" sz="1600" dirty="0">
                <a:latin typeface="Segoe UI" panose="020B0502040204020203" pitchFamily="34" charset="0"/>
                <a:ea typeface="メイリオ" panose="020B0604030504040204" pitchFamily="50" charset="-128"/>
                <a:cs typeface="Segoe UI" panose="020B0502040204020203" pitchFamily="34" charset="0"/>
              </a:rPr>
              <a:t>制度・業務・システムの三位一体の取組み</a:t>
            </a:r>
            <a:endParaRPr lang="en-US" altLang="ja-JP" sz="1600" dirty="0">
              <a:latin typeface="Segoe UI" panose="020B0502040204020203" pitchFamily="34" charset="0"/>
              <a:ea typeface="メイリオ" panose="020B0604030504040204" pitchFamily="50" charset="-128"/>
              <a:cs typeface="Segoe UI" panose="020B0502040204020203" pitchFamily="34" charset="0"/>
            </a:endParaRPr>
          </a:p>
          <a:p>
            <a:pPr marL="216000" indent="-216000" defTabSz="3321050" fontAlgn="base">
              <a:lnSpc>
                <a:spcPts val="2400"/>
              </a:lnSpc>
              <a:spcBef>
                <a:spcPts val="0"/>
              </a:spcBef>
              <a:buClr>
                <a:srgbClr val="009999"/>
              </a:buClr>
              <a:tabLst>
                <a:tab pos="3494088" algn="r"/>
                <a:tab pos="6189663" algn="r"/>
                <a:tab pos="6372225" algn="r"/>
                <a:tab pos="6457950" algn="r"/>
                <a:tab pos="6815138" algn="r"/>
                <a:tab pos="7267575" algn="r"/>
                <a:tab pos="8701088" algn="r"/>
                <a:tab pos="9056688" algn="r"/>
              </a:tabLst>
            </a:pPr>
            <a:r>
              <a:rPr lang="ja-JP" altLang="en-US" sz="1600" dirty="0">
                <a:latin typeface="Segoe UI" panose="020B0502040204020203" pitchFamily="34" charset="0"/>
                <a:ea typeface="メイリオ" panose="020B0604030504040204" pitchFamily="50" charset="-128"/>
                <a:cs typeface="Segoe UI" panose="020B0502040204020203" pitchFamily="34" charset="0"/>
              </a:rPr>
              <a:t>デジタル</a:t>
            </a:r>
            <a:r>
              <a:rPr lang="en-US" altLang="ja-JP" sz="1600" dirty="0">
                <a:latin typeface="Segoe UI" panose="020B0502040204020203" pitchFamily="34" charset="0"/>
                <a:ea typeface="メイリオ" panose="020B0604030504040204" pitchFamily="50" charset="-128"/>
                <a:cs typeface="Segoe UI" panose="020B0502040204020203" pitchFamily="34" charset="0"/>
              </a:rPr>
              <a:t>3</a:t>
            </a:r>
            <a:r>
              <a:rPr lang="ja-JP" altLang="en-US" sz="1600" dirty="0">
                <a:latin typeface="Segoe UI" panose="020B0502040204020203" pitchFamily="34" charset="0"/>
                <a:ea typeface="メイリオ" panose="020B0604030504040204" pitchFamily="50" charset="-128"/>
                <a:cs typeface="Segoe UI" panose="020B0502040204020203" pitchFamily="34" charset="0"/>
              </a:rPr>
              <a:t>原則</a:t>
            </a:r>
            <a:endParaRPr lang="en-US" altLang="ja-JP" sz="1600" dirty="0">
              <a:latin typeface="Segoe UI" panose="020B0502040204020203" pitchFamily="34" charset="0"/>
              <a:ea typeface="メイリオ" panose="020B0604030504040204" pitchFamily="50" charset="-128"/>
              <a:cs typeface="Segoe UI" panose="020B0502040204020203" pitchFamily="34" charset="0"/>
            </a:endParaRPr>
          </a:p>
          <a:p>
            <a:pPr marL="216000" indent="-216000" defTabSz="3321050" fontAlgn="base">
              <a:lnSpc>
                <a:spcPts val="2400"/>
              </a:lnSpc>
              <a:spcBef>
                <a:spcPts val="0"/>
              </a:spcBef>
              <a:buClr>
                <a:srgbClr val="009999"/>
              </a:buClr>
              <a:tabLst>
                <a:tab pos="3494088" algn="r"/>
                <a:tab pos="6189663" algn="r"/>
                <a:tab pos="6372225" algn="r"/>
                <a:tab pos="6457950" algn="r"/>
                <a:tab pos="6815138" algn="r"/>
                <a:tab pos="7267575" algn="r"/>
                <a:tab pos="8701088" algn="r"/>
                <a:tab pos="9056688" algn="r"/>
              </a:tabLst>
            </a:pPr>
            <a:r>
              <a:rPr lang="ja-JP" altLang="en-US" sz="1600" dirty="0">
                <a:latin typeface="Segoe UI" panose="020B0502040204020203" pitchFamily="34" charset="0"/>
                <a:ea typeface="メイリオ" panose="020B0604030504040204" pitchFamily="50" charset="-128"/>
                <a:cs typeface="Segoe UI" panose="020B0502040204020203" pitchFamily="34" charset="0"/>
              </a:rPr>
              <a:t>政府機関等のサイバーセキュリティ対策のための統一基準群</a:t>
            </a:r>
            <a:endParaRPr lang="en-US" altLang="ja-JP" sz="1600" dirty="0">
              <a:latin typeface="Segoe UI" panose="020B0502040204020203" pitchFamily="34" charset="0"/>
              <a:ea typeface="メイリオ" panose="020B0604030504040204" pitchFamily="50" charset="-128"/>
              <a:cs typeface="Segoe UI" panose="020B0502040204020203" pitchFamily="34" charset="0"/>
            </a:endParaRPr>
          </a:p>
          <a:p>
            <a:pPr marL="216000" indent="-216000" defTabSz="3321050" fontAlgn="base">
              <a:lnSpc>
                <a:spcPts val="2400"/>
              </a:lnSpc>
              <a:spcBef>
                <a:spcPts val="0"/>
              </a:spcBef>
              <a:buClr>
                <a:srgbClr val="009999"/>
              </a:buClr>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ISMAP</a:t>
            </a:r>
            <a:r>
              <a:rPr lang="ja-JP" altLang="en-US" sz="1600" dirty="0">
                <a:latin typeface="Segoe UI" panose="020B0502040204020203" pitchFamily="34" charset="0"/>
                <a:ea typeface="メイリオ" panose="020B0604030504040204" pitchFamily="50" charset="-128"/>
                <a:cs typeface="Segoe UI" panose="020B0502040204020203" pitchFamily="34" charset="0"/>
              </a:rPr>
              <a:t>／</a:t>
            </a:r>
            <a:r>
              <a:rPr lang="en-US" altLang="ja-JP" sz="1600" dirty="0">
                <a:latin typeface="Segoe UI" panose="020B0502040204020203" pitchFamily="34" charset="0"/>
                <a:ea typeface="メイリオ" panose="020B0604030504040204" pitchFamily="50" charset="-128"/>
                <a:cs typeface="Segoe UI" panose="020B0502040204020203" pitchFamily="34" charset="0"/>
              </a:rPr>
              <a:t>ISMAP-LIU</a:t>
            </a:r>
            <a:r>
              <a:rPr lang="ja-JP" altLang="en-US" sz="1600" dirty="0">
                <a:latin typeface="Segoe UI" panose="020B0502040204020203" pitchFamily="34" charset="0"/>
                <a:ea typeface="メイリオ" panose="020B0604030504040204" pitchFamily="50" charset="-128"/>
                <a:cs typeface="Segoe UI" panose="020B0502040204020203" pitchFamily="34" charset="0"/>
              </a:rPr>
              <a:t>利用の原則</a:t>
            </a:r>
            <a:endParaRPr lang="en-US" altLang="ja-JP" sz="1600" dirty="0">
              <a:latin typeface="Segoe UI" panose="020B0502040204020203" pitchFamily="34" charset="0"/>
              <a:ea typeface="メイリオ" panose="020B0604030504040204" pitchFamily="50" charset="-128"/>
              <a:cs typeface="Segoe UI" panose="020B0502040204020203" pitchFamily="34" charset="0"/>
            </a:endParaRPr>
          </a:p>
          <a:p>
            <a:pPr marL="216000" indent="-216000" defTabSz="3321050" fontAlgn="base">
              <a:lnSpc>
                <a:spcPts val="2400"/>
              </a:lnSpc>
              <a:spcBef>
                <a:spcPts val="0"/>
              </a:spcBef>
              <a:buClr>
                <a:srgbClr val="009999"/>
              </a:buClr>
              <a:tabLst>
                <a:tab pos="3494088" algn="r"/>
                <a:tab pos="6189663" algn="r"/>
                <a:tab pos="6372225" algn="r"/>
                <a:tab pos="6457950" algn="r"/>
                <a:tab pos="6815138" algn="r"/>
                <a:tab pos="7267575" algn="r"/>
                <a:tab pos="8701088" algn="r"/>
                <a:tab pos="9056688" algn="r"/>
              </a:tabLst>
            </a:pPr>
            <a:r>
              <a:rPr lang="ja-JP" altLang="en-US" sz="1600" dirty="0">
                <a:latin typeface="Segoe UI" panose="020B0502040204020203" pitchFamily="34" charset="0"/>
                <a:ea typeface="メイリオ" panose="020B0604030504040204" pitchFamily="50" charset="-128"/>
                <a:cs typeface="Segoe UI" panose="020B0502040204020203" pitchFamily="34" charset="0"/>
              </a:rPr>
              <a:t>調達手続及びその実施に要する期間</a:t>
            </a:r>
            <a:endParaRPr lang="en-US" altLang="ja-JP" sz="1600" dirty="0">
              <a:latin typeface="Segoe UI" panose="020B0502040204020203" pitchFamily="34" charset="0"/>
              <a:ea typeface="メイリオ" panose="020B0604030504040204" pitchFamily="50" charset="-128"/>
              <a:cs typeface="Segoe UI" panose="020B0502040204020203" pitchFamily="34" charset="0"/>
            </a:endParaRPr>
          </a:p>
          <a:p>
            <a:pPr marL="216000" indent="-216000" defTabSz="3321050" fontAlgn="base">
              <a:lnSpc>
                <a:spcPts val="2400"/>
              </a:lnSpc>
              <a:spcBef>
                <a:spcPts val="0"/>
              </a:spcBef>
              <a:buClr>
                <a:srgbClr val="009999"/>
              </a:buClr>
              <a:tabLst>
                <a:tab pos="3494088" algn="r"/>
                <a:tab pos="6189663" algn="r"/>
                <a:tab pos="6372225" algn="r"/>
                <a:tab pos="6457950" algn="r"/>
                <a:tab pos="6815138" algn="r"/>
                <a:tab pos="7267575" algn="r"/>
                <a:tab pos="8701088" algn="r"/>
                <a:tab pos="9056688" algn="r"/>
              </a:tabLst>
            </a:pPr>
            <a:r>
              <a:rPr lang="ja-JP" altLang="en-US" sz="1600" dirty="0">
                <a:latin typeface="Segoe UI" panose="020B0502040204020203" pitchFamily="34" charset="0"/>
                <a:ea typeface="メイリオ" panose="020B0604030504040204" pitchFamily="50" charset="-128"/>
                <a:cs typeface="Segoe UI" panose="020B0502040204020203" pitchFamily="34" charset="0"/>
              </a:rPr>
              <a:t>一般競争入札</a:t>
            </a:r>
            <a:endParaRPr lang="en-US" altLang="ja-JP" sz="1600" dirty="0">
              <a:latin typeface="Segoe UI" panose="020B0502040204020203" pitchFamily="34" charset="0"/>
              <a:ea typeface="メイリオ" panose="020B0604030504040204" pitchFamily="50" charset="-128"/>
              <a:cs typeface="Segoe UI" panose="020B0502040204020203" pitchFamily="34" charset="0"/>
            </a:endParaRPr>
          </a:p>
          <a:p>
            <a:pPr marL="216000" indent="-216000" defTabSz="3321050" fontAlgn="base">
              <a:lnSpc>
                <a:spcPts val="2400"/>
              </a:lnSpc>
              <a:spcBef>
                <a:spcPts val="0"/>
              </a:spcBef>
              <a:buClr>
                <a:srgbClr val="009999"/>
              </a:buClr>
              <a:tabLst>
                <a:tab pos="3494088" algn="r"/>
                <a:tab pos="6189663" algn="r"/>
                <a:tab pos="6372225" algn="r"/>
                <a:tab pos="6457950" algn="r"/>
                <a:tab pos="6815138" algn="r"/>
                <a:tab pos="7267575" algn="r"/>
                <a:tab pos="8701088" algn="r"/>
                <a:tab pos="9056688" algn="r"/>
              </a:tabLst>
            </a:pPr>
            <a:r>
              <a:rPr lang="ja-JP" altLang="en-US" sz="1600" dirty="0">
                <a:latin typeface="Segoe UI" panose="020B0502040204020203" pitchFamily="34" charset="0"/>
                <a:ea typeface="メイリオ" panose="020B0604030504040204" pitchFamily="50" charset="-128"/>
                <a:cs typeface="Segoe UI" panose="020B0502040204020203" pitchFamily="34" charset="0"/>
              </a:rPr>
              <a:t>入札制限への配慮</a:t>
            </a:r>
            <a:endParaRPr lang="en-US" altLang="ja-JP" sz="1600" dirty="0">
              <a:latin typeface="Segoe UI" panose="020B0502040204020203" pitchFamily="34" charset="0"/>
              <a:ea typeface="メイリオ" panose="020B0604030504040204" pitchFamily="50" charset="-128"/>
              <a:cs typeface="Segoe UI" panose="020B0502040204020203" pitchFamily="34" charset="0"/>
            </a:endParaRPr>
          </a:p>
          <a:p>
            <a:pPr marL="216000" indent="-216000" defTabSz="3321050" fontAlgn="base">
              <a:lnSpc>
                <a:spcPts val="2400"/>
              </a:lnSpc>
              <a:spcBef>
                <a:spcPts val="0"/>
              </a:spcBef>
              <a:buClr>
                <a:srgbClr val="009999"/>
              </a:buClr>
              <a:tabLst>
                <a:tab pos="3494088" algn="r"/>
                <a:tab pos="6189663" algn="r"/>
                <a:tab pos="6372225" algn="r"/>
                <a:tab pos="6457950" algn="r"/>
                <a:tab pos="6815138" algn="r"/>
                <a:tab pos="7267575" algn="r"/>
                <a:tab pos="8701088" algn="r"/>
                <a:tab pos="9056688" algn="r"/>
              </a:tabLst>
            </a:pPr>
            <a:r>
              <a:rPr lang="ja-JP" altLang="en-US" sz="1600" dirty="0">
                <a:latin typeface="Segoe UI" panose="020B0502040204020203" pitchFamily="34" charset="0"/>
                <a:ea typeface="メイリオ" panose="020B0604030504040204" pitchFamily="50" charset="-128"/>
                <a:cs typeface="Segoe UI" panose="020B0502040204020203" pitchFamily="34" charset="0"/>
              </a:rPr>
              <a:t>要件定義の内容の調整及び確定のプロセス</a:t>
            </a:r>
            <a:endParaRPr lang="en-US" altLang="ja-JP" sz="1600" dirty="0">
              <a:latin typeface="Segoe UI" panose="020B0502040204020203" pitchFamily="34" charset="0"/>
              <a:ea typeface="メイリオ" panose="020B0604030504040204" pitchFamily="50" charset="-128"/>
              <a:cs typeface="Segoe UI" panose="020B0502040204020203" pitchFamily="34" charset="0"/>
            </a:endParaRPr>
          </a:p>
        </p:txBody>
      </p:sp>
      <p:sp>
        <p:nvSpPr>
          <p:cNvPr id="28" name="テキスト プレースホルダー 8">
            <a:extLst>
              <a:ext uri="{FF2B5EF4-FFF2-40B4-BE49-F238E27FC236}">
                <a16:creationId xmlns:a16="http://schemas.microsoft.com/office/drawing/2014/main" id="{1D5DF445-4E35-4472-A27D-96901F0F2B16}"/>
              </a:ext>
            </a:extLst>
          </p:cNvPr>
          <p:cNvSpPr txBox="1">
            <a:spLocks/>
          </p:cNvSpPr>
          <p:nvPr/>
        </p:nvSpPr>
        <p:spPr>
          <a:xfrm>
            <a:off x="9886155" y="2290186"/>
            <a:ext cx="720000" cy="3996000"/>
          </a:xfrm>
          <a:prstGeom prst="rect">
            <a:avLst/>
          </a:prstGeom>
        </p:spPr>
        <p:txBody>
          <a:bodyPr vert="horz" wrap="squar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r" defTabSz="3321050" fontAlgn="base">
              <a:lnSpc>
                <a:spcPts val="2400"/>
              </a:lnSpc>
              <a:spcBef>
                <a:spcPts val="0"/>
              </a:spcBef>
              <a:buClr>
                <a:srgbClr val="009999"/>
              </a:buClr>
              <a:buNone/>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3</a:t>
            </a:r>
          </a:p>
          <a:p>
            <a:pPr marL="0" indent="0" algn="r" defTabSz="3321050" fontAlgn="base">
              <a:lnSpc>
                <a:spcPts val="2400"/>
              </a:lnSpc>
              <a:spcBef>
                <a:spcPts val="0"/>
              </a:spcBef>
              <a:buClr>
                <a:srgbClr val="009999"/>
              </a:buClr>
              <a:buNone/>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4</a:t>
            </a:r>
          </a:p>
          <a:p>
            <a:pPr marL="0" indent="0" algn="r" defTabSz="3321050" fontAlgn="base">
              <a:lnSpc>
                <a:spcPts val="2400"/>
              </a:lnSpc>
              <a:spcBef>
                <a:spcPts val="0"/>
              </a:spcBef>
              <a:buClr>
                <a:srgbClr val="009999"/>
              </a:buClr>
              <a:buNone/>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5</a:t>
            </a:r>
          </a:p>
          <a:p>
            <a:pPr marL="0" indent="0" algn="r" defTabSz="3321050" fontAlgn="base">
              <a:lnSpc>
                <a:spcPts val="2400"/>
              </a:lnSpc>
              <a:spcBef>
                <a:spcPts val="0"/>
              </a:spcBef>
              <a:buClr>
                <a:srgbClr val="009999"/>
              </a:buClr>
              <a:buNone/>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6</a:t>
            </a:r>
          </a:p>
          <a:p>
            <a:pPr marL="0" indent="0" algn="r" defTabSz="3321050" fontAlgn="base">
              <a:lnSpc>
                <a:spcPts val="2400"/>
              </a:lnSpc>
              <a:spcBef>
                <a:spcPts val="0"/>
              </a:spcBef>
              <a:buClr>
                <a:srgbClr val="009999"/>
              </a:buClr>
              <a:buNone/>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7</a:t>
            </a:r>
          </a:p>
          <a:p>
            <a:pPr marL="0" indent="0" algn="r" defTabSz="3321050" fontAlgn="base">
              <a:lnSpc>
                <a:spcPts val="2400"/>
              </a:lnSpc>
              <a:spcBef>
                <a:spcPts val="0"/>
              </a:spcBef>
              <a:buClr>
                <a:srgbClr val="009999"/>
              </a:buClr>
              <a:buNone/>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8</a:t>
            </a:r>
          </a:p>
          <a:p>
            <a:pPr marL="0" indent="0" algn="r" defTabSz="3321050" fontAlgn="base">
              <a:lnSpc>
                <a:spcPts val="2400"/>
              </a:lnSpc>
              <a:spcBef>
                <a:spcPts val="0"/>
              </a:spcBef>
              <a:buClr>
                <a:srgbClr val="009999"/>
              </a:buClr>
              <a:buNone/>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9</a:t>
            </a:r>
          </a:p>
          <a:p>
            <a:pPr marL="0" indent="0" algn="r" defTabSz="3321050" fontAlgn="base">
              <a:lnSpc>
                <a:spcPts val="2400"/>
              </a:lnSpc>
              <a:spcBef>
                <a:spcPts val="0"/>
              </a:spcBef>
              <a:buClr>
                <a:srgbClr val="009999"/>
              </a:buClr>
              <a:buNone/>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10</a:t>
            </a:r>
          </a:p>
          <a:p>
            <a:pPr marL="0" indent="0" algn="r" defTabSz="3321050" fontAlgn="base">
              <a:lnSpc>
                <a:spcPts val="2400"/>
              </a:lnSpc>
              <a:spcBef>
                <a:spcPts val="0"/>
              </a:spcBef>
              <a:buClr>
                <a:srgbClr val="009999"/>
              </a:buClr>
              <a:buNone/>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11</a:t>
            </a:r>
          </a:p>
          <a:p>
            <a:pPr marL="0" indent="0" algn="r" defTabSz="3321050" fontAlgn="base">
              <a:lnSpc>
                <a:spcPts val="2400"/>
              </a:lnSpc>
              <a:spcBef>
                <a:spcPts val="0"/>
              </a:spcBef>
              <a:buClr>
                <a:srgbClr val="009999"/>
              </a:buClr>
              <a:buNone/>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12</a:t>
            </a:r>
          </a:p>
          <a:p>
            <a:pPr marL="0" indent="0" algn="r" defTabSz="3321050" fontAlgn="base">
              <a:lnSpc>
                <a:spcPts val="2400"/>
              </a:lnSpc>
              <a:spcBef>
                <a:spcPts val="0"/>
              </a:spcBef>
              <a:buClr>
                <a:srgbClr val="009999"/>
              </a:buClr>
              <a:buNone/>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13</a:t>
            </a:r>
          </a:p>
          <a:p>
            <a:pPr marL="0" indent="0" algn="r" defTabSz="3321050" fontAlgn="base">
              <a:lnSpc>
                <a:spcPts val="2400"/>
              </a:lnSpc>
              <a:spcBef>
                <a:spcPts val="0"/>
              </a:spcBef>
              <a:buClr>
                <a:srgbClr val="009999"/>
              </a:buClr>
              <a:buNone/>
              <a:tabLst>
                <a:tab pos="3494088" algn="r"/>
                <a:tab pos="6189663" algn="r"/>
                <a:tab pos="6372225" algn="r"/>
                <a:tab pos="6457950" algn="r"/>
                <a:tab pos="6815138" algn="r"/>
                <a:tab pos="7267575" algn="r"/>
                <a:tab pos="8701088" algn="r"/>
                <a:tab pos="9056688" algn="r"/>
              </a:tabLst>
            </a:pPr>
            <a:endParaRPr lang="en-US" altLang="ja-JP" sz="1600" dirty="0">
              <a:latin typeface="Segoe UI" panose="020B0502040204020203" pitchFamily="34" charset="0"/>
              <a:ea typeface="メイリオ" panose="020B0604030504040204" pitchFamily="50" charset="-128"/>
              <a:cs typeface="Segoe UI" panose="020B0502040204020203" pitchFamily="34" charset="0"/>
            </a:endParaRPr>
          </a:p>
        </p:txBody>
      </p:sp>
      <p:sp>
        <p:nvSpPr>
          <p:cNvPr id="32" name="テキスト プレースホルダー 8">
            <a:extLst>
              <a:ext uri="{FF2B5EF4-FFF2-40B4-BE49-F238E27FC236}">
                <a16:creationId xmlns:a16="http://schemas.microsoft.com/office/drawing/2014/main" id="{71BD08AD-5327-9182-7276-84FC755BAE17}"/>
              </a:ext>
            </a:extLst>
          </p:cNvPr>
          <p:cNvSpPr txBox="1">
            <a:spLocks/>
          </p:cNvSpPr>
          <p:nvPr/>
        </p:nvSpPr>
        <p:spPr>
          <a:xfrm>
            <a:off x="9886155" y="1336435"/>
            <a:ext cx="720000" cy="9000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r" defTabSz="3321050" fontAlgn="base">
              <a:lnSpc>
                <a:spcPts val="3600"/>
              </a:lnSpc>
              <a:spcBef>
                <a:spcPts val="0"/>
              </a:spcBef>
              <a:buClr>
                <a:srgbClr val="009999"/>
              </a:buClr>
              <a:buSzPct val="80000"/>
              <a:buNone/>
              <a:tabLst>
                <a:tab pos="3494088" algn="r"/>
                <a:tab pos="6189663" algn="r"/>
                <a:tab pos="6372225" algn="r"/>
                <a:tab pos="6457950" algn="r"/>
                <a:tab pos="6815138" algn="r"/>
                <a:tab pos="7267575" algn="r"/>
                <a:tab pos="8701088" algn="r"/>
                <a:tab pos="9056688" algn="r"/>
              </a:tabLst>
            </a:pPr>
            <a:r>
              <a:rPr lang="en-US" altLang="ja-JP" sz="1600" dirty="0">
                <a:latin typeface="Segoe UI" panose="020B0502040204020203" pitchFamily="34" charset="0"/>
                <a:ea typeface="メイリオ" panose="020B0604030504040204" pitchFamily="50" charset="-128"/>
                <a:cs typeface="Segoe UI" panose="020B0502040204020203" pitchFamily="34" charset="0"/>
              </a:rPr>
              <a:t>2</a:t>
            </a:r>
            <a:endParaRPr lang="ja-JP" altLang="en-US" sz="1600" dirty="0">
              <a:latin typeface="Segoe UI" panose="020B0502040204020203" pitchFamily="34" charset="0"/>
              <a:ea typeface="メイリオ" panose="020B0604030504040204" pitchFamily="50" charset="-128"/>
              <a:cs typeface="Segoe UI" panose="020B0502040204020203" pitchFamily="34" charset="0"/>
            </a:endParaRPr>
          </a:p>
        </p:txBody>
      </p:sp>
      <p:sp>
        <p:nvSpPr>
          <p:cNvPr id="33" name="テキスト プレースホルダー 8">
            <a:extLst>
              <a:ext uri="{FF2B5EF4-FFF2-40B4-BE49-F238E27FC236}">
                <a16:creationId xmlns:a16="http://schemas.microsoft.com/office/drawing/2014/main" id="{08AD1861-C438-B07C-8AAA-CB38374E8855}"/>
              </a:ext>
            </a:extLst>
          </p:cNvPr>
          <p:cNvSpPr txBox="1">
            <a:spLocks/>
          </p:cNvSpPr>
          <p:nvPr/>
        </p:nvSpPr>
        <p:spPr>
          <a:xfrm>
            <a:off x="3825251" y="1295287"/>
            <a:ext cx="6480000" cy="9000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r" defTabSz="3321050" fontAlgn="base">
              <a:lnSpc>
                <a:spcPts val="3600"/>
              </a:lnSpc>
              <a:spcBef>
                <a:spcPts val="0"/>
              </a:spcBef>
              <a:buClr>
                <a:srgbClr val="009999"/>
              </a:buClr>
              <a:buSzPct val="80000"/>
              <a:buNone/>
              <a:tabLst>
                <a:tab pos="3494088" algn="r"/>
                <a:tab pos="6189663" algn="r"/>
                <a:tab pos="6372225" algn="r"/>
                <a:tab pos="6457950" algn="r"/>
                <a:tab pos="6815138" algn="r"/>
                <a:tab pos="7267575" algn="r"/>
                <a:tab pos="8701088" algn="r"/>
                <a:tab pos="9056688" algn="r"/>
              </a:tabLst>
            </a:pPr>
            <a:r>
              <a:rPr lang="ja-JP" altLang="en-US" sz="900" dirty="0">
                <a:solidFill>
                  <a:schemeClr val="bg1">
                    <a:lumMod val="50000"/>
                  </a:schemeClr>
                </a:solidFill>
                <a:latin typeface="Segoe UI" panose="020B0502040204020203" pitchFamily="34" charset="0"/>
                <a:ea typeface="メイリオ" panose="020B0604030504040204" pitchFamily="50" charset="-128"/>
                <a:cs typeface="Segoe UI" panose="020B0502040204020203" pitchFamily="34" charset="0"/>
              </a:rPr>
              <a:t>・・・・・・・・・・・・・・・・・・・・・・・・・・・・・・・・・・・・・・・・・・・・・・・・・・・・・</a:t>
            </a:r>
            <a:endParaRPr lang="en-US" altLang="ja-JP" sz="900" dirty="0">
              <a:solidFill>
                <a:schemeClr val="bg1">
                  <a:lumMod val="50000"/>
                </a:schemeClr>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35" name="テキスト プレースホルダー 8">
            <a:extLst>
              <a:ext uri="{FF2B5EF4-FFF2-40B4-BE49-F238E27FC236}">
                <a16:creationId xmlns:a16="http://schemas.microsoft.com/office/drawing/2014/main" id="{2B475397-B012-0718-39F4-BEA17D9B986A}"/>
              </a:ext>
            </a:extLst>
          </p:cNvPr>
          <p:cNvSpPr txBox="1">
            <a:spLocks/>
          </p:cNvSpPr>
          <p:nvPr/>
        </p:nvSpPr>
        <p:spPr>
          <a:xfrm>
            <a:off x="3825251" y="2252334"/>
            <a:ext cx="6480000" cy="3996000"/>
          </a:xfrm>
          <a:prstGeom prst="rect">
            <a:avLst/>
          </a:prstGeom>
        </p:spPr>
        <p:txBody>
          <a:bodyPr vert="horz" lIns="0" tIns="0" rIns="0" bIns="0" rtlCol="0">
            <a:noAutofit/>
          </a:bodyPr>
          <a:lstStyle>
            <a:defPPr>
              <a:defRPr lang="ja-JP"/>
            </a:defPPr>
            <a:lvl1pPr indent="0" algn="r" defTabSz="3321050" fontAlgn="base">
              <a:lnSpc>
                <a:spcPts val="3000"/>
              </a:lnSpc>
              <a:spcBef>
                <a:spcPts val="0"/>
              </a:spcBef>
              <a:buClr>
                <a:srgbClr val="009999"/>
              </a:buClr>
              <a:buSzPct val="80000"/>
              <a:buFont typeface="Arial" panose="020B0604020202020204" pitchFamily="34" charset="0"/>
              <a:buNone/>
              <a:tabLst>
                <a:tab pos="3494088" algn="r"/>
                <a:tab pos="6189663" algn="r"/>
                <a:tab pos="6372225" algn="r"/>
                <a:tab pos="6457950" algn="r"/>
                <a:tab pos="6815138" algn="r"/>
                <a:tab pos="7267575" algn="r"/>
                <a:tab pos="8701088" algn="r"/>
                <a:tab pos="9056688" algn="r"/>
              </a:tabLst>
              <a:defRPr sz="900">
                <a:latin typeface="Segoe UI" panose="020B0502040204020203" pitchFamily="34" charset="0"/>
                <a:ea typeface="メイリオ" panose="020B0604030504040204" pitchFamily="50" charset="-128"/>
                <a:cs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ts val="2400"/>
              </a:lnSpc>
            </a:pPr>
            <a:r>
              <a:rPr lang="ja-JP" altLang="en-US" dirty="0">
                <a:solidFill>
                  <a:schemeClr val="bg1">
                    <a:lumMod val="50000"/>
                  </a:schemeClr>
                </a:solidFill>
              </a:rPr>
              <a:t>・・・・・・・・・・・・・・・・・・・・・・・・・・・・・・・・・・・・・・・・・・・・・・・・・</a:t>
            </a:r>
            <a:endParaRPr lang="en-US" altLang="ja-JP" dirty="0">
              <a:solidFill>
                <a:schemeClr val="bg1">
                  <a:lumMod val="50000"/>
                </a:schemeClr>
              </a:solidFill>
            </a:endParaRPr>
          </a:p>
          <a:p>
            <a:pPr>
              <a:lnSpc>
                <a:spcPts val="2400"/>
              </a:lnSpc>
            </a:pPr>
            <a:r>
              <a:rPr lang="ja-JP" altLang="en-US" dirty="0">
                <a:solidFill>
                  <a:schemeClr val="bg1">
                    <a:lumMod val="50000"/>
                  </a:schemeClr>
                </a:solidFill>
              </a:rPr>
              <a:t>・・・・・・・・・・・・・・・・・・・・・・・・・・・・・・・・・・・・・・・・・・・・・・・・</a:t>
            </a:r>
          </a:p>
          <a:p>
            <a:pPr>
              <a:lnSpc>
                <a:spcPts val="2400"/>
              </a:lnSpc>
            </a:pPr>
            <a:r>
              <a:rPr lang="ja-JP" altLang="en-US" dirty="0">
                <a:solidFill>
                  <a:schemeClr val="bg1">
                    <a:lumMod val="50000"/>
                  </a:schemeClr>
                </a:solidFill>
              </a:rPr>
              <a:t>・・・・・・・・・・・・・・・・・・・・・・・・・・・・・・・・・・・・・・</a:t>
            </a:r>
            <a:endParaRPr lang="en-US" altLang="ja-JP" dirty="0">
              <a:solidFill>
                <a:schemeClr val="bg1">
                  <a:lumMod val="50000"/>
                </a:schemeClr>
              </a:solidFill>
            </a:endParaRPr>
          </a:p>
          <a:p>
            <a:pPr>
              <a:lnSpc>
                <a:spcPts val="2400"/>
              </a:lnSpc>
            </a:pPr>
            <a:r>
              <a:rPr lang="ja-JP" altLang="en-US" dirty="0">
                <a:solidFill>
                  <a:schemeClr val="bg1">
                    <a:lumMod val="50000"/>
                  </a:schemeClr>
                </a:solidFill>
              </a:rPr>
              <a:t>・・・・・・・・・・・・・・・・・・・・・・・・</a:t>
            </a:r>
            <a:endParaRPr lang="en-US" altLang="ja-JP" dirty="0">
              <a:solidFill>
                <a:schemeClr val="bg1">
                  <a:lumMod val="50000"/>
                </a:schemeClr>
              </a:solidFill>
            </a:endParaRPr>
          </a:p>
          <a:p>
            <a:pPr>
              <a:lnSpc>
                <a:spcPts val="2400"/>
              </a:lnSpc>
            </a:pPr>
            <a:r>
              <a:rPr lang="ja-JP" altLang="en-US" dirty="0">
                <a:solidFill>
                  <a:schemeClr val="bg1">
                    <a:lumMod val="50000"/>
                  </a:schemeClr>
                </a:solidFill>
              </a:rPr>
              <a:t>・・・・・・・・・・・・・・・・・・・・・・・・・・・・・・・・・・・・・・・・・・・・・・</a:t>
            </a:r>
          </a:p>
          <a:p>
            <a:pPr>
              <a:lnSpc>
                <a:spcPts val="2400"/>
              </a:lnSpc>
            </a:pPr>
            <a:r>
              <a:rPr lang="ja-JP" altLang="en-US" dirty="0">
                <a:solidFill>
                  <a:schemeClr val="bg1">
                    <a:lumMod val="50000"/>
                  </a:schemeClr>
                </a:solidFill>
              </a:rPr>
              <a:t>・・・・・・・・・・</a:t>
            </a:r>
            <a:endParaRPr lang="en-US" altLang="ja-JP" dirty="0">
              <a:solidFill>
                <a:schemeClr val="bg1">
                  <a:lumMod val="50000"/>
                </a:schemeClr>
              </a:solidFill>
            </a:endParaRPr>
          </a:p>
          <a:p>
            <a:pPr>
              <a:lnSpc>
                <a:spcPts val="2400"/>
              </a:lnSpc>
            </a:pPr>
            <a:r>
              <a:rPr lang="ja-JP" altLang="en-US" dirty="0">
                <a:solidFill>
                  <a:schemeClr val="bg1">
                    <a:lumMod val="50000"/>
                  </a:schemeClr>
                </a:solidFill>
              </a:rPr>
              <a:t>・・・・・・・・・・・・・・・・・・・・・・・・・・・・・・・・・・</a:t>
            </a:r>
            <a:endParaRPr lang="en-US" altLang="ja-JP" dirty="0">
              <a:solidFill>
                <a:schemeClr val="bg1">
                  <a:lumMod val="50000"/>
                </a:schemeClr>
              </a:solidFill>
            </a:endParaRPr>
          </a:p>
          <a:p>
            <a:pPr>
              <a:lnSpc>
                <a:spcPts val="2400"/>
              </a:lnSpc>
            </a:pPr>
            <a:r>
              <a:rPr lang="ja-JP" altLang="en-US" dirty="0">
                <a:solidFill>
                  <a:schemeClr val="bg1">
                    <a:lumMod val="50000"/>
                  </a:schemeClr>
                </a:solidFill>
              </a:rPr>
              <a:t>・・・・・・・・・・・・・・・・・・・・・・・・・・・・・・</a:t>
            </a:r>
            <a:endParaRPr lang="en-US" altLang="ja-JP" dirty="0">
              <a:solidFill>
                <a:schemeClr val="bg1">
                  <a:lumMod val="50000"/>
                </a:schemeClr>
              </a:solidFill>
            </a:endParaRPr>
          </a:p>
          <a:p>
            <a:pPr>
              <a:lnSpc>
                <a:spcPts val="2400"/>
              </a:lnSpc>
            </a:pPr>
            <a:r>
              <a:rPr lang="ja-JP" altLang="en-US" dirty="0">
                <a:solidFill>
                  <a:schemeClr val="bg1">
                    <a:lumMod val="50000"/>
                  </a:schemeClr>
                </a:solidFill>
              </a:rPr>
              <a:t>・・・・・・・・・・・・・・・・・・・・・・・・・・・・・・・・・・・・・・・・・・・・・・・</a:t>
            </a:r>
            <a:endParaRPr lang="en-US" altLang="ja-JP" dirty="0">
              <a:solidFill>
                <a:schemeClr val="bg1">
                  <a:lumMod val="50000"/>
                </a:schemeClr>
              </a:solidFill>
            </a:endParaRPr>
          </a:p>
          <a:p>
            <a:pPr>
              <a:lnSpc>
                <a:spcPts val="2400"/>
              </a:lnSpc>
            </a:pPr>
            <a:r>
              <a:rPr lang="ja-JP" altLang="en-US" dirty="0">
                <a:solidFill>
                  <a:schemeClr val="bg1">
                    <a:lumMod val="50000"/>
                  </a:schemeClr>
                </a:solidFill>
              </a:rPr>
              <a:t>・・・・・・・・・・・・・・・・・・・・・・・・・・・・・・・・・・・・・・・・・・・・</a:t>
            </a:r>
            <a:endParaRPr lang="en-US" altLang="ja-JP" dirty="0">
              <a:solidFill>
                <a:schemeClr val="bg1">
                  <a:lumMod val="50000"/>
                </a:schemeClr>
              </a:solidFill>
            </a:endParaRPr>
          </a:p>
          <a:p>
            <a:pPr>
              <a:lnSpc>
                <a:spcPts val="2400"/>
              </a:lnSpc>
            </a:pPr>
            <a:r>
              <a:rPr lang="ja-JP" altLang="en-US" dirty="0">
                <a:solidFill>
                  <a:schemeClr val="bg1">
                    <a:lumMod val="50000"/>
                  </a:schemeClr>
                </a:solidFill>
              </a:rPr>
              <a:t>・・・・・・・・・・・・・・・・・・・・・・・・</a:t>
            </a:r>
          </a:p>
          <a:p>
            <a:pPr>
              <a:lnSpc>
                <a:spcPts val="2400"/>
              </a:lnSpc>
            </a:pPr>
            <a:endParaRPr lang="ja-JP" altLang="en-US" dirty="0">
              <a:solidFill>
                <a:schemeClr val="bg1">
                  <a:lumMod val="50000"/>
                </a:schemeClr>
              </a:solidFill>
            </a:endParaRPr>
          </a:p>
          <a:p>
            <a:pPr>
              <a:lnSpc>
                <a:spcPts val="2400"/>
              </a:lnSpc>
            </a:pPr>
            <a:endParaRPr lang="ja-JP" altLang="en-US" dirty="0">
              <a:solidFill>
                <a:schemeClr val="bg1">
                  <a:lumMod val="50000"/>
                </a:schemeClr>
              </a:solidFill>
            </a:endParaRPr>
          </a:p>
        </p:txBody>
      </p:sp>
      <p:sp>
        <p:nvSpPr>
          <p:cNvPr id="39" name="テキスト ボックス 38">
            <a:extLst>
              <a:ext uri="{FF2B5EF4-FFF2-40B4-BE49-F238E27FC236}">
                <a16:creationId xmlns:a16="http://schemas.microsoft.com/office/drawing/2014/main" id="{0EC91158-F3DA-0C11-33AB-678DE60EA6E0}"/>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目次</a:t>
            </a:r>
          </a:p>
        </p:txBody>
      </p:sp>
      <p:sp>
        <p:nvSpPr>
          <p:cNvPr id="40" name="フリーフォーム: 図形 39">
            <a:extLst>
              <a:ext uri="{FF2B5EF4-FFF2-40B4-BE49-F238E27FC236}">
                <a16:creationId xmlns:a16="http://schemas.microsoft.com/office/drawing/2014/main" id="{22CC3047-1518-DB5D-A0BB-F680C0A1A591}"/>
              </a:ext>
            </a:extLst>
          </p:cNvPr>
          <p:cNvSpPr/>
          <p:nvPr/>
        </p:nvSpPr>
        <p:spPr>
          <a:xfrm>
            <a:off x="0" y="956018"/>
            <a:ext cx="2648712" cy="288486"/>
          </a:xfrm>
          <a:custGeom>
            <a:avLst/>
            <a:gdLst>
              <a:gd name="connsiteX0" fmla="*/ 0 w 2648712"/>
              <a:gd name="connsiteY0" fmla="*/ 0 h 288486"/>
              <a:gd name="connsiteX1" fmla="*/ 792480 w 2648712"/>
              <a:gd name="connsiteY1" fmla="*/ 0 h 288486"/>
              <a:gd name="connsiteX2" fmla="*/ 1711989 w 2648712"/>
              <a:gd name="connsiteY2" fmla="*/ 0 h 288486"/>
              <a:gd name="connsiteX3" fmla="*/ 2504469 w 2648712"/>
              <a:gd name="connsiteY3" fmla="*/ 0 h 288486"/>
              <a:gd name="connsiteX4" fmla="*/ 2648712 w 2648712"/>
              <a:gd name="connsiteY4" fmla="*/ 144243 h 288486"/>
              <a:gd name="connsiteX5" fmla="*/ 2504469 w 2648712"/>
              <a:gd name="connsiteY5" fmla="*/ 288486 h 288486"/>
              <a:gd name="connsiteX6" fmla="*/ 1711989 w 2648712"/>
              <a:gd name="connsiteY6" fmla="*/ 288486 h 288486"/>
              <a:gd name="connsiteX7" fmla="*/ 792480 w 2648712"/>
              <a:gd name="connsiteY7" fmla="*/ 288486 h 288486"/>
              <a:gd name="connsiteX8" fmla="*/ 0 w 2648712"/>
              <a:gd name="connsiteY8" fmla="*/ 288486 h 288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8712" h="288486">
                <a:moveTo>
                  <a:pt x="0" y="0"/>
                </a:moveTo>
                <a:lnTo>
                  <a:pt x="792480" y="0"/>
                </a:lnTo>
                <a:lnTo>
                  <a:pt x="1711989" y="0"/>
                </a:lnTo>
                <a:lnTo>
                  <a:pt x="2504469" y="0"/>
                </a:lnTo>
                <a:cubicBezTo>
                  <a:pt x="2584132" y="0"/>
                  <a:pt x="2648712" y="64580"/>
                  <a:pt x="2648712" y="144243"/>
                </a:cubicBezTo>
                <a:cubicBezTo>
                  <a:pt x="2648712" y="223906"/>
                  <a:pt x="2584132" y="288486"/>
                  <a:pt x="2504469" y="288486"/>
                </a:cubicBezTo>
                <a:lnTo>
                  <a:pt x="1711989" y="288486"/>
                </a:lnTo>
                <a:lnTo>
                  <a:pt x="792480" y="288486"/>
                </a:lnTo>
                <a:lnTo>
                  <a:pt x="0" y="288486"/>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endPar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endParaRPr>
          </a:p>
        </p:txBody>
      </p:sp>
    </p:spTree>
    <p:extLst>
      <p:ext uri="{BB962C8B-B14F-4D97-AF65-F5344CB8AC3E}">
        <p14:creationId xmlns:p14="http://schemas.microsoft.com/office/powerpoint/2010/main" val="542115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9C2CE-F6A0-6E48-9629-272FA70046BE}"/>
            </a:ext>
          </a:extLst>
        </p:cNvPr>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A5D6EE21-4BB8-FB54-4FAC-67B7BF73CB53}"/>
              </a:ext>
            </a:extLst>
          </p:cNvPr>
          <p:cNvSpPr/>
          <p:nvPr/>
        </p:nvSpPr>
        <p:spPr>
          <a:xfrm>
            <a:off x="0" y="0"/>
            <a:ext cx="288000" cy="6858000"/>
          </a:xfrm>
          <a:prstGeom prst="rect">
            <a:avLst/>
          </a:prstGeom>
          <a:solidFill>
            <a:srgbClr val="CC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テキスト ボックス 18">
            <a:extLst>
              <a:ext uri="{FF2B5EF4-FFF2-40B4-BE49-F238E27FC236}">
                <a16:creationId xmlns:a16="http://schemas.microsoft.com/office/drawing/2014/main" id="{83D6761F-61A9-1574-CAC2-7A6447446101}"/>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はじめに</a:t>
            </a:r>
          </a:p>
        </p:txBody>
      </p:sp>
      <p:sp>
        <p:nvSpPr>
          <p:cNvPr id="21" name="フリーフォーム: 図形 20">
            <a:extLst>
              <a:ext uri="{FF2B5EF4-FFF2-40B4-BE49-F238E27FC236}">
                <a16:creationId xmlns:a16="http://schemas.microsoft.com/office/drawing/2014/main" id="{CDD546FE-1656-C56B-F20E-059DA5D105F4}"/>
              </a:ext>
            </a:extLst>
          </p:cNvPr>
          <p:cNvSpPr/>
          <p:nvPr/>
        </p:nvSpPr>
        <p:spPr>
          <a:xfrm>
            <a:off x="0" y="956018"/>
            <a:ext cx="2648712" cy="288486"/>
          </a:xfrm>
          <a:custGeom>
            <a:avLst/>
            <a:gdLst>
              <a:gd name="connsiteX0" fmla="*/ 0 w 2648712"/>
              <a:gd name="connsiteY0" fmla="*/ 0 h 288486"/>
              <a:gd name="connsiteX1" fmla="*/ 792480 w 2648712"/>
              <a:gd name="connsiteY1" fmla="*/ 0 h 288486"/>
              <a:gd name="connsiteX2" fmla="*/ 1711989 w 2648712"/>
              <a:gd name="connsiteY2" fmla="*/ 0 h 288486"/>
              <a:gd name="connsiteX3" fmla="*/ 2504469 w 2648712"/>
              <a:gd name="connsiteY3" fmla="*/ 0 h 288486"/>
              <a:gd name="connsiteX4" fmla="*/ 2648712 w 2648712"/>
              <a:gd name="connsiteY4" fmla="*/ 144243 h 288486"/>
              <a:gd name="connsiteX5" fmla="*/ 2504469 w 2648712"/>
              <a:gd name="connsiteY5" fmla="*/ 288486 h 288486"/>
              <a:gd name="connsiteX6" fmla="*/ 1711989 w 2648712"/>
              <a:gd name="connsiteY6" fmla="*/ 288486 h 288486"/>
              <a:gd name="connsiteX7" fmla="*/ 792480 w 2648712"/>
              <a:gd name="connsiteY7" fmla="*/ 288486 h 288486"/>
              <a:gd name="connsiteX8" fmla="*/ 0 w 2648712"/>
              <a:gd name="connsiteY8" fmla="*/ 288486 h 288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8712" h="288486">
                <a:moveTo>
                  <a:pt x="0" y="0"/>
                </a:moveTo>
                <a:lnTo>
                  <a:pt x="792480" y="0"/>
                </a:lnTo>
                <a:lnTo>
                  <a:pt x="1711989" y="0"/>
                </a:lnTo>
                <a:lnTo>
                  <a:pt x="2504469" y="0"/>
                </a:lnTo>
                <a:cubicBezTo>
                  <a:pt x="2584132" y="0"/>
                  <a:pt x="2648712" y="64580"/>
                  <a:pt x="2648712" y="144243"/>
                </a:cubicBezTo>
                <a:cubicBezTo>
                  <a:pt x="2648712" y="223906"/>
                  <a:pt x="2584132" y="288486"/>
                  <a:pt x="2504469" y="288486"/>
                </a:cubicBezTo>
                <a:lnTo>
                  <a:pt x="1711989" y="288486"/>
                </a:lnTo>
                <a:lnTo>
                  <a:pt x="792480" y="288486"/>
                </a:lnTo>
                <a:lnTo>
                  <a:pt x="0" y="288486"/>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endPar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22" name="テキスト プレースホルダー 8">
            <a:extLst>
              <a:ext uri="{FF2B5EF4-FFF2-40B4-BE49-F238E27FC236}">
                <a16:creationId xmlns:a16="http://schemas.microsoft.com/office/drawing/2014/main" id="{5DBE6606-BFA8-CD38-E4E4-8B759B8F240D}"/>
              </a:ext>
            </a:extLst>
          </p:cNvPr>
          <p:cNvSpPr txBox="1">
            <a:spLocks/>
          </p:cNvSpPr>
          <p:nvPr/>
        </p:nvSpPr>
        <p:spPr>
          <a:xfrm>
            <a:off x="3009725" y="1731285"/>
            <a:ext cx="8402638" cy="2078133"/>
          </a:xfrm>
          <a:prstGeom prst="rect">
            <a:avLst/>
          </a:prstGeom>
        </p:spPr>
        <p:txBody>
          <a:bodyPr vert="horz" wrap="square" lIns="0" tIns="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16000" indent="-216000" algn="just" defTabSz="3321050" fontAlgn="base">
              <a:lnSpc>
                <a:spcPct val="110000"/>
              </a:lnSpc>
              <a:spcBef>
                <a:spcPts val="400"/>
              </a:spcBef>
              <a:buClr>
                <a:srgbClr val="009999"/>
              </a:buClr>
              <a:tabLst>
                <a:tab pos="3494088" algn="r"/>
                <a:tab pos="6189663" algn="r"/>
                <a:tab pos="6372225" algn="r"/>
                <a:tab pos="6457950" algn="r"/>
                <a:tab pos="6815138" algn="r"/>
                <a:tab pos="7267575" algn="r"/>
                <a:tab pos="8701088" algn="r"/>
                <a:tab pos="9056688" algn="r"/>
              </a:tabLst>
            </a:pPr>
            <a:r>
              <a:rPr lang="ja-JP" altLang="en-US" sz="1300" dirty="0">
                <a:latin typeface="Segoe UI" panose="020B0502040204020203" pitchFamily="34" charset="0"/>
                <a:ea typeface="メイリオ" panose="020B0604030504040204" pitchFamily="50" charset="-128"/>
                <a:cs typeface="Segoe UI" panose="020B0502040204020203" pitchFamily="34" charset="0"/>
              </a:rPr>
              <a:t>標準ガイドラインは、一般的な</a:t>
            </a:r>
            <a:r>
              <a:rPr lang="en-US" altLang="ja-JP" sz="1300" dirty="0">
                <a:latin typeface="Segoe UI" panose="020B0502040204020203" pitchFamily="34" charset="0"/>
                <a:ea typeface="メイリオ" panose="020B0604030504040204" pitchFamily="50" charset="-128"/>
                <a:cs typeface="Segoe UI" panose="020B0502040204020203" pitchFamily="34" charset="0"/>
              </a:rPr>
              <a:t>IT</a:t>
            </a:r>
            <a:r>
              <a:rPr lang="ja-JP" altLang="en-US" sz="1300" dirty="0">
                <a:latin typeface="Segoe UI" panose="020B0502040204020203" pitchFamily="34" charset="0"/>
                <a:ea typeface="メイリオ" panose="020B0604030504040204" pitchFamily="50" charset="-128"/>
                <a:cs typeface="Segoe UI" panose="020B0502040204020203" pitchFamily="34" charset="0"/>
              </a:rPr>
              <a:t>ガバナンスや</a:t>
            </a:r>
            <a:r>
              <a:rPr lang="en-US" altLang="ja-JP" sz="1300" dirty="0">
                <a:latin typeface="Segoe UI" panose="020B0502040204020203" pitchFamily="34" charset="0"/>
                <a:ea typeface="メイリオ" panose="020B0604030504040204" pitchFamily="50" charset="-128"/>
                <a:cs typeface="Segoe UI" panose="020B0502040204020203" pitchFamily="34" charset="0"/>
              </a:rPr>
              <a:t>IT</a:t>
            </a:r>
            <a:r>
              <a:rPr lang="ja-JP" altLang="en-US" sz="1300" dirty="0">
                <a:latin typeface="Segoe UI" panose="020B0502040204020203" pitchFamily="34" charset="0"/>
                <a:ea typeface="メイリオ" panose="020B0604030504040204" pitchFamily="50" charset="-128"/>
                <a:cs typeface="Segoe UI" panose="020B0502040204020203" pitchFamily="34" charset="0"/>
              </a:rPr>
              <a:t>マネジメントの知見をベースとしつつも、政府特有の事情等を反映してルールを策定しています。そのため、一般的な</a:t>
            </a:r>
            <a:r>
              <a:rPr lang="en-US" altLang="ja-JP" sz="1300" dirty="0">
                <a:latin typeface="Segoe UI" panose="020B0502040204020203" pitchFamily="34" charset="0"/>
                <a:ea typeface="メイリオ" panose="020B0604030504040204" pitchFamily="50" charset="-128"/>
                <a:cs typeface="Segoe UI" panose="020B0502040204020203" pitchFamily="34" charset="0"/>
              </a:rPr>
              <a:t>IT</a:t>
            </a:r>
            <a:r>
              <a:rPr lang="ja-JP" altLang="en-US" sz="1300" dirty="0">
                <a:latin typeface="Segoe UI" panose="020B0502040204020203" pitchFamily="34" charset="0"/>
                <a:ea typeface="メイリオ" panose="020B0604030504040204" pitchFamily="50" charset="-128"/>
                <a:cs typeface="Segoe UI" panose="020B0502040204020203" pitchFamily="34" charset="0"/>
              </a:rPr>
              <a:t>ガバナンスや</a:t>
            </a:r>
            <a:r>
              <a:rPr lang="en-US" altLang="ja-JP" sz="1300" dirty="0">
                <a:latin typeface="Segoe UI" panose="020B0502040204020203" pitchFamily="34" charset="0"/>
                <a:ea typeface="メイリオ" panose="020B0604030504040204" pitchFamily="50" charset="-128"/>
                <a:cs typeface="Segoe UI" panose="020B0502040204020203" pitchFamily="34" charset="0"/>
              </a:rPr>
              <a:t>IT</a:t>
            </a:r>
            <a:r>
              <a:rPr lang="ja-JP" altLang="en-US" sz="1300" dirty="0">
                <a:latin typeface="Segoe UI" panose="020B0502040204020203" pitchFamily="34" charset="0"/>
                <a:ea typeface="メイリオ" panose="020B0604030504040204" pitchFamily="50" charset="-128"/>
                <a:cs typeface="Segoe UI" panose="020B0502040204020203" pitchFamily="34" charset="0"/>
              </a:rPr>
              <a:t>マネジメントを経験された方であっても、用語や考え方の一部について、理解しづらい部分があります。</a:t>
            </a:r>
          </a:p>
          <a:p>
            <a:pPr marL="216000" indent="-216000" algn="just" defTabSz="3321050" fontAlgn="base">
              <a:lnSpc>
                <a:spcPct val="110000"/>
              </a:lnSpc>
              <a:spcBef>
                <a:spcPts val="400"/>
              </a:spcBef>
              <a:buClr>
                <a:srgbClr val="009999"/>
              </a:buClr>
              <a:tabLst>
                <a:tab pos="3494088" algn="r"/>
                <a:tab pos="6189663" algn="r"/>
                <a:tab pos="6372225" algn="r"/>
                <a:tab pos="6457950" algn="r"/>
                <a:tab pos="6815138" algn="r"/>
                <a:tab pos="7267575" algn="r"/>
                <a:tab pos="8701088" algn="r"/>
                <a:tab pos="9056688" algn="r"/>
              </a:tabLst>
            </a:pPr>
            <a:r>
              <a:rPr lang="ja-JP" altLang="en-US" sz="1300" dirty="0">
                <a:latin typeface="Segoe UI" panose="020B0502040204020203" pitchFamily="34" charset="0"/>
                <a:ea typeface="メイリオ" panose="020B0604030504040204" pitchFamily="50" charset="-128"/>
                <a:cs typeface="Segoe UI" panose="020B0502040204020203" pitchFamily="34" charset="0"/>
              </a:rPr>
              <a:t>本書は、標準ガイドラインの記載の中で、政府に特有の用語・考え方等の一部を紹介しています。加えて、それらがなぜ必要なのかという背景・経緯も合わせて掲載することで、標準ガイドラインに対する理解を促進することを目的としています。なお、標準ガイドライン以外にも、政府の情報システム整備等に関する法令、通達などのルールはたくさんあり、適切に業務を推進するためにはこれらの理解も必要です。</a:t>
            </a:r>
          </a:p>
          <a:p>
            <a:pPr marL="216000" indent="-216000" algn="just" defTabSz="3321050" fontAlgn="base">
              <a:lnSpc>
                <a:spcPct val="110000"/>
              </a:lnSpc>
              <a:spcBef>
                <a:spcPts val="400"/>
              </a:spcBef>
              <a:buClr>
                <a:srgbClr val="009999"/>
              </a:buClr>
              <a:tabLst>
                <a:tab pos="3494088" algn="r"/>
                <a:tab pos="6189663" algn="r"/>
                <a:tab pos="6372225" algn="r"/>
                <a:tab pos="6457950" algn="r"/>
                <a:tab pos="6815138" algn="r"/>
                <a:tab pos="7267575" algn="r"/>
                <a:tab pos="8701088" algn="r"/>
                <a:tab pos="9056688" algn="r"/>
              </a:tabLst>
            </a:pPr>
            <a:r>
              <a:rPr lang="ja-JP" altLang="en-US" sz="1300" dirty="0">
                <a:latin typeface="Segoe UI" panose="020B0502040204020203" pitchFamily="34" charset="0"/>
                <a:ea typeface="メイリオ" panose="020B0604030504040204" pitchFamily="50" charset="-128"/>
                <a:cs typeface="Segoe UI" panose="020B0502040204020203" pitchFamily="34" charset="0"/>
              </a:rPr>
              <a:t>本書が、政府情報システムに関する業務に携わる皆様にとって、標準ガイドライン群の各文書やその他のルール等を理解するための入り口となれば幸いです。</a:t>
            </a:r>
          </a:p>
        </p:txBody>
      </p:sp>
      <p:sp>
        <p:nvSpPr>
          <p:cNvPr id="25" name="テキスト プレースホルダー 8">
            <a:extLst>
              <a:ext uri="{FF2B5EF4-FFF2-40B4-BE49-F238E27FC236}">
                <a16:creationId xmlns:a16="http://schemas.microsoft.com/office/drawing/2014/main" id="{1916CDA4-A0AA-A372-7BE7-F2129187EF0B}"/>
              </a:ext>
            </a:extLst>
          </p:cNvPr>
          <p:cNvSpPr txBox="1">
            <a:spLocks/>
          </p:cNvSpPr>
          <p:nvPr/>
        </p:nvSpPr>
        <p:spPr>
          <a:xfrm>
            <a:off x="3009725" y="4321894"/>
            <a:ext cx="8402638" cy="215059"/>
          </a:xfrm>
          <a:prstGeom prst="rect">
            <a:avLst/>
          </a:prstGeom>
        </p:spPr>
        <p:txBody>
          <a:bodyPr vert="horz" wrap="square" lIns="0" tIns="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16000" indent="-216000" defTabSz="3321050" fontAlgn="base">
              <a:lnSpc>
                <a:spcPct val="110000"/>
              </a:lnSpc>
              <a:spcBef>
                <a:spcPts val="400"/>
              </a:spcBef>
              <a:buClr>
                <a:srgbClr val="009999"/>
              </a:buClr>
              <a:tabLst>
                <a:tab pos="3494088" algn="r"/>
                <a:tab pos="6189663" algn="r"/>
                <a:tab pos="6372225" algn="r"/>
                <a:tab pos="6457950" algn="r"/>
                <a:tab pos="6815138" algn="r"/>
                <a:tab pos="7267575" algn="r"/>
                <a:tab pos="8701088" algn="r"/>
                <a:tab pos="9056688" algn="r"/>
              </a:tabLst>
            </a:pPr>
            <a:r>
              <a:rPr lang="ja-JP" altLang="en-US" sz="1300" dirty="0">
                <a:latin typeface="Segoe UI" panose="020B0502040204020203" pitchFamily="34" charset="0"/>
                <a:ea typeface="メイリオ" panose="020B0604030504040204" pitchFamily="50" charset="-128"/>
                <a:cs typeface="Segoe UI" panose="020B0502040204020203" pitchFamily="34" charset="0"/>
              </a:rPr>
              <a:t>本書は、標準ガイドラインへの理解を深めるための参考文書であり、適用を求めるものではありません。</a:t>
            </a:r>
          </a:p>
        </p:txBody>
      </p:sp>
      <p:sp>
        <p:nvSpPr>
          <p:cNvPr id="26" name="テキスト プレースホルダー 8">
            <a:extLst>
              <a:ext uri="{FF2B5EF4-FFF2-40B4-BE49-F238E27FC236}">
                <a16:creationId xmlns:a16="http://schemas.microsoft.com/office/drawing/2014/main" id="{6F40D3F9-8565-ED45-CC3F-C295F00C86F1}"/>
              </a:ext>
            </a:extLst>
          </p:cNvPr>
          <p:cNvSpPr txBox="1">
            <a:spLocks/>
          </p:cNvSpPr>
          <p:nvPr/>
        </p:nvSpPr>
        <p:spPr>
          <a:xfrm>
            <a:off x="3009725" y="5360574"/>
            <a:ext cx="8402638" cy="435119"/>
          </a:xfrm>
          <a:prstGeom prst="rect">
            <a:avLst/>
          </a:prstGeom>
        </p:spPr>
        <p:txBody>
          <a:bodyPr vert="horz" wrap="square" lIns="0" tIns="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16000" indent="-216000" defTabSz="3321050" fontAlgn="base">
              <a:lnSpc>
                <a:spcPct val="110000"/>
              </a:lnSpc>
              <a:spcBef>
                <a:spcPts val="400"/>
              </a:spcBef>
              <a:buClr>
                <a:srgbClr val="009999"/>
              </a:buClr>
              <a:tabLst>
                <a:tab pos="3494088" algn="r"/>
                <a:tab pos="6189663" algn="r"/>
                <a:tab pos="6372225" algn="r"/>
                <a:tab pos="6457950" algn="r"/>
                <a:tab pos="6815138" algn="r"/>
                <a:tab pos="7267575" algn="r"/>
                <a:tab pos="8701088" algn="r"/>
                <a:tab pos="9056688" algn="r"/>
              </a:tabLst>
            </a:pPr>
            <a:r>
              <a:rPr lang="ja-JP" altLang="en-US" sz="1300" dirty="0">
                <a:latin typeface="Segoe UI" panose="020B0502040204020203" pitchFamily="34" charset="0"/>
                <a:ea typeface="メイリオ" panose="020B0604030504040204" pitchFamily="50" charset="-128"/>
                <a:cs typeface="Segoe UI" panose="020B0502040204020203" pitchFamily="34" charset="0"/>
              </a:rPr>
              <a:t>本書は、</a:t>
            </a:r>
            <a:r>
              <a:rPr lang="en-US" altLang="ja-JP" sz="1300" dirty="0">
                <a:latin typeface="Segoe UI" panose="020B0502040204020203" pitchFamily="34" charset="0"/>
                <a:ea typeface="メイリオ" panose="020B0604030504040204" pitchFamily="50" charset="-128"/>
                <a:cs typeface="Segoe UI" panose="020B0502040204020203" pitchFamily="34" charset="0"/>
              </a:rPr>
              <a:t>DS-120</a:t>
            </a:r>
            <a:r>
              <a:rPr lang="ja-JP" altLang="en-US" sz="1300" dirty="0">
                <a:latin typeface="Segoe UI" panose="020B0502040204020203" pitchFamily="34" charset="0"/>
                <a:ea typeface="メイリオ" panose="020B0604030504040204" pitchFamily="50" charset="-128"/>
                <a:cs typeface="Segoe UI" panose="020B0502040204020203" pitchFamily="34" charset="0"/>
              </a:rPr>
              <a:t> デジタル・ガバメント推進標準ガイドライン実践ガイドブック （</a:t>
            </a:r>
            <a:r>
              <a:rPr lang="en-US" altLang="ja-JP" sz="1300" dirty="0">
                <a:latin typeface="Segoe UI" panose="020B0502040204020203" pitchFamily="34" charset="0"/>
                <a:ea typeface="メイリオ" panose="020B0604030504040204" pitchFamily="50" charset="-128"/>
                <a:cs typeface="Segoe UI" panose="020B0502040204020203" pitchFamily="34" charset="0"/>
              </a:rPr>
              <a:t>Informative</a:t>
            </a:r>
            <a:r>
              <a:rPr lang="ja-JP" altLang="en-US" sz="1300" dirty="0">
                <a:latin typeface="Segoe UI" panose="020B0502040204020203" pitchFamily="34" charset="0"/>
                <a:ea typeface="メイリオ" panose="020B0604030504040204" pitchFamily="50" charset="-128"/>
                <a:cs typeface="Segoe UI" panose="020B0502040204020203" pitchFamily="34" charset="0"/>
              </a:rPr>
              <a:t>）の別紙として位置づけています。</a:t>
            </a:r>
          </a:p>
        </p:txBody>
      </p:sp>
      <p:sp>
        <p:nvSpPr>
          <p:cNvPr id="29" name="テキスト ボックス 28">
            <a:extLst>
              <a:ext uri="{FF2B5EF4-FFF2-40B4-BE49-F238E27FC236}">
                <a16:creationId xmlns:a16="http://schemas.microsoft.com/office/drawing/2014/main" id="{542D0CA9-A652-0CA5-6C07-28605429D9AB}"/>
              </a:ext>
            </a:extLst>
          </p:cNvPr>
          <p:cNvSpPr txBox="1"/>
          <p:nvPr/>
        </p:nvSpPr>
        <p:spPr>
          <a:xfrm>
            <a:off x="840368" y="1935365"/>
            <a:ext cx="1440000" cy="276999"/>
          </a:xfrm>
          <a:prstGeom prst="rect">
            <a:avLst/>
          </a:prstGeom>
          <a:noFill/>
        </p:spPr>
        <p:txBody>
          <a:bodyPr wrap="square" lIns="0" tIns="0" rIns="0" bIns="0" rtlCol="0">
            <a:spAutoFit/>
          </a:bodyPr>
          <a:lstStyle/>
          <a:p>
            <a:pPr fontAlgn="base"/>
            <a:r>
              <a:rPr kumimoji="1" lang="ja-JP" altLang="en-US"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背景と目的</a:t>
            </a:r>
          </a:p>
        </p:txBody>
      </p:sp>
      <p:sp>
        <p:nvSpPr>
          <p:cNvPr id="34" name="四角形: 角を丸くする 33">
            <a:extLst>
              <a:ext uri="{FF2B5EF4-FFF2-40B4-BE49-F238E27FC236}">
                <a16:creationId xmlns:a16="http://schemas.microsoft.com/office/drawing/2014/main" id="{ACBE99D3-8398-923E-BB00-C38AF4217CEC}"/>
              </a:ext>
            </a:extLst>
          </p:cNvPr>
          <p:cNvSpPr/>
          <p:nvPr/>
        </p:nvSpPr>
        <p:spPr>
          <a:xfrm>
            <a:off x="2554604" y="1653677"/>
            <a:ext cx="72000" cy="2084886"/>
          </a:xfrm>
          <a:prstGeom prst="roundRect">
            <a:avLst>
              <a:gd name="adj" fmla="val 50000"/>
            </a:avLst>
          </a:prstGeom>
          <a:solidFill>
            <a:srgbClr val="CC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1705A7C8-C81E-AAE9-1C1A-3F4039B26BF6}"/>
              </a:ext>
            </a:extLst>
          </p:cNvPr>
          <p:cNvSpPr txBox="1"/>
          <p:nvPr/>
        </p:nvSpPr>
        <p:spPr>
          <a:xfrm>
            <a:off x="840368" y="4290924"/>
            <a:ext cx="1440000" cy="276999"/>
          </a:xfrm>
          <a:prstGeom prst="rect">
            <a:avLst/>
          </a:prstGeom>
          <a:noFill/>
        </p:spPr>
        <p:txBody>
          <a:bodyPr wrap="square" lIns="0" tIns="0" rIns="0" bIns="0" rtlCol="0">
            <a:spAutoFit/>
          </a:bodyPr>
          <a:lstStyle/>
          <a:p>
            <a:pPr fontAlgn="base"/>
            <a:r>
              <a:rPr kumimoji="1" lang="ja-JP" altLang="en-US"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適用対象</a:t>
            </a:r>
          </a:p>
        </p:txBody>
      </p:sp>
      <p:sp>
        <p:nvSpPr>
          <p:cNvPr id="40" name="四角形: 角を丸くする 39">
            <a:extLst>
              <a:ext uri="{FF2B5EF4-FFF2-40B4-BE49-F238E27FC236}">
                <a16:creationId xmlns:a16="http://schemas.microsoft.com/office/drawing/2014/main" id="{7392BE4D-4C58-669E-8D80-EE1D39024080}"/>
              </a:ext>
            </a:extLst>
          </p:cNvPr>
          <p:cNvSpPr/>
          <p:nvPr/>
        </p:nvSpPr>
        <p:spPr>
          <a:xfrm>
            <a:off x="2554604" y="4069423"/>
            <a:ext cx="72000" cy="720000"/>
          </a:xfrm>
          <a:prstGeom prst="roundRect">
            <a:avLst>
              <a:gd name="adj" fmla="val 50000"/>
            </a:avLst>
          </a:prstGeom>
          <a:solidFill>
            <a:srgbClr val="CC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1" name="テキスト ボックス 40">
            <a:extLst>
              <a:ext uri="{FF2B5EF4-FFF2-40B4-BE49-F238E27FC236}">
                <a16:creationId xmlns:a16="http://schemas.microsoft.com/office/drawing/2014/main" id="{D1AC4CF0-3CE5-8833-EE9E-47C2DEE6AFD4}"/>
              </a:ext>
            </a:extLst>
          </p:cNvPr>
          <p:cNvSpPr txBox="1"/>
          <p:nvPr/>
        </p:nvSpPr>
        <p:spPr>
          <a:xfrm>
            <a:off x="840368" y="5329604"/>
            <a:ext cx="1440000" cy="276999"/>
          </a:xfrm>
          <a:prstGeom prst="rect">
            <a:avLst/>
          </a:prstGeom>
          <a:noFill/>
        </p:spPr>
        <p:txBody>
          <a:bodyPr wrap="square" lIns="0" tIns="0" rIns="0" bIns="0" rtlCol="0">
            <a:spAutoFit/>
          </a:bodyPr>
          <a:lstStyle/>
          <a:p>
            <a:pPr fontAlgn="base"/>
            <a:r>
              <a:rPr kumimoji="1" lang="ja-JP" altLang="en-US"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位置付け</a:t>
            </a:r>
          </a:p>
        </p:txBody>
      </p:sp>
      <p:sp>
        <p:nvSpPr>
          <p:cNvPr id="42" name="四角形: 角を丸くする 41">
            <a:extLst>
              <a:ext uri="{FF2B5EF4-FFF2-40B4-BE49-F238E27FC236}">
                <a16:creationId xmlns:a16="http://schemas.microsoft.com/office/drawing/2014/main" id="{FFF119C9-7E59-9338-4FB6-94074095BBBD}"/>
              </a:ext>
            </a:extLst>
          </p:cNvPr>
          <p:cNvSpPr/>
          <p:nvPr/>
        </p:nvSpPr>
        <p:spPr>
          <a:xfrm>
            <a:off x="2554604" y="5108103"/>
            <a:ext cx="72000" cy="720000"/>
          </a:xfrm>
          <a:prstGeom prst="roundRect">
            <a:avLst>
              <a:gd name="adj" fmla="val 50000"/>
            </a:avLst>
          </a:prstGeom>
          <a:solidFill>
            <a:srgbClr val="CC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1924597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3E504-12E0-50B5-9880-AE05691A27A1}"/>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C14234E6-A200-AB04-18DE-C2CFD3C24B48}"/>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PMO</a:t>
            </a:r>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の役割</a:t>
            </a:r>
            <a:endParaRPr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20" name="正方形/長方形 19">
            <a:extLst>
              <a:ext uri="{FF2B5EF4-FFF2-40B4-BE49-F238E27FC236}">
                <a16:creationId xmlns:a16="http://schemas.microsoft.com/office/drawing/2014/main" id="{3D0EB848-B684-7C44-FFF9-00067BE75CF6}"/>
              </a:ext>
            </a:extLst>
          </p:cNvPr>
          <p:cNvSpPr/>
          <p:nvPr/>
        </p:nvSpPr>
        <p:spPr>
          <a:xfrm>
            <a:off x="0" y="0"/>
            <a:ext cx="468000" cy="1512000"/>
          </a:xfrm>
          <a:prstGeom prst="rect">
            <a:avLst/>
          </a:prstGeom>
          <a:solidFill>
            <a:srgbClr val="D7E4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BD6E2E96-40A3-A6C5-FEE5-AEBA7B37A89A}"/>
              </a:ext>
            </a:extLst>
          </p:cNvPr>
          <p:cNvSpPr txBox="1"/>
          <p:nvPr/>
        </p:nvSpPr>
        <p:spPr>
          <a:xfrm>
            <a:off x="763660" y="983204"/>
            <a:ext cx="10980000" cy="314317"/>
          </a:xfrm>
          <a:prstGeom prst="rect">
            <a:avLst/>
          </a:prstGeom>
          <a:noFill/>
        </p:spPr>
        <p:txBody>
          <a:bodyPr wrap="square" lIns="0" tIns="0" rIns="0" bIns="0" rtlCol="0">
            <a:spAutoFit/>
          </a:bodyPr>
          <a:lstStyle/>
          <a:p>
            <a:pPr marL="342900" indent="-342900" fontAlgn="base">
              <a:lnSpc>
                <a:spcPct val="110000"/>
              </a:lnSpc>
              <a:buClr>
                <a:srgbClr val="009999"/>
              </a:buClr>
              <a:buFont typeface="メイリオ" panose="020B0604030504040204" pitchFamily="50" charset="-128"/>
              <a:buChar char="▶"/>
            </a:pP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各府省において</a:t>
            </a:r>
            <a:r>
              <a:rPr kumimoji="1" lang="en-US" altLang="ja-JP" sz="1900" kern="500" dirty="0">
                <a:latin typeface="Segoe UI" panose="020B0502040204020203" pitchFamily="34" charset="0"/>
                <a:ea typeface="メイリオ" panose="020B0604030504040204" pitchFamily="50" charset="-128"/>
                <a:cs typeface="Segoe UI" panose="020B0502040204020203" pitchFamily="34" charset="0"/>
              </a:rPr>
              <a:t>IT</a:t>
            </a: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ガバナンスを担い、府省内の</a:t>
            </a:r>
            <a:r>
              <a:rPr kumimoji="1" lang="en-US" altLang="ja-JP" sz="1900" kern="500" dirty="0">
                <a:latin typeface="Segoe UI" panose="020B0502040204020203" pitchFamily="34" charset="0"/>
                <a:ea typeface="メイリオ" panose="020B0604030504040204" pitchFamily="50" charset="-128"/>
                <a:cs typeface="Segoe UI" panose="020B0502040204020203" pitchFamily="34" charset="0"/>
              </a:rPr>
              <a:t>IT</a:t>
            </a: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施策全体を管理する。</a:t>
            </a:r>
            <a:r>
              <a:rPr kumimoji="1" lang="en-US" altLang="ja-JP" sz="1900" kern="500" baseline="30000" dirty="0">
                <a:latin typeface="Segoe UI" panose="020B0502040204020203" pitchFamily="34" charset="0"/>
                <a:ea typeface="メイリオ" panose="020B0604030504040204" pitchFamily="50" charset="-128"/>
                <a:cs typeface="Segoe UI" panose="020B0502040204020203" pitchFamily="34" charset="0"/>
              </a:rPr>
              <a:t>[1]</a:t>
            </a:r>
            <a:endParaRPr kumimoji="1" lang="ja-JP" altLang="en-US" sz="1900" kern="500" baseline="30000" dirty="0">
              <a:latin typeface="Segoe UI" panose="020B0502040204020203" pitchFamily="34" charset="0"/>
              <a:ea typeface="メイリオ" panose="020B0604030504040204" pitchFamily="50" charset="-128"/>
              <a:cs typeface="Segoe UI" panose="020B0502040204020203" pitchFamily="34" charset="0"/>
            </a:endParaRPr>
          </a:p>
        </p:txBody>
      </p:sp>
      <p:sp>
        <p:nvSpPr>
          <p:cNvPr id="97" name="フリーフォーム: 図形 96">
            <a:extLst>
              <a:ext uri="{FF2B5EF4-FFF2-40B4-BE49-F238E27FC236}">
                <a16:creationId xmlns:a16="http://schemas.microsoft.com/office/drawing/2014/main" id="{D6D982FC-A986-268C-A29D-A188D5C9900B}"/>
              </a:ext>
            </a:extLst>
          </p:cNvPr>
          <p:cNvSpPr/>
          <p:nvPr/>
        </p:nvSpPr>
        <p:spPr>
          <a:xfrm>
            <a:off x="0" y="1615401"/>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説明</a:t>
            </a:r>
          </a:p>
        </p:txBody>
      </p:sp>
      <p:cxnSp>
        <p:nvCxnSpPr>
          <p:cNvPr id="98" name="直線コネクタ 97">
            <a:extLst>
              <a:ext uri="{FF2B5EF4-FFF2-40B4-BE49-F238E27FC236}">
                <a16:creationId xmlns:a16="http://schemas.microsoft.com/office/drawing/2014/main" id="{AD0142BA-4BC7-A279-E653-E3105A81341E}"/>
              </a:ext>
            </a:extLst>
          </p:cNvPr>
          <p:cNvCxnSpPr>
            <a:cxnSpLocks/>
          </p:cNvCxnSpPr>
          <p:nvPr/>
        </p:nvCxnSpPr>
        <p:spPr>
          <a:xfrm>
            <a:off x="2392680" y="1777401"/>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sp>
        <p:nvSpPr>
          <p:cNvPr id="105" name="フリーフォーム: 図形 104">
            <a:extLst>
              <a:ext uri="{FF2B5EF4-FFF2-40B4-BE49-F238E27FC236}">
                <a16:creationId xmlns:a16="http://schemas.microsoft.com/office/drawing/2014/main" id="{DF8BEA1D-1AE7-F947-7C16-8FB59C3E87FE}"/>
              </a:ext>
            </a:extLst>
          </p:cNvPr>
          <p:cNvSpPr/>
          <p:nvPr/>
        </p:nvSpPr>
        <p:spPr>
          <a:xfrm>
            <a:off x="0" y="3971556"/>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背景・経緯</a:t>
            </a:r>
          </a:p>
        </p:txBody>
      </p:sp>
      <p:cxnSp>
        <p:nvCxnSpPr>
          <p:cNvPr id="106" name="直線コネクタ 105">
            <a:extLst>
              <a:ext uri="{FF2B5EF4-FFF2-40B4-BE49-F238E27FC236}">
                <a16:creationId xmlns:a16="http://schemas.microsoft.com/office/drawing/2014/main" id="{A1A0E0A7-7757-4FF5-A479-A57CF7450084}"/>
              </a:ext>
            </a:extLst>
          </p:cNvPr>
          <p:cNvCxnSpPr>
            <a:cxnSpLocks/>
          </p:cNvCxnSpPr>
          <p:nvPr/>
        </p:nvCxnSpPr>
        <p:spPr>
          <a:xfrm>
            <a:off x="2392680" y="4133556"/>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grpSp>
        <p:nvGrpSpPr>
          <p:cNvPr id="37" name="グループ化 36">
            <a:extLst>
              <a:ext uri="{FF2B5EF4-FFF2-40B4-BE49-F238E27FC236}">
                <a16:creationId xmlns:a16="http://schemas.microsoft.com/office/drawing/2014/main" id="{D958E7BE-578D-47B1-68CF-6523CCA040E6}"/>
              </a:ext>
            </a:extLst>
          </p:cNvPr>
          <p:cNvGrpSpPr/>
          <p:nvPr/>
        </p:nvGrpSpPr>
        <p:grpSpPr>
          <a:xfrm>
            <a:off x="647616" y="4466856"/>
            <a:ext cx="5958286" cy="1722936"/>
            <a:chOff x="647616" y="4449747"/>
            <a:chExt cx="5958286" cy="1722936"/>
          </a:xfrm>
        </p:grpSpPr>
        <p:grpSp>
          <p:nvGrpSpPr>
            <p:cNvPr id="33" name="グループ化 32">
              <a:extLst>
                <a:ext uri="{FF2B5EF4-FFF2-40B4-BE49-F238E27FC236}">
                  <a16:creationId xmlns:a16="http://schemas.microsoft.com/office/drawing/2014/main" id="{AAB48597-8D96-72EB-349E-802A065B9EA3}"/>
                </a:ext>
              </a:extLst>
            </p:cNvPr>
            <p:cNvGrpSpPr/>
            <p:nvPr/>
          </p:nvGrpSpPr>
          <p:grpSpPr>
            <a:xfrm>
              <a:off x="647616" y="4449747"/>
              <a:ext cx="5958286" cy="758520"/>
              <a:chOff x="647616" y="4586907"/>
              <a:chExt cx="5958286" cy="758520"/>
            </a:xfrm>
          </p:grpSpPr>
          <p:sp>
            <p:nvSpPr>
              <p:cNvPr id="103" name="テキスト ボックス 102">
                <a:extLst>
                  <a:ext uri="{FF2B5EF4-FFF2-40B4-BE49-F238E27FC236}">
                    <a16:creationId xmlns:a16="http://schemas.microsoft.com/office/drawing/2014/main" id="{FAEDC669-A9D5-0509-471B-6EE20CBDD8D0}"/>
                  </a:ext>
                </a:extLst>
              </p:cNvPr>
              <p:cNvSpPr txBox="1"/>
              <p:nvPr/>
            </p:nvSpPr>
            <p:spPr>
              <a:xfrm>
                <a:off x="647616" y="4586907"/>
                <a:ext cx="5220000" cy="270843"/>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ガバナンスの重要性の高まり</a:t>
                </a:r>
                <a:endParaRPr kumimoji="1"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104" name="テキスト ボックス 103">
                <a:extLst>
                  <a:ext uri="{FF2B5EF4-FFF2-40B4-BE49-F238E27FC236}">
                    <a16:creationId xmlns:a16="http://schemas.microsoft.com/office/drawing/2014/main" id="{3C019796-A0A8-A4AC-A6E5-0F539136120D}"/>
                  </a:ext>
                </a:extLst>
              </p:cNvPr>
              <p:cNvSpPr txBox="1"/>
              <p:nvPr/>
            </p:nvSpPr>
            <p:spPr>
              <a:xfrm>
                <a:off x="665902" y="4837596"/>
                <a:ext cx="5940000" cy="507831"/>
              </a:xfrm>
              <a:prstGeom prst="rect">
                <a:avLst/>
              </a:prstGeom>
              <a:noFill/>
            </p:spPr>
            <p:txBody>
              <a:bodyPr wrap="square" lIns="0" tIns="0" rIns="0" bIns="0" rtlCol="0">
                <a:spAutoFit/>
              </a:bodyPr>
              <a:lstStyle/>
              <a:p>
                <a:pPr fontAlgn="base">
                  <a:spcBef>
                    <a:spcPts val="300"/>
                  </a:spcBef>
                  <a:spcAft>
                    <a:spcPct val="0"/>
                  </a:spcAft>
                </a:pPr>
                <a:r>
                  <a:rPr lang="en-US" altLang="ja-JP" sz="1100" dirty="0">
                    <a:latin typeface="Meiryo UI"/>
                    <a:ea typeface="Meiryo UI"/>
                  </a:rPr>
                  <a:t>2001</a:t>
                </a:r>
                <a:r>
                  <a:rPr lang="ja-JP" altLang="en-US" sz="1100" dirty="0">
                    <a:latin typeface="Meiryo UI"/>
                    <a:ea typeface="Meiryo UI"/>
                  </a:rPr>
                  <a:t>年のエンロン事件等を受けて、社会的に</a:t>
                </a:r>
                <a:r>
                  <a:rPr lang="ja-JP" altLang="en-US" sz="1100" b="1" dirty="0">
                    <a:latin typeface="Meiryo UI"/>
                    <a:ea typeface="Meiryo UI"/>
                  </a:rPr>
                  <a:t>ガバナンスの重要性が高まったことから、政府では</a:t>
                </a:r>
                <a:r>
                  <a:rPr lang="en-US" altLang="ja-JP" sz="1100" b="1" dirty="0">
                    <a:latin typeface="Meiryo UI"/>
                    <a:ea typeface="Meiryo UI"/>
                  </a:rPr>
                  <a:t>2003</a:t>
                </a:r>
                <a:r>
                  <a:rPr lang="ja-JP" altLang="en-US" sz="1100" b="1" dirty="0">
                    <a:latin typeface="Meiryo UI"/>
                    <a:ea typeface="Meiryo UI"/>
                  </a:rPr>
                  <a:t>年に</a:t>
                </a:r>
                <a:r>
                  <a:rPr lang="en-US" altLang="ja-JP" sz="1100" b="1" dirty="0">
                    <a:latin typeface="Meiryo UI"/>
                    <a:ea typeface="Meiryo UI"/>
                  </a:rPr>
                  <a:t>IT</a:t>
                </a:r>
                <a:r>
                  <a:rPr lang="ja-JP" altLang="en-US" sz="1100" b="1" dirty="0">
                    <a:latin typeface="Meiryo UI"/>
                    <a:ea typeface="Meiryo UI"/>
                  </a:rPr>
                  <a:t>ガバナンスを担う組織を設置し、</a:t>
                </a:r>
                <a:r>
                  <a:rPr lang="en-US" altLang="ja-JP" sz="1100" b="1" dirty="0">
                    <a:latin typeface="Meiryo UI"/>
                    <a:ea typeface="Meiryo UI"/>
                  </a:rPr>
                  <a:t>IT</a:t>
                </a:r>
                <a:r>
                  <a:rPr lang="ja-JP" altLang="en-US" sz="1100" b="1" dirty="0">
                    <a:latin typeface="Meiryo UI"/>
                    <a:ea typeface="Meiryo UI"/>
                  </a:rPr>
                  <a:t>マネジメントを担う組織と明確に区別し</a:t>
                </a:r>
                <a:r>
                  <a:rPr lang="ja-JP" altLang="en-US" sz="1100" dirty="0">
                    <a:latin typeface="Meiryo UI"/>
                    <a:ea typeface="Meiryo UI"/>
                  </a:rPr>
                  <a:t>、それぞれを</a:t>
                </a:r>
                <a:r>
                  <a:rPr lang="en-US" altLang="ja-JP" sz="1100" dirty="0">
                    <a:latin typeface="Meiryo UI"/>
                    <a:ea typeface="Meiryo UI"/>
                  </a:rPr>
                  <a:t>PMO</a:t>
                </a:r>
                <a:r>
                  <a:rPr lang="ja-JP" altLang="en-US" sz="1100" dirty="0">
                    <a:latin typeface="Meiryo UI"/>
                    <a:ea typeface="Meiryo UI"/>
                  </a:rPr>
                  <a:t>、</a:t>
                </a:r>
                <a:r>
                  <a:rPr lang="en-US" altLang="ja-JP" sz="1100" dirty="0">
                    <a:latin typeface="Meiryo UI"/>
                    <a:ea typeface="Meiryo UI"/>
                  </a:rPr>
                  <a:t>PJMO</a:t>
                </a:r>
                <a:r>
                  <a:rPr lang="ja-JP" altLang="en-US" sz="1100" dirty="0">
                    <a:latin typeface="Meiryo UI"/>
                    <a:ea typeface="Meiryo UI"/>
                  </a:rPr>
                  <a:t>とした。</a:t>
                </a:r>
                <a:endParaRPr lang="en-US" altLang="ja-JP" sz="1100" dirty="0">
                  <a:latin typeface="Meiryo UI"/>
                  <a:ea typeface="Meiryo UI"/>
                </a:endParaRPr>
              </a:p>
            </p:txBody>
          </p:sp>
        </p:grpSp>
        <p:grpSp>
          <p:nvGrpSpPr>
            <p:cNvPr id="34" name="グループ化 33">
              <a:extLst>
                <a:ext uri="{FF2B5EF4-FFF2-40B4-BE49-F238E27FC236}">
                  <a16:creationId xmlns:a16="http://schemas.microsoft.com/office/drawing/2014/main" id="{24681178-DE00-C387-0F30-A8C3FF779B28}"/>
                </a:ext>
              </a:extLst>
            </p:cNvPr>
            <p:cNvGrpSpPr/>
            <p:nvPr/>
          </p:nvGrpSpPr>
          <p:grpSpPr>
            <a:xfrm>
              <a:off x="647616" y="5192414"/>
              <a:ext cx="5958286" cy="980269"/>
              <a:chOff x="647616" y="5161082"/>
              <a:chExt cx="5958286" cy="980269"/>
            </a:xfrm>
          </p:grpSpPr>
          <p:sp>
            <p:nvSpPr>
              <p:cNvPr id="107" name="テキスト ボックス 106">
                <a:extLst>
                  <a:ext uri="{FF2B5EF4-FFF2-40B4-BE49-F238E27FC236}">
                    <a16:creationId xmlns:a16="http://schemas.microsoft.com/office/drawing/2014/main" id="{574F646F-423F-E143-3DDB-22A3119FD871}"/>
                  </a:ext>
                </a:extLst>
              </p:cNvPr>
              <p:cNvSpPr txBox="1"/>
              <p:nvPr/>
            </p:nvSpPr>
            <p:spPr>
              <a:xfrm>
                <a:off x="647616" y="5161082"/>
                <a:ext cx="5220000" cy="264688"/>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複数の異なる分野を</a:t>
                </a:r>
                <a:r>
                  <a:rPr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監理</a:t>
                </a: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するのでポートフォリオと呼ぶ</a:t>
                </a:r>
              </a:p>
            </p:txBody>
          </p:sp>
          <p:sp>
            <p:nvSpPr>
              <p:cNvPr id="108" name="テキスト ボックス 107">
                <a:extLst>
                  <a:ext uri="{FF2B5EF4-FFF2-40B4-BE49-F238E27FC236}">
                    <a16:creationId xmlns:a16="http://schemas.microsoft.com/office/drawing/2014/main" id="{38439D85-F5D0-84A3-E50F-91DCA7470AC7}"/>
                  </a:ext>
                </a:extLst>
              </p:cNvPr>
              <p:cNvSpPr txBox="1"/>
              <p:nvPr/>
            </p:nvSpPr>
            <p:spPr>
              <a:xfrm>
                <a:off x="665902" y="5425770"/>
                <a:ext cx="5940000" cy="715581"/>
              </a:xfrm>
              <a:prstGeom prst="rect">
                <a:avLst/>
              </a:prstGeom>
              <a:noFill/>
            </p:spPr>
            <p:txBody>
              <a:bodyPr wrap="square" lIns="0" tIns="0" rIns="0" bIns="0" rtlCol="0">
                <a:spAutoFit/>
              </a:bodyPr>
              <a:lstStyle/>
              <a:p>
                <a:pPr fontAlgn="base">
                  <a:spcBef>
                    <a:spcPts val="300"/>
                  </a:spcBef>
                  <a:spcAft>
                    <a:spcPct val="0"/>
                  </a:spcAft>
                </a:pPr>
                <a:r>
                  <a:rPr lang="ja-JP" altLang="en-US" sz="1100" b="1" dirty="0">
                    <a:latin typeface="Meiryo UI"/>
                    <a:ea typeface="Meiryo UI"/>
                  </a:rPr>
                  <a:t>各府省内でそれぞれの部局が異なる分野の政策を所管しており、</a:t>
                </a:r>
                <a:r>
                  <a:rPr lang="en-US" altLang="ja-JP" sz="1100" b="1" dirty="0">
                    <a:latin typeface="Meiryo UI"/>
                    <a:ea typeface="Meiryo UI"/>
                  </a:rPr>
                  <a:t>PMO</a:t>
                </a:r>
                <a:r>
                  <a:rPr lang="ja-JP" altLang="en-US" sz="1100" b="1" dirty="0">
                    <a:latin typeface="Meiryo UI"/>
                    <a:ea typeface="Meiryo UI"/>
                  </a:rPr>
                  <a:t>がそのうちの</a:t>
                </a:r>
                <a:r>
                  <a:rPr lang="en-US" altLang="ja-JP" sz="1100" b="1" dirty="0">
                    <a:latin typeface="Meiryo UI"/>
                    <a:ea typeface="Meiryo UI"/>
                  </a:rPr>
                  <a:t>IT</a:t>
                </a:r>
                <a:r>
                  <a:rPr lang="ja-JP" altLang="en-US" sz="1100" b="1" dirty="0">
                    <a:latin typeface="Meiryo UI"/>
                    <a:ea typeface="Meiryo UI"/>
                  </a:rPr>
                  <a:t>分野を監理するため</a:t>
                </a:r>
                <a:r>
                  <a:rPr lang="ja-JP" altLang="en-US" sz="1100" dirty="0">
                    <a:latin typeface="Meiryo UI"/>
                    <a:ea typeface="Meiryo UI"/>
                  </a:rPr>
                  <a:t>、</a:t>
                </a:r>
                <a:r>
                  <a:rPr lang="en-US" altLang="ja-JP" sz="1100" dirty="0">
                    <a:latin typeface="Meiryo UI"/>
                    <a:ea typeface="Meiryo UI"/>
                  </a:rPr>
                  <a:t>PMO</a:t>
                </a:r>
                <a:r>
                  <a:rPr lang="ja-JP" altLang="en-US" sz="1100" dirty="0">
                    <a:latin typeface="Meiryo UI"/>
                    <a:ea typeface="Meiryo UI"/>
                  </a:rPr>
                  <a:t>の</a:t>
                </a:r>
                <a:r>
                  <a:rPr lang="en-US" altLang="ja-JP" sz="1100" dirty="0">
                    <a:latin typeface="Meiryo UI"/>
                    <a:ea typeface="Meiryo UI"/>
                  </a:rPr>
                  <a:t>P</a:t>
                </a:r>
                <a:r>
                  <a:rPr lang="ja-JP" altLang="en-US" sz="1100" dirty="0">
                    <a:latin typeface="Meiryo UI"/>
                    <a:ea typeface="Meiryo UI"/>
                  </a:rPr>
                  <a:t>をポートフォリオとしている。</a:t>
                </a:r>
                <a:endParaRPr lang="en-US" altLang="ja-JP" sz="1100" dirty="0">
                  <a:latin typeface="Meiryo UI"/>
                  <a:ea typeface="Meiryo UI"/>
                </a:endParaRPr>
              </a:p>
              <a:p>
                <a:pPr fontAlgn="base">
                  <a:spcBef>
                    <a:spcPts val="300"/>
                  </a:spcBef>
                  <a:spcAft>
                    <a:spcPct val="0"/>
                  </a:spcAft>
                </a:pPr>
                <a:r>
                  <a:rPr lang="ja-JP" altLang="en-US" sz="1100" b="1" dirty="0">
                    <a:latin typeface="Meiryo UI"/>
                    <a:ea typeface="Meiryo UI"/>
                  </a:rPr>
                  <a:t>ポートフォリオは、組織全体の目標に基づき、複数のプロジェクトやプログラムを横断してリソースの最適配分を行い、投資価値を最大化する枠組み</a:t>
                </a:r>
                <a:r>
                  <a:rPr lang="ja-JP" altLang="en-US" sz="1100" dirty="0">
                    <a:latin typeface="Meiryo UI"/>
                    <a:ea typeface="Meiryo UI"/>
                  </a:rPr>
                  <a:t>を指す。</a:t>
                </a:r>
                <a:endParaRPr lang="en-US" altLang="ja-JP" sz="1100" dirty="0">
                  <a:latin typeface="Meiryo UI"/>
                  <a:ea typeface="Meiryo UI"/>
                </a:endParaRPr>
              </a:p>
            </p:txBody>
          </p:sp>
        </p:grpSp>
      </p:grpSp>
      <p:sp>
        <p:nvSpPr>
          <p:cNvPr id="120" name="テキスト ボックス 119">
            <a:extLst>
              <a:ext uri="{FF2B5EF4-FFF2-40B4-BE49-F238E27FC236}">
                <a16:creationId xmlns:a16="http://schemas.microsoft.com/office/drawing/2014/main" id="{40E312AC-28AC-69D8-ABFC-4BD17EE31579}"/>
              </a:ext>
            </a:extLst>
          </p:cNvPr>
          <p:cNvSpPr txBox="1"/>
          <p:nvPr/>
        </p:nvSpPr>
        <p:spPr>
          <a:xfrm>
            <a:off x="7095980" y="5400000"/>
            <a:ext cx="4680000" cy="874085"/>
          </a:xfrm>
          <a:prstGeom prst="rect">
            <a:avLst/>
          </a:prstGeom>
          <a:noFill/>
        </p:spPr>
        <p:txBody>
          <a:bodyPr wrap="square" lIns="0" tIns="0" rIns="0" bIns="0" rtlCol="0">
            <a:spAutoFit/>
          </a:bodyPr>
          <a:lstStyle/>
          <a:p>
            <a:pPr fontAlgn="base">
              <a:lnSpc>
                <a:spcPct val="110000"/>
              </a:lnSpc>
              <a:spcBef>
                <a:spcPts val="200"/>
              </a:spcBef>
            </a:pPr>
            <a:r>
              <a:rPr kumimoji="1" lang="ja-JP" altLang="en-US" sz="800" kern="500" dirty="0">
                <a:solidFill>
                  <a:srgbClr val="009999"/>
                </a:solidFill>
                <a:latin typeface="Meiryo UI" panose="020B0604030504040204" pitchFamily="50" charset="-128"/>
                <a:ea typeface="Meiryo UI" panose="020B0604030504040204" pitchFamily="50" charset="-128"/>
                <a:cs typeface="Segoe UI" panose="020B0502040204020203" pitchFamily="34" charset="0"/>
              </a:rPr>
              <a:t>脚注</a:t>
            </a:r>
            <a:endParaRPr kumimoji="1" lang="en-US" altLang="ja-JP" sz="800" kern="500" dirty="0">
              <a:solidFill>
                <a:srgbClr val="009999"/>
              </a:solidFill>
              <a:latin typeface="Meiryo UI" panose="020B0604030504040204" pitchFamily="50" charset="-128"/>
              <a:ea typeface="Meiryo UI" panose="020B0604030504040204" pitchFamily="50" charset="-128"/>
              <a:cs typeface="Segoe UI" panose="020B0502040204020203" pitchFamily="34" charset="0"/>
            </a:endParaRPr>
          </a:p>
          <a:p>
            <a:pPr fontAlgn="base"/>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1</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DS-130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標準ガイドライン群用語集を基に作成</a:t>
            </a:r>
            <a:endParaRPr lang="en-US" altLang="ja-JP" sz="800" kern="500" dirty="0">
              <a:latin typeface="Meiryo UI" panose="020B0604030504040204" pitchFamily="50" charset="-128"/>
              <a:ea typeface="Meiryo UI" panose="020B0604030504040204" pitchFamily="50" charset="-128"/>
              <a:cs typeface="Segoe UI" panose="020B0502040204020203" pitchFamily="34" charset="0"/>
            </a:endParaRPr>
          </a:p>
          <a:p>
            <a:pPr fontAlgn="base"/>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DS-100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デジタル・ガバメント推進標準ガイドライン第</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編</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IT</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ガバナンス第</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章組織体制を基に作成</a:t>
            </a:r>
            <a:endParaRPr lang="en-US" altLang="ja-JP" sz="800" kern="500" dirty="0">
              <a:latin typeface="Meiryo UI" panose="020B0604030504040204" pitchFamily="50" charset="-128"/>
              <a:ea typeface="Meiryo UI" panose="020B0604030504040204" pitchFamily="50" charset="-128"/>
              <a:cs typeface="Segoe UI" panose="020B0502040204020203" pitchFamily="34" charset="0"/>
            </a:endParaRPr>
          </a:p>
          <a:p>
            <a:pPr fontAlgn="base"/>
            <a:r>
              <a:rPr kumimoji="1"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kumimoji="1" lang="en-US" altLang="ja-JP" sz="800" kern="500" dirty="0">
                <a:latin typeface="Meiryo UI" panose="020B0604030504040204" pitchFamily="50" charset="-128"/>
                <a:ea typeface="Meiryo UI" panose="020B0604030504040204" pitchFamily="50" charset="-128"/>
                <a:cs typeface="Segoe UI" panose="020B0502040204020203" pitchFamily="34" charset="0"/>
              </a:rPr>
              <a:t>3</a:t>
            </a:r>
            <a:r>
              <a:rPr kumimoji="1"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DS-100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デジタル・ガバメント推進標準ガイドライン</a:t>
            </a:r>
            <a:r>
              <a:rPr kumimoji="1" lang="ja-JP" altLang="en-US" sz="800" kern="500" dirty="0">
                <a:latin typeface="Meiryo UI" panose="020B0604030504040204" pitchFamily="50" charset="-128"/>
                <a:ea typeface="Meiryo UI" panose="020B0604030504040204" pitchFamily="50" charset="-128"/>
                <a:cs typeface="Segoe UI" panose="020B0502040204020203" pitchFamily="34" charset="0"/>
              </a:rPr>
              <a:t>「図</a:t>
            </a:r>
            <a:r>
              <a:rPr kumimoji="1" lang="en-US" altLang="ja-JP" sz="800" kern="500" dirty="0">
                <a:latin typeface="Meiryo UI" panose="020B0604030504040204" pitchFamily="50" charset="-128"/>
                <a:ea typeface="Meiryo UI" panose="020B0604030504040204" pitchFamily="50" charset="-128"/>
                <a:cs typeface="Segoe UI" panose="020B0502040204020203" pitchFamily="34" charset="0"/>
              </a:rPr>
              <a:t>2-2</a:t>
            </a:r>
            <a:r>
              <a:rPr kumimoji="1" lang="ja-JP" altLang="en-US" sz="800" kern="500" dirty="0">
                <a:latin typeface="Meiryo UI" panose="020B0604030504040204" pitchFamily="50" charset="-128"/>
                <a:ea typeface="Meiryo UI" panose="020B0604030504040204" pitchFamily="50" charset="-128"/>
                <a:cs typeface="Segoe UI" panose="020B0502040204020203" pitchFamily="34" charset="0"/>
              </a:rPr>
              <a:t>政府全体管理体制」を基に作成</a:t>
            </a:r>
            <a:br>
              <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b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参考文献</a:t>
            </a:r>
            <a:br>
              <a:rPr lang="en-US" altLang="ja-JP" sz="800" strike="sngStrike" kern="500" dirty="0">
                <a:latin typeface="Meiryo UI" panose="020B0604030504040204" pitchFamily="50" charset="-128"/>
                <a:ea typeface="Meiryo UI" panose="020B0604030504040204" pitchFamily="50" charset="-128"/>
                <a:cs typeface="Segoe UI" panose="020B0502040204020203" pitchFamily="34" charset="0"/>
              </a:rPr>
            </a:b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DS-100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デジタル・ガバメント推進標準ガイドライン第</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編</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IT</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ガバナンス第</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章組織体制</a:t>
            </a:r>
            <a:br>
              <a:rPr lang="en-US" altLang="ja-JP" sz="800" kern="500" dirty="0">
                <a:latin typeface="Meiryo UI" panose="020B0604030504040204" pitchFamily="50" charset="-128"/>
                <a:ea typeface="Meiryo UI" panose="020B0604030504040204" pitchFamily="50" charset="-128"/>
                <a:cs typeface="Segoe UI" panose="020B0502040204020203" pitchFamily="34" charset="0"/>
              </a:rPr>
            </a:b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・金融庁　</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COSO</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レポートの概要等について（</a:t>
            </a:r>
            <a:r>
              <a:rPr lang="en-US" altLang="ja-JP" sz="800" b="1" kern="500" dirty="0">
                <a:solidFill>
                  <a:srgbClr val="009999"/>
                </a:solidFill>
                <a:latin typeface="Meiryo UI" panose="020B0604030504040204" pitchFamily="50" charset="-128"/>
                <a:ea typeface="Meiryo UI" panose="020B0604030504040204" pitchFamily="50" charset="-128"/>
                <a:cs typeface="Segoe UI" panose="020B0502040204020203" pitchFamily="34" charset="0"/>
                <a:hlinkClick r:id="rId3"/>
              </a:rPr>
              <a:t>Link</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endParaRPr lang="en-US" altLang="ja-JP" sz="800" kern="500" dirty="0">
              <a:latin typeface="Meiryo UI" panose="020B0604030504040204" pitchFamily="50" charset="-128"/>
              <a:ea typeface="Meiryo UI" panose="020B0604030504040204" pitchFamily="50" charset="-128"/>
              <a:cs typeface="Segoe UI" panose="020B0502040204020203" pitchFamily="34" charset="0"/>
            </a:endParaRPr>
          </a:p>
        </p:txBody>
      </p:sp>
      <p:sp>
        <p:nvSpPr>
          <p:cNvPr id="4" name="テキスト ボックス 3">
            <a:extLst>
              <a:ext uri="{FF2B5EF4-FFF2-40B4-BE49-F238E27FC236}">
                <a16:creationId xmlns:a16="http://schemas.microsoft.com/office/drawing/2014/main" id="{9CB83BED-DD3A-F40E-413B-954CAA8210E0}"/>
              </a:ext>
            </a:extLst>
          </p:cNvPr>
          <p:cNvSpPr txBox="1"/>
          <p:nvPr/>
        </p:nvSpPr>
        <p:spPr>
          <a:xfrm>
            <a:off x="6957138" y="1615401"/>
            <a:ext cx="5400000" cy="201978"/>
          </a:xfrm>
          <a:prstGeom prst="rect">
            <a:avLst/>
          </a:prstGeom>
          <a:noFill/>
        </p:spPr>
        <p:txBody>
          <a:bodyPr wrap="square" lIns="0" tIns="0" rIns="0" bIns="0" rtlCol="0" anchor="ctr">
            <a:spAutoFit/>
          </a:bodyPr>
          <a:lstStyle/>
          <a:p>
            <a:pPr marL="324000" indent="-324000" fontAlgn="base">
              <a:lnSpc>
                <a:spcPct val="110000"/>
              </a:lnSpc>
              <a:buClr>
                <a:srgbClr val="009999"/>
              </a:buClr>
              <a:buFont typeface="Meiryo UI" panose="020B0604030504040204" pitchFamily="50" charset="-128"/>
              <a:buChar char="▐"/>
            </a:pPr>
            <a:r>
              <a:rPr kumimoji="1" lang="ja-JP" altLang="en-US" sz="1300" kern="500" dirty="0">
                <a:latin typeface="Segoe UI" panose="020B0502040204020203" pitchFamily="34" charset="0"/>
                <a:ea typeface="Meiryo UI" panose="020B0604030504040204" pitchFamily="50" charset="-128"/>
                <a:cs typeface="Segoe UI" panose="020B0502040204020203" pitchFamily="34" charset="0"/>
              </a:rPr>
              <a:t>図．政府全体管理体制における</a:t>
            </a:r>
            <a:r>
              <a:rPr kumimoji="1" lang="en-US" altLang="ja-JP" sz="1300" kern="500" dirty="0">
                <a:latin typeface="Segoe UI" panose="020B0502040204020203" pitchFamily="34" charset="0"/>
                <a:ea typeface="Meiryo UI" panose="020B0604030504040204" pitchFamily="50" charset="-128"/>
                <a:cs typeface="Segoe UI" panose="020B0502040204020203" pitchFamily="34" charset="0"/>
              </a:rPr>
              <a:t>PMO</a:t>
            </a:r>
            <a:r>
              <a:rPr kumimoji="1" lang="ja-JP" altLang="en-US" sz="1300" kern="500" dirty="0">
                <a:latin typeface="Segoe UI" panose="020B0502040204020203" pitchFamily="34" charset="0"/>
                <a:ea typeface="Meiryo UI" panose="020B0604030504040204" pitchFamily="50" charset="-128"/>
                <a:cs typeface="Segoe UI" panose="020B0502040204020203" pitchFamily="34" charset="0"/>
              </a:rPr>
              <a:t>・</a:t>
            </a:r>
            <a:r>
              <a:rPr kumimoji="1" lang="en-US" altLang="ja-JP" sz="1300" kern="500" dirty="0">
                <a:latin typeface="Segoe UI" panose="020B0502040204020203" pitchFamily="34" charset="0"/>
                <a:ea typeface="Meiryo UI" panose="020B0604030504040204" pitchFamily="50" charset="-128"/>
                <a:cs typeface="Segoe UI" panose="020B0502040204020203" pitchFamily="34" charset="0"/>
              </a:rPr>
              <a:t>PJMO</a:t>
            </a:r>
            <a:r>
              <a:rPr kumimoji="1" lang="ja-JP" altLang="en-US" sz="1300" kern="500" dirty="0">
                <a:latin typeface="Segoe UI" panose="020B0502040204020203" pitchFamily="34" charset="0"/>
                <a:ea typeface="Meiryo UI" panose="020B0604030504040204" pitchFamily="50" charset="-128"/>
                <a:cs typeface="Segoe UI" panose="020B0502040204020203" pitchFamily="34" charset="0"/>
              </a:rPr>
              <a:t>の位置づけ </a:t>
            </a:r>
            <a:r>
              <a:rPr kumimoji="1" lang="ja-JP" altLang="en-US" sz="1300" kern="500" baseline="30000" dirty="0">
                <a:latin typeface="Segoe UI" panose="020B0502040204020203" pitchFamily="34" charset="0"/>
                <a:ea typeface="Meiryo UI" panose="020B0604030504040204" pitchFamily="50" charset="-128"/>
                <a:cs typeface="Segoe UI" panose="020B0502040204020203" pitchFamily="34" charset="0"/>
              </a:rPr>
              <a:t>［</a:t>
            </a:r>
            <a:r>
              <a:rPr lang="en-US" altLang="ja-JP" sz="1300" kern="500" baseline="30000" dirty="0">
                <a:latin typeface="Segoe UI" panose="020B0502040204020203" pitchFamily="34" charset="0"/>
                <a:ea typeface="Meiryo UI" panose="020B0604030504040204" pitchFamily="50" charset="-128"/>
                <a:cs typeface="Segoe UI" panose="020B0502040204020203" pitchFamily="34" charset="0"/>
              </a:rPr>
              <a:t>3</a:t>
            </a:r>
            <a:r>
              <a:rPr kumimoji="1" lang="ja-JP" altLang="en-US" sz="1300" kern="500" baseline="30000" dirty="0">
                <a:latin typeface="Segoe UI" panose="020B0502040204020203" pitchFamily="34" charset="0"/>
                <a:ea typeface="Meiryo UI" panose="020B0604030504040204" pitchFamily="50" charset="-128"/>
                <a:cs typeface="Segoe UI" panose="020B0502040204020203" pitchFamily="34" charset="0"/>
              </a:rPr>
              <a:t>］</a:t>
            </a:r>
          </a:p>
        </p:txBody>
      </p:sp>
      <p:pic>
        <p:nvPicPr>
          <p:cNvPr id="9" name="図 8">
            <a:extLst>
              <a:ext uri="{FF2B5EF4-FFF2-40B4-BE49-F238E27FC236}">
                <a16:creationId xmlns:a16="http://schemas.microsoft.com/office/drawing/2014/main" id="{505E6029-650B-C0B6-1309-41161063B6E9}"/>
              </a:ext>
            </a:extLst>
          </p:cNvPr>
          <p:cNvPicPr>
            <a:picLocks noChangeAspect="1"/>
          </p:cNvPicPr>
          <p:nvPr/>
        </p:nvPicPr>
        <p:blipFill>
          <a:blip r:embed="rId4"/>
          <a:stretch>
            <a:fillRect/>
          </a:stretch>
        </p:blipFill>
        <p:spPr>
          <a:xfrm>
            <a:off x="7715442" y="1923285"/>
            <a:ext cx="3441075" cy="3319314"/>
          </a:xfrm>
          <a:prstGeom prst="rect">
            <a:avLst/>
          </a:prstGeom>
        </p:spPr>
      </p:pic>
      <p:grpSp>
        <p:nvGrpSpPr>
          <p:cNvPr id="2" name="グループ化 1">
            <a:extLst>
              <a:ext uri="{FF2B5EF4-FFF2-40B4-BE49-F238E27FC236}">
                <a16:creationId xmlns:a16="http://schemas.microsoft.com/office/drawing/2014/main" id="{FC98DBB3-8AC0-AE29-2763-6A41FB8931E1}"/>
              </a:ext>
            </a:extLst>
          </p:cNvPr>
          <p:cNvGrpSpPr/>
          <p:nvPr/>
        </p:nvGrpSpPr>
        <p:grpSpPr>
          <a:xfrm>
            <a:off x="593054" y="2087685"/>
            <a:ext cx="5958287" cy="1702627"/>
            <a:chOff x="647616" y="2108832"/>
            <a:chExt cx="5958287" cy="1702627"/>
          </a:xfrm>
        </p:grpSpPr>
        <p:sp>
          <p:nvSpPr>
            <p:cNvPr id="3" name="テキスト ボックス 2">
              <a:extLst>
                <a:ext uri="{FF2B5EF4-FFF2-40B4-BE49-F238E27FC236}">
                  <a16:creationId xmlns:a16="http://schemas.microsoft.com/office/drawing/2014/main" id="{E00D3543-4556-682F-8148-855AA26CBF23}"/>
                </a:ext>
              </a:extLst>
            </p:cNvPr>
            <p:cNvSpPr txBox="1"/>
            <p:nvPr/>
          </p:nvSpPr>
          <p:spPr>
            <a:xfrm>
              <a:off x="647616" y="2108832"/>
              <a:ext cx="5220000" cy="264688"/>
            </a:xfrm>
            <a:prstGeom prst="rect">
              <a:avLst/>
            </a:prstGeom>
            <a:noFill/>
          </p:spPr>
          <p:txBody>
            <a:bodyPr wrap="square" lIns="0" tIns="0" rIns="0" bIns="0" rtlCol="0">
              <a:spAutoFit/>
            </a:bodyPr>
            <a:lstStyle/>
            <a:p>
              <a:pPr fontAlgn="base">
                <a:lnSpc>
                  <a:spcPct val="110000"/>
                </a:lnSpc>
              </a:pPr>
              <a:r>
                <a:rPr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各府省の</a:t>
              </a:r>
              <a:r>
                <a:rPr lang="en-US" altLang="ja-JP"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IT</a:t>
              </a:r>
              <a:r>
                <a:rPr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ガバナンスの中核</a:t>
              </a:r>
              <a:endParaRPr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5" name="テキスト ボックス 4">
              <a:extLst>
                <a:ext uri="{FF2B5EF4-FFF2-40B4-BE49-F238E27FC236}">
                  <a16:creationId xmlns:a16="http://schemas.microsoft.com/office/drawing/2014/main" id="{524E8A79-079F-D277-7918-0FCE1B9A6D7D}"/>
                </a:ext>
              </a:extLst>
            </p:cNvPr>
            <p:cNvSpPr txBox="1"/>
            <p:nvPr/>
          </p:nvSpPr>
          <p:spPr>
            <a:xfrm>
              <a:off x="665903" y="2359780"/>
              <a:ext cx="5940000" cy="1451679"/>
            </a:xfrm>
            <a:prstGeom prst="rect">
              <a:avLst/>
            </a:prstGeom>
            <a:noFill/>
          </p:spPr>
          <p:txBody>
            <a:bodyPr wrap="square" lIns="0" tIns="0" rIns="0" bIns="0" rtlCol="0">
              <a:spAutoFit/>
            </a:bodyPr>
            <a:lstStyle/>
            <a:p>
              <a:pPr fontAlgn="base">
                <a:spcBef>
                  <a:spcPts val="600"/>
                </a:spcBef>
                <a:spcAft>
                  <a:spcPct val="0"/>
                </a:spcAft>
              </a:pPr>
              <a:r>
                <a:rPr lang="ja-JP" altLang="en-US" sz="1100" dirty="0">
                  <a:latin typeface="Meiryo UI"/>
                  <a:ea typeface="Meiryo UI"/>
                </a:rPr>
                <a:t>標準ガイドラインの</a:t>
              </a:r>
              <a:r>
                <a:rPr lang="en-US" altLang="ja-JP" sz="1100" dirty="0">
                  <a:latin typeface="Meiryo UI"/>
                  <a:ea typeface="Meiryo UI"/>
                </a:rPr>
                <a:t>PMO</a:t>
              </a:r>
              <a:r>
                <a:rPr lang="ja-JP" altLang="en-US" sz="1100" dirty="0">
                  <a:latin typeface="Meiryo UI"/>
                  <a:ea typeface="Meiryo UI"/>
                </a:rPr>
                <a:t>は、</a:t>
              </a:r>
              <a:r>
                <a:rPr lang="en-US" altLang="ja-JP" sz="1100" b="1" u="sng" dirty="0">
                  <a:latin typeface="Meiryo UI"/>
                  <a:ea typeface="Meiryo UI"/>
                </a:rPr>
                <a:t>Portfolio</a:t>
              </a:r>
              <a:r>
                <a:rPr lang="en-US" altLang="ja-JP" sz="1100" dirty="0">
                  <a:latin typeface="Meiryo UI"/>
                  <a:ea typeface="Meiryo UI"/>
                </a:rPr>
                <a:t> Management Office</a:t>
              </a:r>
              <a:r>
                <a:rPr lang="ja-JP" altLang="en-US" sz="1100" dirty="0">
                  <a:latin typeface="Meiryo UI"/>
                  <a:ea typeface="Meiryo UI"/>
                </a:rPr>
                <a:t>の略。</a:t>
              </a:r>
              <a:r>
                <a:rPr lang="ja-JP" altLang="en-US" sz="1100" b="1" dirty="0">
                  <a:latin typeface="Meiryo UI"/>
                  <a:ea typeface="Meiryo UI"/>
                </a:rPr>
                <a:t>各府省における</a:t>
              </a:r>
              <a:r>
                <a:rPr lang="en-US" altLang="ja-JP" sz="1100" b="1" dirty="0">
                  <a:latin typeface="Meiryo UI"/>
                  <a:ea typeface="Meiryo UI"/>
                </a:rPr>
                <a:t>IT</a:t>
              </a:r>
              <a:r>
                <a:rPr lang="ja-JP" altLang="en-US" sz="1100" b="1" dirty="0">
                  <a:latin typeface="Meiryo UI"/>
                  <a:ea typeface="Meiryo UI"/>
                </a:rPr>
                <a:t>ガバナンスの中核を担う組織で、中長期計画の策定・推進、府省内のプロジェクト支援、デジタル人材管理等の機能を持つ</a:t>
              </a:r>
              <a:r>
                <a:rPr lang="ja-JP" altLang="en-US" sz="1100" dirty="0">
                  <a:latin typeface="Meiryo UI"/>
                  <a:ea typeface="Meiryo UI"/>
                </a:rPr>
                <a:t>。</a:t>
              </a:r>
              <a:r>
                <a:rPr lang="en-US" altLang="ja-JP" sz="1100" baseline="30000" dirty="0">
                  <a:latin typeface="Meiryo UI"/>
                  <a:ea typeface="Meiryo UI"/>
                </a:rPr>
                <a:t>[2]</a:t>
              </a:r>
            </a:p>
            <a:p>
              <a:pPr fontAlgn="base">
                <a:spcBef>
                  <a:spcPts val="600"/>
                </a:spcBef>
                <a:spcAft>
                  <a:spcPct val="0"/>
                </a:spcAft>
              </a:pPr>
              <a:r>
                <a:rPr lang="ja-JP" altLang="en-US" sz="1100" dirty="0">
                  <a:latin typeface="Meiryo UI"/>
                  <a:ea typeface="Meiryo UI"/>
                </a:rPr>
                <a:t>民間企業等で一般的に用いられる</a:t>
              </a:r>
              <a:r>
                <a:rPr lang="en-US" altLang="ja-JP" sz="1100" dirty="0">
                  <a:latin typeface="Meiryo UI"/>
                  <a:ea typeface="Meiryo UI"/>
                </a:rPr>
                <a:t>PMO</a:t>
              </a:r>
              <a:r>
                <a:rPr lang="ja-JP" altLang="en-US" sz="1100" dirty="0">
                  <a:latin typeface="Meiryo UI"/>
                  <a:ea typeface="Meiryo UI"/>
                </a:rPr>
                <a:t>は、</a:t>
              </a:r>
              <a:r>
                <a:rPr lang="en-US" altLang="ja-JP" sz="1100" b="1" u="sng" dirty="0">
                  <a:latin typeface="Meiryo UI"/>
                  <a:ea typeface="Meiryo UI"/>
                </a:rPr>
                <a:t>Project</a:t>
              </a:r>
              <a:r>
                <a:rPr lang="en-US" altLang="ja-JP" sz="1100" dirty="0">
                  <a:latin typeface="Meiryo UI"/>
                  <a:ea typeface="Meiryo UI"/>
                </a:rPr>
                <a:t> Management Office</a:t>
              </a:r>
              <a:r>
                <a:rPr lang="ja-JP" altLang="en-US" sz="1100" dirty="0">
                  <a:latin typeface="Meiryo UI"/>
                  <a:ea typeface="Meiryo UI"/>
                </a:rPr>
                <a:t>の略。</a:t>
              </a:r>
              <a:r>
                <a:rPr lang="en-US" altLang="ja-JP" sz="1100" dirty="0">
                  <a:latin typeface="Meiryo UI"/>
                  <a:ea typeface="Meiryo UI"/>
                </a:rPr>
                <a:t>IT</a:t>
              </a:r>
              <a:r>
                <a:rPr lang="ja-JP" altLang="en-US" sz="1100" dirty="0">
                  <a:latin typeface="Meiryo UI"/>
                  <a:ea typeface="Meiryo UI"/>
                </a:rPr>
                <a:t>マネジメントの活動の中で、特定の工程で一時的に編成されるものを指している。</a:t>
              </a:r>
              <a:endParaRPr lang="en-US" altLang="ja-JP" sz="1100" dirty="0">
                <a:latin typeface="Meiryo UI"/>
                <a:ea typeface="Meiryo UI"/>
              </a:endParaRPr>
            </a:p>
            <a:p>
              <a:pPr fontAlgn="base">
                <a:spcBef>
                  <a:spcPts val="600"/>
                </a:spcBef>
                <a:spcAft>
                  <a:spcPct val="0"/>
                </a:spcAft>
              </a:pPr>
              <a:r>
                <a:rPr lang="ja-JP" altLang="en-US" sz="1100" dirty="0">
                  <a:latin typeface="Meiryo UI"/>
                  <a:ea typeface="Meiryo UI"/>
                </a:rPr>
                <a:t>なお、標準ガイドラインでは、</a:t>
              </a:r>
              <a:r>
                <a:rPr lang="en-US" altLang="ja-JP" sz="1100" dirty="0">
                  <a:latin typeface="Meiryo UI"/>
                  <a:ea typeface="Meiryo UI"/>
                </a:rPr>
                <a:t>PJMO</a:t>
              </a:r>
              <a:r>
                <a:rPr lang="ja-JP" altLang="en-US" sz="1100" dirty="0">
                  <a:latin typeface="Meiryo UI"/>
                  <a:ea typeface="Meiryo UI"/>
                </a:rPr>
                <a:t>という組織も定義しており、これは</a:t>
              </a:r>
              <a:r>
                <a:rPr lang="en-US" altLang="ja-JP" sz="1100" b="1" u="sng" dirty="0" err="1">
                  <a:latin typeface="Meiryo UI"/>
                  <a:ea typeface="Meiryo UI"/>
                </a:rPr>
                <a:t>ProJect</a:t>
              </a:r>
              <a:r>
                <a:rPr lang="en-US" altLang="ja-JP" sz="1100" dirty="0">
                  <a:latin typeface="Meiryo UI"/>
                  <a:ea typeface="Meiryo UI"/>
                </a:rPr>
                <a:t> Management Office</a:t>
              </a:r>
              <a:r>
                <a:rPr lang="ja-JP" altLang="en-US" sz="1100" dirty="0">
                  <a:latin typeface="Meiryo UI"/>
                  <a:ea typeface="Meiryo UI"/>
                </a:rPr>
                <a:t>の略で、</a:t>
              </a:r>
              <a:r>
                <a:rPr lang="en-US" altLang="ja-JP" sz="1100" dirty="0">
                  <a:latin typeface="Meiryo UI"/>
                  <a:ea typeface="Meiryo UI"/>
                </a:rPr>
                <a:t>IT</a:t>
              </a:r>
              <a:r>
                <a:rPr lang="ja-JP" altLang="en-US" sz="1100" dirty="0">
                  <a:latin typeface="Meiryo UI"/>
                  <a:ea typeface="Meiryo UI"/>
                </a:rPr>
                <a:t>マネジメントを対象にしている点では民間企業等における</a:t>
              </a:r>
              <a:r>
                <a:rPr lang="en-US" altLang="ja-JP" sz="1100" dirty="0">
                  <a:latin typeface="Meiryo UI"/>
                  <a:ea typeface="Meiryo UI"/>
                </a:rPr>
                <a:t>PMO</a:t>
              </a:r>
              <a:r>
                <a:rPr lang="ja-JP" altLang="en-US" sz="1100" dirty="0">
                  <a:latin typeface="Meiryo UI"/>
                  <a:ea typeface="Meiryo UI"/>
                </a:rPr>
                <a:t>と類似しているが、求められている役割は異なる（後述）。</a:t>
              </a:r>
              <a:endParaRPr lang="en-US" altLang="ja-JP" sz="1100" dirty="0">
                <a:latin typeface="Meiryo UI"/>
                <a:ea typeface="Meiryo UI"/>
              </a:endParaRPr>
            </a:p>
          </p:txBody>
        </p:sp>
      </p:grpSp>
    </p:spTree>
    <p:extLst>
      <p:ext uri="{BB962C8B-B14F-4D97-AF65-F5344CB8AC3E}">
        <p14:creationId xmlns:p14="http://schemas.microsoft.com/office/powerpoint/2010/main" val="1538819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FE4DF-1C24-699A-9E85-E287D6FF6E32}"/>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44A20626-7FD1-4B93-1894-5DBDE70AB675}"/>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PJMO</a:t>
            </a:r>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の役割</a:t>
            </a:r>
            <a:endParaRPr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20" name="正方形/長方形 19">
            <a:extLst>
              <a:ext uri="{FF2B5EF4-FFF2-40B4-BE49-F238E27FC236}">
                <a16:creationId xmlns:a16="http://schemas.microsoft.com/office/drawing/2014/main" id="{D4128DA4-8776-A49A-551E-587251AA3EB8}"/>
              </a:ext>
            </a:extLst>
          </p:cNvPr>
          <p:cNvSpPr/>
          <p:nvPr/>
        </p:nvSpPr>
        <p:spPr>
          <a:xfrm>
            <a:off x="0" y="0"/>
            <a:ext cx="468000" cy="1512000"/>
          </a:xfrm>
          <a:prstGeom prst="rect">
            <a:avLst/>
          </a:prstGeom>
          <a:solidFill>
            <a:srgbClr val="D7E4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A2F4EDFA-101C-6262-306D-882EC93963EB}"/>
              </a:ext>
            </a:extLst>
          </p:cNvPr>
          <p:cNvSpPr txBox="1"/>
          <p:nvPr/>
        </p:nvSpPr>
        <p:spPr>
          <a:xfrm>
            <a:off x="763660" y="983204"/>
            <a:ext cx="10980000" cy="314317"/>
          </a:xfrm>
          <a:prstGeom prst="rect">
            <a:avLst/>
          </a:prstGeom>
          <a:noFill/>
        </p:spPr>
        <p:txBody>
          <a:bodyPr wrap="square" lIns="0" tIns="0" rIns="0" bIns="0" rtlCol="0">
            <a:spAutoFit/>
          </a:bodyPr>
          <a:lstStyle/>
          <a:p>
            <a:pPr marL="342900" indent="-342900" fontAlgn="base">
              <a:lnSpc>
                <a:spcPct val="110000"/>
              </a:lnSpc>
              <a:buClr>
                <a:srgbClr val="009999"/>
              </a:buClr>
              <a:buFont typeface="メイリオ" panose="020B0604030504040204" pitchFamily="50" charset="-128"/>
              <a:buChar char="▶"/>
            </a:pPr>
            <a:r>
              <a:rPr kumimoji="1" lang="en-US" altLang="ja-JP" sz="1900" kern="500" dirty="0">
                <a:latin typeface="Segoe UI" panose="020B0502040204020203" pitchFamily="34" charset="0"/>
                <a:ea typeface="メイリオ" panose="020B0604030504040204" pitchFamily="50" charset="-128"/>
                <a:cs typeface="Segoe UI" panose="020B0502040204020203" pitchFamily="34" charset="0"/>
              </a:rPr>
              <a:t>PJMO</a:t>
            </a: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は、情報システムのライフサイクルを通じて、継続的に</a:t>
            </a:r>
            <a:r>
              <a:rPr kumimoji="1" lang="en-US" altLang="ja-JP" sz="1900" kern="500" dirty="0">
                <a:latin typeface="Segoe UI" panose="020B0502040204020203" pitchFamily="34" charset="0"/>
                <a:ea typeface="メイリオ" panose="020B0604030504040204" pitchFamily="50" charset="-128"/>
                <a:cs typeface="Segoe UI" panose="020B0502040204020203" pitchFamily="34" charset="0"/>
              </a:rPr>
              <a:t>IT</a:t>
            </a: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マネジメントを行う。</a:t>
            </a:r>
          </a:p>
        </p:txBody>
      </p:sp>
      <p:sp>
        <p:nvSpPr>
          <p:cNvPr id="97" name="フリーフォーム: 図形 96">
            <a:extLst>
              <a:ext uri="{FF2B5EF4-FFF2-40B4-BE49-F238E27FC236}">
                <a16:creationId xmlns:a16="http://schemas.microsoft.com/office/drawing/2014/main" id="{5B49082C-86C4-DC6A-924D-A5478D7AFC0E}"/>
              </a:ext>
            </a:extLst>
          </p:cNvPr>
          <p:cNvSpPr/>
          <p:nvPr/>
        </p:nvSpPr>
        <p:spPr>
          <a:xfrm>
            <a:off x="0" y="1615401"/>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説明</a:t>
            </a:r>
          </a:p>
        </p:txBody>
      </p:sp>
      <p:cxnSp>
        <p:nvCxnSpPr>
          <p:cNvPr id="98" name="直線コネクタ 97">
            <a:extLst>
              <a:ext uri="{FF2B5EF4-FFF2-40B4-BE49-F238E27FC236}">
                <a16:creationId xmlns:a16="http://schemas.microsoft.com/office/drawing/2014/main" id="{F9923236-2EC6-4EBF-2493-A5BE85D255BD}"/>
              </a:ext>
            </a:extLst>
          </p:cNvPr>
          <p:cNvCxnSpPr>
            <a:cxnSpLocks/>
          </p:cNvCxnSpPr>
          <p:nvPr/>
        </p:nvCxnSpPr>
        <p:spPr>
          <a:xfrm>
            <a:off x="2392680" y="1777401"/>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sp>
        <p:nvSpPr>
          <p:cNvPr id="105" name="フリーフォーム: 図形 104">
            <a:extLst>
              <a:ext uri="{FF2B5EF4-FFF2-40B4-BE49-F238E27FC236}">
                <a16:creationId xmlns:a16="http://schemas.microsoft.com/office/drawing/2014/main" id="{0B61AB54-5B4D-C046-5F38-77BF36384582}"/>
              </a:ext>
            </a:extLst>
          </p:cNvPr>
          <p:cNvSpPr/>
          <p:nvPr/>
        </p:nvSpPr>
        <p:spPr>
          <a:xfrm>
            <a:off x="0" y="3971556"/>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背景・経緯</a:t>
            </a:r>
          </a:p>
        </p:txBody>
      </p:sp>
      <p:cxnSp>
        <p:nvCxnSpPr>
          <p:cNvPr id="106" name="直線コネクタ 105">
            <a:extLst>
              <a:ext uri="{FF2B5EF4-FFF2-40B4-BE49-F238E27FC236}">
                <a16:creationId xmlns:a16="http://schemas.microsoft.com/office/drawing/2014/main" id="{6D662DD9-B9B1-2B14-6838-2311296C1718}"/>
              </a:ext>
            </a:extLst>
          </p:cNvPr>
          <p:cNvCxnSpPr>
            <a:cxnSpLocks/>
          </p:cNvCxnSpPr>
          <p:nvPr/>
        </p:nvCxnSpPr>
        <p:spPr>
          <a:xfrm>
            <a:off x="2392680" y="4133556"/>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grpSp>
        <p:nvGrpSpPr>
          <p:cNvPr id="30" name="グループ化 29">
            <a:extLst>
              <a:ext uri="{FF2B5EF4-FFF2-40B4-BE49-F238E27FC236}">
                <a16:creationId xmlns:a16="http://schemas.microsoft.com/office/drawing/2014/main" id="{E72F8FB1-4571-492E-2EFB-ACD6F3516AC6}"/>
              </a:ext>
            </a:extLst>
          </p:cNvPr>
          <p:cNvGrpSpPr/>
          <p:nvPr/>
        </p:nvGrpSpPr>
        <p:grpSpPr>
          <a:xfrm>
            <a:off x="593054" y="2087685"/>
            <a:ext cx="5958287" cy="1174278"/>
            <a:chOff x="647616" y="2108832"/>
            <a:chExt cx="5958287" cy="1174278"/>
          </a:xfrm>
        </p:grpSpPr>
        <p:sp>
          <p:nvSpPr>
            <p:cNvPr id="95" name="テキスト ボックス 94">
              <a:extLst>
                <a:ext uri="{FF2B5EF4-FFF2-40B4-BE49-F238E27FC236}">
                  <a16:creationId xmlns:a16="http://schemas.microsoft.com/office/drawing/2014/main" id="{73618363-7BF1-2E95-7805-6404927BF9ED}"/>
                </a:ext>
              </a:extLst>
            </p:cNvPr>
            <p:cNvSpPr txBox="1"/>
            <p:nvPr/>
          </p:nvSpPr>
          <p:spPr>
            <a:xfrm>
              <a:off x="647616" y="2108832"/>
              <a:ext cx="5220000" cy="264688"/>
            </a:xfrm>
            <a:prstGeom prst="rect">
              <a:avLst/>
            </a:prstGeom>
            <a:noFill/>
          </p:spPr>
          <p:txBody>
            <a:bodyPr wrap="square" lIns="0" tIns="0" rIns="0" bIns="0" rtlCol="0">
              <a:spAutoFit/>
            </a:bodyPr>
            <a:lstStyle/>
            <a:p>
              <a:pPr fontAlgn="base">
                <a:lnSpc>
                  <a:spcPct val="110000"/>
                </a:lnSpc>
              </a:pPr>
              <a:r>
                <a:rPr kumimoji="1" lang="en-US" altLang="ja-JP"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IT</a:t>
              </a: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マネジメントは日常的な業務の一環</a:t>
              </a:r>
              <a:endParaRPr kumimoji="1"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96" name="テキスト ボックス 95">
              <a:extLst>
                <a:ext uri="{FF2B5EF4-FFF2-40B4-BE49-F238E27FC236}">
                  <a16:creationId xmlns:a16="http://schemas.microsoft.com/office/drawing/2014/main" id="{6F41AC7E-C4CF-9A82-5FD7-EE1B5B9947C4}"/>
                </a:ext>
              </a:extLst>
            </p:cNvPr>
            <p:cNvSpPr txBox="1"/>
            <p:nvPr/>
          </p:nvSpPr>
          <p:spPr>
            <a:xfrm>
              <a:off x="665903" y="2359780"/>
              <a:ext cx="5940000" cy="923330"/>
            </a:xfrm>
            <a:prstGeom prst="rect">
              <a:avLst/>
            </a:prstGeom>
            <a:noFill/>
          </p:spPr>
          <p:txBody>
            <a:bodyPr wrap="square" lIns="0" tIns="0" rIns="0" bIns="0" rtlCol="0">
              <a:spAutoFit/>
            </a:bodyPr>
            <a:lstStyle/>
            <a:p>
              <a:pPr fontAlgn="base">
                <a:spcBef>
                  <a:spcPts val="600"/>
                </a:spcBef>
                <a:spcAft>
                  <a:spcPct val="0"/>
                </a:spcAft>
              </a:pPr>
              <a:r>
                <a:rPr lang="ja-JP" altLang="en-US" sz="1100" dirty="0">
                  <a:latin typeface="Meiryo UI"/>
                  <a:ea typeface="Meiryo UI"/>
                </a:rPr>
                <a:t>民間企業等で用いられる</a:t>
              </a:r>
              <a:r>
                <a:rPr lang="en-US" altLang="ja-JP" sz="1100" dirty="0">
                  <a:latin typeface="Meiryo UI"/>
                  <a:ea typeface="Meiryo UI"/>
                </a:rPr>
                <a:t>PMO</a:t>
              </a:r>
              <a:r>
                <a:rPr lang="en-US" altLang="ja-JP" sz="1100" b="1" baseline="30000" dirty="0">
                  <a:latin typeface="Meiryo UI"/>
                  <a:ea typeface="Meiryo UI"/>
                </a:rPr>
                <a:t> [1]</a:t>
              </a:r>
              <a:r>
                <a:rPr lang="ja-JP" altLang="en-US" sz="1100" dirty="0">
                  <a:latin typeface="Meiryo UI"/>
                  <a:ea typeface="Meiryo UI"/>
                </a:rPr>
                <a:t>は、設計・開発工程等の特定の工程の</a:t>
              </a:r>
              <a:r>
                <a:rPr lang="en-US" altLang="ja-JP" sz="1100" dirty="0">
                  <a:latin typeface="Meiryo UI"/>
                  <a:ea typeface="Meiryo UI"/>
                </a:rPr>
                <a:t>IT</a:t>
              </a:r>
              <a:r>
                <a:rPr lang="ja-JP" altLang="en-US" sz="1100" dirty="0">
                  <a:latin typeface="Meiryo UI"/>
                  <a:ea typeface="Meiryo UI"/>
                </a:rPr>
                <a:t>マネジメントを担い、そのために一時的に編成されることが多い。</a:t>
              </a:r>
              <a:endParaRPr lang="en-US" altLang="ja-JP" sz="1100" dirty="0">
                <a:latin typeface="Meiryo UI"/>
                <a:ea typeface="Meiryo UI"/>
              </a:endParaRPr>
            </a:p>
            <a:p>
              <a:pPr fontAlgn="base">
                <a:spcBef>
                  <a:spcPts val="600"/>
                </a:spcBef>
                <a:spcAft>
                  <a:spcPct val="0"/>
                </a:spcAft>
              </a:pPr>
              <a:r>
                <a:rPr lang="ja-JP" altLang="en-US" sz="1100" dirty="0">
                  <a:latin typeface="Meiryo UI"/>
                  <a:ea typeface="Meiryo UI"/>
                </a:rPr>
                <a:t>一方、政府における</a:t>
              </a:r>
              <a:r>
                <a:rPr lang="en-US" altLang="ja-JP" sz="1100" b="1" dirty="0">
                  <a:latin typeface="Meiryo UI"/>
                  <a:ea typeface="Meiryo UI"/>
                </a:rPr>
                <a:t>PJMO</a:t>
              </a:r>
              <a:r>
                <a:rPr lang="ja-JP" altLang="en-US" sz="1100" b="1" dirty="0">
                  <a:latin typeface="Meiryo UI"/>
                  <a:ea typeface="Meiryo UI"/>
                </a:rPr>
                <a:t>は</a:t>
              </a:r>
              <a:r>
                <a:rPr lang="ja-JP" altLang="en-US" sz="1100" dirty="0">
                  <a:latin typeface="Meiryo UI"/>
                  <a:ea typeface="Meiryo UI"/>
                </a:rPr>
                <a:t>特定の工程管理のための一時的なものではなく、</a:t>
              </a:r>
              <a:r>
                <a:rPr kumimoji="0" lang="ja-JP" altLang="en-US" sz="1100" b="1" kern="0" dirty="0">
                  <a:latin typeface="Meiryo UI"/>
                  <a:ea typeface="Meiryo UI"/>
                </a:rPr>
                <a:t>所管業務としての日常的な役割を含めた活動を担っている。</a:t>
              </a:r>
              <a:r>
                <a:rPr lang="ja-JP" altLang="en-US" sz="1100" b="1" dirty="0">
                  <a:latin typeface="Meiryo UI"/>
                  <a:ea typeface="Meiryo UI"/>
                </a:rPr>
                <a:t>情報システムのライフサイクルを通じて継続的に</a:t>
              </a:r>
              <a:r>
                <a:rPr lang="en-US" altLang="ja-JP" sz="1100" b="1" dirty="0">
                  <a:latin typeface="Meiryo UI"/>
                  <a:ea typeface="Meiryo UI"/>
                </a:rPr>
                <a:t>IT</a:t>
              </a:r>
              <a:r>
                <a:rPr lang="ja-JP" altLang="en-US" sz="1100" b="1" dirty="0">
                  <a:latin typeface="Meiryo UI"/>
                  <a:ea typeface="Meiryo UI"/>
                </a:rPr>
                <a:t>マネジメントを行う組織という位置づけであり</a:t>
              </a:r>
              <a:r>
                <a:rPr lang="ja-JP" altLang="en-US" sz="1100" dirty="0">
                  <a:latin typeface="Meiryo UI"/>
                  <a:ea typeface="Meiryo UI"/>
                </a:rPr>
                <a:t>、情報システムが稼働開始しても組織の役割が終わるわけではない。</a:t>
              </a:r>
              <a:endParaRPr lang="ja-JP" altLang="en-US" sz="1100" dirty="0">
                <a:highlight>
                  <a:srgbClr val="00FFFF"/>
                </a:highlight>
                <a:latin typeface="Meiryo UI"/>
                <a:ea typeface="Meiryo UI"/>
              </a:endParaRPr>
            </a:p>
          </p:txBody>
        </p:sp>
      </p:grpSp>
      <p:grpSp>
        <p:nvGrpSpPr>
          <p:cNvPr id="33" name="グループ化 32">
            <a:extLst>
              <a:ext uri="{FF2B5EF4-FFF2-40B4-BE49-F238E27FC236}">
                <a16:creationId xmlns:a16="http://schemas.microsoft.com/office/drawing/2014/main" id="{87664E2C-8A3F-7E51-E6D5-2E11D8D6B6AE}"/>
              </a:ext>
            </a:extLst>
          </p:cNvPr>
          <p:cNvGrpSpPr/>
          <p:nvPr/>
        </p:nvGrpSpPr>
        <p:grpSpPr>
          <a:xfrm>
            <a:off x="647616" y="4466856"/>
            <a:ext cx="5959050" cy="748937"/>
            <a:chOff x="647616" y="4586907"/>
            <a:chExt cx="5959050" cy="748937"/>
          </a:xfrm>
        </p:grpSpPr>
        <p:sp>
          <p:nvSpPr>
            <p:cNvPr id="103" name="テキスト ボックス 102">
              <a:extLst>
                <a:ext uri="{FF2B5EF4-FFF2-40B4-BE49-F238E27FC236}">
                  <a16:creationId xmlns:a16="http://schemas.microsoft.com/office/drawing/2014/main" id="{D30718BC-29D1-146A-9794-87B4F9B5E2A3}"/>
                </a:ext>
              </a:extLst>
            </p:cNvPr>
            <p:cNvSpPr txBox="1"/>
            <p:nvPr/>
          </p:nvSpPr>
          <p:spPr>
            <a:xfrm>
              <a:off x="647616" y="4586907"/>
              <a:ext cx="5220000" cy="270843"/>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目的達成には有効性を高め続けることが不可欠</a:t>
              </a:r>
              <a:endParaRPr kumimoji="1"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104" name="テキスト ボックス 103">
              <a:extLst>
                <a:ext uri="{FF2B5EF4-FFF2-40B4-BE49-F238E27FC236}">
                  <a16:creationId xmlns:a16="http://schemas.microsoft.com/office/drawing/2014/main" id="{0B280F6F-660B-3CCE-E0E6-CA48D8A24F2D}"/>
                </a:ext>
              </a:extLst>
            </p:cNvPr>
            <p:cNvSpPr txBox="1"/>
            <p:nvPr/>
          </p:nvSpPr>
          <p:spPr>
            <a:xfrm>
              <a:off x="666666" y="4828013"/>
              <a:ext cx="5940000" cy="507831"/>
            </a:xfrm>
            <a:prstGeom prst="rect">
              <a:avLst/>
            </a:prstGeom>
            <a:noFill/>
          </p:spPr>
          <p:txBody>
            <a:bodyPr wrap="square" lIns="0" tIns="0" rIns="0" bIns="0" rtlCol="0">
              <a:spAutoFit/>
            </a:bodyPr>
            <a:lstStyle/>
            <a:p>
              <a:pPr fontAlgn="base"/>
              <a:r>
                <a:rPr lang="ja-JP" altLang="en-US" sz="1100" dirty="0">
                  <a:latin typeface="Meiryo UI"/>
                  <a:ea typeface="Meiryo UI"/>
                </a:rPr>
                <a:t>政策の目的を達成するためには、情報システムの構築を適切に行うことが重要だが、本稼働した後も、</a:t>
              </a:r>
              <a:r>
                <a:rPr lang="ja-JP" altLang="en-US" sz="1100" b="1" dirty="0">
                  <a:latin typeface="Meiryo UI"/>
                  <a:ea typeface="Meiryo UI"/>
                </a:rPr>
                <a:t>変化に対応し、適切な運用・保守と機能改修を繰り返して情報システムの有効性を高め続けることが不可欠であるため</a:t>
              </a:r>
              <a:r>
                <a:rPr lang="ja-JP" altLang="en-US" sz="1100" dirty="0">
                  <a:latin typeface="Meiryo UI"/>
                  <a:ea typeface="Meiryo UI"/>
                </a:rPr>
                <a:t>。</a:t>
              </a:r>
              <a:endParaRPr kumimoji="1" lang="ja-JP" altLang="en-US" sz="1100" kern="500" dirty="0">
                <a:latin typeface="Segoe UI" panose="020B0502040204020203" pitchFamily="34" charset="0"/>
                <a:ea typeface="メイリオ" panose="020B0604030504040204" pitchFamily="50" charset="-128"/>
                <a:cs typeface="Segoe UI" panose="020B0502040204020203" pitchFamily="34" charset="0"/>
              </a:endParaRPr>
            </a:p>
          </p:txBody>
        </p:sp>
      </p:grpSp>
      <p:sp>
        <p:nvSpPr>
          <p:cNvPr id="120" name="テキスト ボックス 119">
            <a:extLst>
              <a:ext uri="{FF2B5EF4-FFF2-40B4-BE49-F238E27FC236}">
                <a16:creationId xmlns:a16="http://schemas.microsoft.com/office/drawing/2014/main" id="{A78A29B9-CB08-823E-BC5C-00474945631D}"/>
              </a:ext>
            </a:extLst>
          </p:cNvPr>
          <p:cNvSpPr txBox="1"/>
          <p:nvPr/>
        </p:nvSpPr>
        <p:spPr>
          <a:xfrm>
            <a:off x="7095980" y="5400000"/>
            <a:ext cx="4680000" cy="1062535"/>
          </a:xfrm>
          <a:prstGeom prst="rect">
            <a:avLst/>
          </a:prstGeom>
          <a:noFill/>
        </p:spPr>
        <p:txBody>
          <a:bodyPr wrap="square" lIns="0" tIns="0" rIns="0" bIns="0" rtlCol="0">
            <a:spAutoFit/>
          </a:bodyPr>
          <a:lstStyle/>
          <a:p>
            <a:pPr lvl="0" fontAlgn="base">
              <a:spcBef>
                <a:spcPct val="0"/>
              </a:spcBef>
              <a:spcAft>
                <a:spcPct val="0"/>
              </a:spcAft>
              <a:defRPr/>
            </a:pPr>
            <a:r>
              <a:rPr kumimoji="1"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脚注</a:t>
            </a:r>
            <a:endParaRPr kumimoji="1" lang="en-US" altLang="ja-JP" sz="800" kern="500" dirty="0">
              <a:latin typeface="Meiryo UI" panose="020B0604030504040204" pitchFamily="50" charset="-128"/>
              <a:ea typeface="Meiryo UI" panose="020B0604030504040204" pitchFamily="50" charset="-128"/>
              <a:cs typeface="Segoe UI" panose="020B0502040204020203" pitchFamily="34" charset="0"/>
            </a:endParaRPr>
          </a:p>
          <a:p>
            <a:pPr lvl="0" fontAlgn="base">
              <a:spcBef>
                <a:spcPct val="0"/>
              </a:spcBef>
              <a:spcAft>
                <a:spcPct val="0"/>
              </a:spcAft>
              <a:defRPr/>
            </a:pP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1</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］注釈：</a:t>
            </a:r>
            <a:r>
              <a:rPr kumimoji="0" lang="ja-JP" altLang="en-US" sz="800" kern="0" dirty="0">
                <a:latin typeface="Meiryo UI" panose="020B0604030504040204" pitchFamily="50" charset="-128"/>
                <a:ea typeface="Meiryo UI" panose="020B0604030504040204" pitchFamily="50" charset="-128"/>
              </a:rPr>
              <a:t>前ページで示した標準ガイドラインの「</a:t>
            </a:r>
            <a:r>
              <a:rPr kumimoji="0" lang="en-US" altLang="ja-JP" sz="800" b="1" kern="0" dirty="0">
                <a:latin typeface="Meiryo UI" panose="020B0604030504040204" pitchFamily="50" charset="-128"/>
                <a:ea typeface="Meiryo UI" panose="020B0604030504040204" pitchFamily="50" charset="-128"/>
              </a:rPr>
              <a:t>Portfolio</a:t>
            </a:r>
            <a:r>
              <a:rPr kumimoji="0" lang="en-US" altLang="ja-JP" sz="800" kern="0" dirty="0">
                <a:latin typeface="Meiryo UI" panose="020B0604030504040204" pitchFamily="50" charset="-128"/>
                <a:ea typeface="Meiryo UI" panose="020B0604030504040204" pitchFamily="50" charset="-128"/>
              </a:rPr>
              <a:t> Management Office</a:t>
            </a:r>
            <a:r>
              <a:rPr kumimoji="0" lang="ja-JP" altLang="en-US" sz="800" kern="0" dirty="0">
                <a:latin typeface="Meiryo UI" panose="020B0604030504040204" pitchFamily="50" charset="-128"/>
                <a:ea typeface="Meiryo UI" panose="020B0604030504040204" pitchFamily="50" charset="-128"/>
              </a:rPr>
              <a:t>」ではなく、一般的な「</a:t>
            </a:r>
            <a:r>
              <a:rPr kumimoji="0" lang="en-US" altLang="ja-JP" sz="800" b="1" kern="0" dirty="0">
                <a:latin typeface="Meiryo UI" panose="020B0604030504040204" pitchFamily="50" charset="-128"/>
                <a:ea typeface="Meiryo UI" panose="020B0604030504040204" pitchFamily="50" charset="-128"/>
              </a:rPr>
              <a:t>Project</a:t>
            </a:r>
            <a:r>
              <a:rPr kumimoji="0" lang="en-US" altLang="ja-JP" sz="800" kern="0" dirty="0">
                <a:latin typeface="Meiryo UI" panose="020B0604030504040204" pitchFamily="50" charset="-128"/>
                <a:ea typeface="Meiryo UI" panose="020B0604030504040204" pitchFamily="50" charset="-128"/>
              </a:rPr>
              <a:t> Management Office</a:t>
            </a:r>
            <a:r>
              <a:rPr kumimoji="0" lang="ja-JP" altLang="en-US" sz="800" kern="0" dirty="0">
                <a:latin typeface="Meiryo UI" panose="020B0604030504040204" pitchFamily="50" charset="-128"/>
                <a:ea typeface="Meiryo UI" panose="020B0604030504040204" pitchFamily="50" charset="-128"/>
              </a:rPr>
              <a:t>」のこと。</a:t>
            </a:r>
            <a:r>
              <a:rPr lang="ja-JP" altLang="en-US" sz="800" dirty="0">
                <a:latin typeface="Meiryo UI" panose="020B0604030504040204" pitchFamily="50" charset="-128"/>
                <a:ea typeface="Meiryo UI" panose="020B0604030504040204" pitchFamily="50" charset="-128"/>
              </a:rPr>
              <a:t>特定の工程の</a:t>
            </a:r>
            <a:r>
              <a:rPr lang="en-US" altLang="ja-JP" sz="800" dirty="0">
                <a:latin typeface="Meiryo UI" panose="020B0604030504040204" pitchFamily="50" charset="-128"/>
                <a:ea typeface="Meiryo UI" panose="020B0604030504040204" pitchFamily="50" charset="-128"/>
              </a:rPr>
              <a:t>IT</a:t>
            </a:r>
            <a:r>
              <a:rPr lang="ja-JP" altLang="en-US" sz="800" dirty="0">
                <a:latin typeface="Meiryo UI" panose="020B0604030504040204" pitchFamily="50" charset="-128"/>
                <a:ea typeface="Meiryo UI" panose="020B0604030504040204" pitchFamily="50" charset="-128"/>
              </a:rPr>
              <a:t>マネジメント等を担うことが多い</a:t>
            </a:r>
            <a:br>
              <a:rPr lang="en-US" altLang="ja-JP" sz="800" kern="500" dirty="0">
                <a:latin typeface="Meiryo UI" panose="020B0604030504040204" pitchFamily="50" charset="-128"/>
                <a:ea typeface="Meiryo UI" panose="020B0604030504040204" pitchFamily="50" charset="-128"/>
                <a:cs typeface="Segoe UI" panose="020B0502040204020203" pitchFamily="34" charset="0"/>
              </a:rPr>
            </a:b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 DS-100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デジタル・ガバメント推進標準ガイドライン「図</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3-3</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プロジェクト期間を通じた機能改修のサイクル」を基に作成</a:t>
            </a:r>
          </a:p>
          <a:p>
            <a:pPr fontAlgn="base">
              <a:lnSpc>
                <a:spcPct val="110000"/>
              </a:lnSpc>
              <a:spcBef>
                <a:spcPts val="200"/>
              </a:spcBef>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参考情報</a:t>
            </a:r>
            <a:br>
              <a:rPr lang="en-US" altLang="ja-JP" sz="800" kern="500" dirty="0">
                <a:latin typeface="Meiryo UI" panose="020B0604030504040204" pitchFamily="50" charset="-128"/>
                <a:ea typeface="Meiryo UI" panose="020B0604030504040204" pitchFamily="50" charset="-128"/>
                <a:cs typeface="Segoe UI" panose="020B0502040204020203" pitchFamily="34" charset="0"/>
              </a:rPr>
            </a:b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DS-100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デジタル・ガバメント推進標準ガイドライン　第</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編</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IT</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ガバナンス　第</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章組織体制</a:t>
            </a:r>
          </a:p>
          <a:p>
            <a:pPr fontAlgn="base">
              <a:lnSpc>
                <a:spcPct val="110000"/>
              </a:lnSpc>
              <a:spcBef>
                <a:spcPts val="200"/>
              </a:spcBef>
            </a:pPr>
            <a:endParaRPr lang="en-US" altLang="ja-JP" sz="800" kern="500" dirty="0">
              <a:latin typeface="Meiryo UI" panose="020B0604030504040204" pitchFamily="50" charset="-128"/>
              <a:ea typeface="Meiryo UI" panose="020B0604030504040204" pitchFamily="50" charset="-128"/>
              <a:cs typeface="Segoe UI" panose="020B0502040204020203" pitchFamily="34" charset="0"/>
            </a:endParaRPr>
          </a:p>
        </p:txBody>
      </p:sp>
      <p:sp>
        <p:nvSpPr>
          <p:cNvPr id="5" name="テキスト ボックス 4">
            <a:extLst>
              <a:ext uri="{FF2B5EF4-FFF2-40B4-BE49-F238E27FC236}">
                <a16:creationId xmlns:a16="http://schemas.microsoft.com/office/drawing/2014/main" id="{0F3B12E8-5EA3-87C7-88D3-1E9192B1F4A9}"/>
              </a:ext>
            </a:extLst>
          </p:cNvPr>
          <p:cNvSpPr txBox="1"/>
          <p:nvPr/>
        </p:nvSpPr>
        <p:spPr>
          <a:xfrm>
            <a:off x="6957138" y="1615401"/>
            <a:ext cx="5400000" cy="201978"/>
          </a:xfrm>
          <a:prstGeom prst="rect">
            <a:avLst/>
          </a:prstGeom>
          <a:noFill/>
        </p:spPr>
        <p:txBody>
          <a:bodyPr wrap="square" lIns="0" tIns="0" rIns="0" bIns="0" rtlCol="0" anchor="ctr">
            <a:spAutoFit/>
          </a:bodyPr>
          <a:lstStyle/>
          <a:p>
            <a:pPr marL="324000" indent="-324000" fontAlgn="base">
              <a:lnSpc>
                <a:spcPct val="110000"/>
              </a:lnSpc>
              <a:buClr>
                <a:srgbClr val="009999"/>
              </a:buClr>
              <a:buFont typeface="Meiryo UI" panose="020B0604030504040204" pitchFamily="50" charset="-128"/>
              <a:buChar char="▐"/>
            </a:pPr>
            <a:r>
              <a:rPr lang="ja-JP" altLang="en-US" sz="1300" kern="500" dirty="0">
                <a:latin typeface="Segoe UI" panose="020B0502040204020203" pitchFamily="34" charset="0"/>
                <a:ea typeface="Meiryo UI" panose="020B0604030504040204" pitchFamily="50" charset="-128"/>
                <a:cs typeface="Segoe UI" panose="020B0502040204020203" pitchFamily="34" charset="0"/>
              </a:rPr>
              <a:t>図．政府における</a:t>
            </a:r>
            <a:r>
              <a:rPr lang="en-US" altLang="ja-JP" sz="1300" kern="500" dirty="0">
                <a:latin typeface="Segoe UI" panose="020B0502040204020203" pitchFamily="34" charset="0"/>
                <a:ea typeface="Meiryo UI" panose="020B0604030504040204" pitchFamily="50" charset="-128"/>
                <a:cs typeface="Segoe UI" panose="020B0502040204020203" pitchFamily="34" charset="0"/>
              </a:rPr>
              <a:t>PJMO</a:t>
            </a:r>
            <a:r>
              <a:rPr lang="ja-JP" altLang="en-US" sz="1300" kern="500" dirty="0">
                <a:latin typeface="Segoe UI" panose="020B0502040204020203" pitchFamily="34" charset="0"/>
                <a:ea typeface="Meiryo UI" panose="020B0604030504040204" pitchFamily="50" charset="-128"/>
                <a:cs typeface="Segoe UI" panose="020B0502040204020203" pitchFamily="34" charset="0"/>
              </a:rPr>
              <a:t>と、民間企業等における</a:t>
            </a:r>
            <a:r>
              <a:rPr lang="en-US" altLang="ja-JP" sz="1300" kern="500" dirty="0">
                <a:latin typeface="Segoe UI" panose="020B0502040204020203" pitchFamily="34" charset="0"/>
                <a:ea typeface="Meiryo UI" panose="020B0604030504040204" pitchFamily="50" charset="-128"/>
                <a:cs typeface="Segoe UI" panose="020B0502040204020203" pitchFamily="34" charset="0"/>
              </a:rPr>
              <a:t>PMO</a:t>
            </a:r>
            <a:r>
              <a:rPr lang="en-US" altLang="ja-JP" sz="1300" kern="500" baseline="30000" dirty="0">
                <a:latin typeface="Segoe UI" panose="020B0502040204020203" pitchFamily="34" charset="0"/>
                <a:ea typeface="Meiryo UI" panose="020B0604030504040204" pitchFamily="50" charset="-128"/>
                <a:cs typeface="Segoe UI" panose="020B0502040204020203" pitchFamily="34" charset="0"/>
              </a:rPr>
              <a:t> [1]</a:t>
            </a:r>
            <a:r>
              <a:rPr lang="ja-JP" altLang="en-US" sz="1300" kern="500" dirty="0">
                <a:latin typeface="Segoe UI" panose="020B0502040204020203" pitchFamily="34" charset="0"/>
                <a:ea typeface="Meiryo UI" panose="020B0604030504040204" pitchFamily="50" charset="-128"/>
                <a:cs typeface="Segoe UI" panose="020B0502040204020203" pitchFamily="34" charset="0"/>
              </a:rPr>
              <a:t>の役割の違い</a:t>
            </a:r>
            <a:r>
              <a:rPr lang="ja-JP" altLang="en-US" sz="1300" kern="500" baseline="30000" dirty="0">
                <a:latin typeface="Segoe UI" panose="020B0502040204020203" pitchFamily="34" charset="0"/>
                <a:ea typeface="Meiryo UI" panose="020B0604030504040204" pitchFamily="50" charset="-128"/>
                <a:cs typeface="Segoe UI" panose="020B0502040204020203" pitchFamily="34" charset="0"/>
              </a:rPr>
              <a:t> </a:t>
            </a:r>
            <a:r>
              <a:rPr lang="en-US" altLang="ja-JP" sz="1300" kern="500" baseline="30000" dirty="0">
                <a:latin typeface="Segoe UI" panose="020B0502040204020203" pitchFamily="34" charset="0"/>
                <a:ea typeface="Meiryo UI" panose="020B0604030504040204" pitchFamily="50" charset="-128"/>
                <a:cs typeface="Segoe UI" panose="020B0502040204020203" pitchFamily="34" charset="0"/>
              </a:rPr>
              <a:t>[2]</a:t>
            </a:r>
          </a:p>
        </p:txBody>
      </p:sp>
      <p:pic>
        <p:nvPicPr>
          <p:cNvPr id="31" name="図 30">
            <a:extLst>
              <a:ext uri="{FF2B5EF4-FFF2-40B4-BE49-F238E27FC236}">
                <a16:creationId xmlns:a16="http://schemas.microsoft.com/office/drawing/2014/main" id="{3EDCBC6D-40EC-B3D4-8232-EF3A02AEA267}"/>
              </a:ext>
            </a:extLst>
          </p:cNvPr>
          <p:cNvPicPr>
            <a:picLocks noChangeAspect="1"/>
          </p:cNvPicPr>
          <p:nvPr/>
        </p:nvPicPr>
        <p:blipFill>
          <a:blip r:embed="rId3"/>
          <a:stretch>
            <a:fillRect/>
          </a:stretch>
        </p:blipFill>
        <p:spPr>
          <a:xfrm>
            <a:off x="7095981" y="1777402"/>
            <a:ext cx="4320000" cy="3464792"/>
          </a:xfrm>
          <a:prstGeom prst="rect">
            <a:avLst/>
          </a:prstGeom>
        </p:spPr>
      </p:pic>
    </p:spTree>
    <p:extLst>
      <p:ext uri="{BB962C8B-B14F-4D97-AF65-F5344CB8AC3E}">
        <p14:creationId xmlns:p14="http://schemas.microsoft.com/office/powerpoint/2010/main" val="1532006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8544E-0469-C978-5795-B07AD6661AB9}"/>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B6A5D002-67C0-C35B-8AE7-E24233221833}"/>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プロジェクトの対象範囲</a:t>
            </a:r>
            <a:endParaRPr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20" name="正方形/長方形 19">
            <a:extLst>
              <a:ext uri="{FF2B5EF4-FFF2-40B4-BE49-F238E27FC236}">
                <a16:creationId xmlns:a16="http://schemas.microsoft.com/office/drawing/2014/main" id="{F64CCB88-4F98-C165-5D7D-8A601E94B117}"/>
              </a:ext>
            </a:extLst>
          </p:cNvPr>
          <p:cNvSpPr/>
          <p:nvPr/>
        </p:nvSpPr>
        <p:spPr>
          <a:xfrm>
            <a:off x="0" y="0"/>
            <a:ext cx="468000" cy="1512000"/>
          </a:xfrm>
          <a:prstGeom prst="rect">
            <a:avLst/>
          </a:prstGeom>
          <a:solidFill>
            <a:srgbClr val="D7E4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4CB5BA83-8656-CA2D-7163-C8B205F37BC5}"/>
              </a:ext>
            </a:extLst>
          </p:cNvPr>
          <p:cNvSpPr txBox="1"/>
          <p:nvPr/>
        </p:nvSpPr>
        <p:spPr>
          <a:xfrm>
            <a:off x="763660" y="983204"/>
            <a:ext cx="10980000" cy="314317"/>
          </a:xfrm>
          <a:prstGeom prst="rect">
            <a:avLst/>
          </a:prstGeom>
          <a:noFill/>
        </p:spPr>
        <p:txBody>
          <a:bodyPr wrap="square" lIns="0" tIns="0" rIns="0" bIns="0" rtlCol="0">
            <a:spAutoFit/>
          </a:bodyPr>
          <a:lstStyle/>
          <a:p>
            <a:pPr marL="342900" indent="-342900" fontAlgn="base">
              <a:lnSpc>
                <a:spcPct val="110000"/>
              </a:lnSpc>
              <a:buClr>
                <a:srgbClr val="009999"/>
              </a:buClr>
              <a:buFont typeface="メイリオ" panose="020B0604030504040204" pitchFamily="50" charset="-128"/>
              <a:buChar char="▶"/>
            </a:pP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政府情報システムのサービス・業務企画から運用・保守までのライフサイクルすべてを含む。</a:t>
            </a:r>
          </a:p>
        </p:txBody>
      </p:sp>
      <p:sp>
        <p:nvSpPr>
          <p:cNvPr id="97" name="フリーフォーム: 図形 96">
            <a:extLst>
              <a:ext uri="{FF2B5EF4-FFF2-40B4-BE49-F238E27FC236}">
                <a16:creationId xmlns:a16="http://schemas.microsoft.com/office/drawing/2014/main" id="{E1415FFF-B451-6EF9-4433-CDCF28B57F4D}"/>
              </a:ext>
            </a:extLst>
          </p:cNvPr>
          <p:cNvSpPr/>
          <p:nvPr/>
        </p:nvSpPr>
        <p:spPr>
          <a:xfrm>
            <a:off x="0" y="1615401"/>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説明</a:t>
            </a:r>
          </a:p>
        </p:txBody>
      </p:sp>
      <p:cxnSp>
        <p:nvCxnSpPr>
          <p:cNvPr id="98" name="直線コネクタ 97">
            <a:extLst>
              <a:ext uri="{FF2B5EF4-FFF2-40B4-BE49-F238E27FC236}">
                <a16:creationId xmlns:a16="http://schemas.microsoft.com/office/drawing/2014/main" id="{672F7981-EFB8-33D4-8B00-D8E4BD093661}"/>
              </a:ext>
            </a:extLst>
          </p:cNvPr>
          <p:cNvCxnSpPr>
            <a:cxnSpLocks/>
          </p:cNvCxnSpPr>
          <p:nvPr/>
        </p:nvCxnSpPr>
        <p:spPr>
          <a:xfrm>
            <a:off x="2392680" y="1777401"/>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sp>
        <p:nvSpPr>
          <p:cNvPr id="105" name="フリーフォーム: 図形 104">
            <a:extLst>
              <a:ext uri="{FF2B5EF4-FFF2-40B4-BE49-F238E27FC236}">
                <a16:creationId xmlns:a16="http://schemas.microsoft.com/office/drawing/2014/main" id="{69A76848-2D4A-CF2E-ECD0-8C9107EB88C7}"/>
              </a:ext>
            </a:extLst>
          </p:cNvPr>
          <p:cNvSpPr/>
          <p:nvPr/>
        </p:nvSpPr>
        <p:spPr>
          <a:xfrm>
            <a:off x="0" y="3971556"/>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背景・経緯</a:t>
            </a:r>
          </a:p>
        </p:txBody>
      </p:sp>
      <p:cxnSp>
        <p:nvCxnSpPr>
          <p:cNvPr id="106" name="直線コネクタ 105">
            <a:extLst>
              <a:ext uri="{FF2B5EF4-FFF2-40B4-BE49-F238E27FC236}">
                <a16:creationId xmlns:a16="http://schemas.microsoft.com/office/drawing/2014/main" id="{86D46F33-91A6-AAA4-49D9-BFE6ACB91908}"/>
              </a:ext>
            </a:extLst>
          </p:cNvPr>
          <p:cNvCxnSpPr>
            <a:cxnSpLocks/>
          </p:cNvCxnSpPr>
          <p:nvPr/>
        </p:nvCxnSpPr>
        <p:spPr>
          <a:xfrm>
            <a:off x="2392680" y="4133556"/>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grpSp>
        <p:nvGrpSpPr>
          <p:cNvPr id="30" name="グループ化 29">
            <a:extLst>
              <a:ext uri="{FF2B5EF4-FFF2-40B4-BE49-F238E27FC236}">
                <a16:creationId xmlns:a16="http://schemas.microsoft.com/office/drawing/2014/main" id="{A9DB5BBE-5300-2832-9A08-E55D52C09325}"/>
              </a:ext>
            </a:extLst>
          </p:cNvPr>
          <p:cNvGrpSpPr/>
          <p:nvPr/>
        </p:nvGrpSpPr>
        <p:grpSpPr>
          <a:xfrm>
            <a:off x="593054" y="2087685"/>
            <a:ext cx="5959050" cy="1835738"/>
            <a:chOff x="647616" y="2108832"/>
            <a:chExt cx="5959050" cy="1835738"/>
          </a:xfrm>
        </p:grpSpPr>
        <p:sp>
          <p:nvSpPr>
            <p:cNvPr id="95" name="テキスト ボックス 94">
              <a:extLst>
                <a:ext uri="{FF2B5EF4-FFF2-40B4-BE49-F238E27FC236}">
                  <a16:creationId xmlns:a16="http://schemas.microsoft.com/office/drawing/2014/main" id="{C0A0D0D3-FC42-ADC3-8BA0-4CCFD746939C}"/>
                </a:ext>
              </a:extLst>
            </p:cNvPr>
            <p:cNvSpPr txBox="1"/>
            <p:nvPr/>
          </p:nvSpPr>
          <p:spPr>
            <a:xfrm>
              <a:off x="647616" y="2108832"/>
              <a:ext cx="5220000" cy="270843"/>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ライフサイクル全体を対象範囲とする点が特徴</a:t>
              </a:r>
              <a:endParaRPr kumimoji="1"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96" name="テキスト ボックス 95">
              <a:extLst>
                <a:ext uri="{FF2B5EF4-FFF2-40B4-BE49-F238E27FC236}">
                  <a16:creationId xmlns:a16="http://schemas.microsoft.com/office/drawing/2014/main" id="{67529F3F-C65F-32AE-779E-768AEAAE23ED}"/>
                </a:ext>
              </a:extLst>
            </p:cNvPr>
            <p:cNvSpPr txBox="1"/>
            <p:nvPr/>
          </p:nvSpPr>
          <p:spPr>
            <a:xfrm>
              <a:off x="666666" y="2359521"/>
              <a:ext cx="5940000" cy="1585049"/>
            </a:xfrm>
            <a:prstGeom prst="rect">
              <a:avLst/>
            </a:prstGeom>
            <a:noFill/>
          </p:spPr>
          <p:txBody>
            <a:bodyPr wrap="square" lIns="0" tIns="0" rIns="0" bIns="0" rtlCol="0">
              <a:spAutoFit/>
            </a:bodyPr>
            <a:lstStyle/>
            <a:p>
              <a:pPr fontAlgn="base">
                <a:spcBef>
                  <a:spcPts val="600"/>
                </a:spcBef>
                <a:spcAft>
                  <a:spcPct val="0"/>
                </a:spcAft>
              </a:pPr>
              <a:r>
                <a:rPr lang="ja-JP" altLang="en-US" sz="1100" dirty="0">
                  <a:latin typeface="Meiryo UI"/>
                  <a:ea typeface="Meiryo UI"/>
                </a:rPr>
                <a:t>プロジェクトの定義は、「特定の対象範囲に対し、特定の目的、目標を実現するために、特定の期間に実施する作業のまとまりのこと」</a:t>
              </a:r>
              <a:r>
                <a:rPr lang="en-US" altLang="ja-JP" sz="1100" baseline="30000" dirty="0">
                  <a:latin typeface="Meiryo UI"/>
                  <a:ea typeface="Meiryo UI"/>
                </a:rPr>
                <a:t>[1]</a:t>
              </a:r>
              <a:r>
                <a:rPr lang="ja-JP" altLang="en-US" sz="1100" dirty="0">
                  <a:latin typeface="Meiryo UI"/>
                  <a:ea typeface="Meiryo UI"/>
                </a:rPr>
                <a:t>である。</a:t>
              </a:r>
              <a:endParaRPr lang="en-US" altLang="ja-JP" sz="1100" baseline="30000" dirty="0">
                <a:latin typeface="Meiryo UI"/>
                <a:ea typeface="Meiryo UI"/>
              </a:endParaRPr>
            </a:p>
            <a:p>
              <a:pPr fontAlgn="base">
                <a:spcBef>
                  <a:spcPts val="600"/>
                </a:spcBef>
                <a:spcAft>
                  <a:spcPct val="0"/>
                </a:spcAft>
              </a:pPr>
              <a:r>
                <a:rPr lang="ja-JP" altLang="en-US" sz="1100" dirty="0">
                  <a:latin typeface="Meiryo UI"/>
                  <a:ea typeface="Meiryo UI"/>
                </a:rPr>
                <a:t>この用語が</a:t>
              </a:r>
              <a:r>
                <a:rPr lang="ja-JP" altLang="en-US" sz="1100" b="1" dirty="0">
                  <a:latin typeface="Meiryo UI"/>
                  <a:ea typeface="Meiryo UI"/>
                </a:rPr>
                <a:t>民間企業等で用いられる場合は、特定の工程（設計・開発等）のみを対象範囲とする場合が多い</a:t>
              </a:r>
              <a:r>
                <a:rPr lang="ja-JP" altLang="en-US" sz="1100" dirty="0">
                  <a:latin typeface="Meiryo UI"/>
                  <a:ea typeface="Meiryo UI"/>
                </a:rPr>
                <a:t>。一方で、</a:t>
              </a:r>
              <a:r>
                <a:rPr lang="ja-JP" altLang="en-US" sz="1100" b="1" dirty="0">
                  <a:latin typeface="Meiryo UI"/>
                  <a:ea typeface="Meiryo UI"/>
                </a:rPr>
                <a:t>標準ガイドラインにおいては、プロジェクトの最小単位は、政府情報システムを整備して行うサービス・業務とし、その期間を情報システムのライフサイクル期間とする</a:t>
              </a:r>
              <a:r>
                <a:rPr lang="ja-JP" altLang="en-US" sz="1100" dirty="0">
                  <a:latin typeface="Meiryo UI"/>
                  <a:ea typeface="Meiryo UI"/>
                </a:rPr>
                <a:t>ことを</a:t>
              </a:r>
              <a:r>
                <a:rPr lang="ja-JP" altLang="en-US" sz="1100" dirty="0">
                  <a:latin typeface="Meiryo UI" panose="020B0604030504040204" pitchFamily="50" charset="-128"/>
                  <a:ea typeface="Meiryo UI" panose="020B0604030504040204" pitchFamily="50" charset="-128"/>
                </a:rPr>
                <a:t>基本としている</a:t>
              </a:r>
              <a:r>
                <a:rPr lang="ja-JP" altLang="en-US" sz="1100" dirty="0">
                  <a:latin typeface="Meiryo UI"/>
                  <a:ea typeface="Meiryo UI"/>
                </a:rPr>
                <a:t>。</a:t>
              </a:r>
              <a:endParaRPr lang="en-US" altLang="ja-JP" sz="1100" dirty="0">
                <a:latin typeface="Meiryo UI"/>
                <a:ea typeface="Meiryo UI"/>
              </a:endParaRPr>
            </a:p>
            <a:p>
              <a:pPr fontAlgn="base">
                <a:spcBef>
                  <a:spcPts val="600"/>
                </a:spcBef>
                <a:spcAft>
                  <a:spcPct val="0"/>
                </a:spcAft>
              </a:pPr>
              <a:r>
                <a:rPr lang="ja-JP" altLang="en-US" sz="1100" dirty="0">
                  <a:latin typeface="Meiryo UI"/>
                  <a:ea typeface="Meiryo UI"/>
                </a:rPr>
                <a:t>なお、作業の管理を適正に行うために一つのプロジェクトを階層化し、それぞれをサブプロジェクトとして扱うこともできる。</a:t>
              </a:r>
              <a:endParaRPr lang="en-US" altLang="ja-JP" sz="1100" dirty="0">
                <a:latin typeface="Meiryo UI"/>
                <a:ea typeface="Meiryo UI"/>
              </a:endParaRPr>
            </a:p>
            <a:p>
              <a:pPr fontAlgn="base">
                <a:spcBef>
                  <a:spcPts val="600"/>
                </a:spcBef>
                <a:spcAft>
                  <a:spcPct val="0"/>
                </a:spcAft>
              </a:pPr>
              <a:endParaRPr lang="en-US" altLang="ja-JP" sz="1100" dirty="0">
                <a:latin typeface="Meiryo UI"/>
                <a:ea typeface="Meiryo UI"/>
              </a:endParaRPr>
            </a:p>
          </p:txBody>
        </p:sp>
      </p:grpSp>
      <p:grpSp>
        <p:nvGrpSpPr>
          <p:cNvPr id="33" name="グループ化 32">
            <a:extLst>
              <a:ext uri="{FF2B5EF4-FFF2-40B4-BE49-F238E27FC236}">
                <a16:creationId xmlns:a16="http://schemas.microsoft.com/office/drawing/2014/main" id="{2E923F93-3FCF-64A6-E812-A90A8322AB09}"/>
              </a:ext>
            </a:extLst>
          </p:cNvPr>
          <p:cNvGrpSpPr/>
          <p:nvPr/>
        </p:nvGrpSpPr>
        <p:grpSpPr>
          <a:xfrm>
            <a:off x="647616" y="4466856"/>
            <a:ext cx="5959050" cy="605265"/>
            <a:chOff x="647616" y="4586907"/>
            <a:chExt cx="5959050" cy="605265"/>
          </a:xfrm>
        </p:grpSpPr>
        <p:sp>
          <p:nvSpPr>
            <p:cNvPr id="103" name="テキスト ボックス 102">
              <a:extLst>
                <a:ext uri="{FF2B5EF4-FFF2-40B4-BE49-F238E27FC236}">
                  <a16:creationId xmlns:a16="http://schemas.microsoft.com/office/drawing/2014/main" id="{D6AAA89E-E0CB-A482-3784-3BC0BD996174}"/>
                </a:ext>
              </a:extLst>
            </p:cNvPr>
            <p:cNvSpPr txBox="1"/>
            <p:nvPr/>
          </p:nvSpPr>
          <p:spPr>
            <a:xfrm>
              <a:off x="647616" y="4586907"/>
              <a:ext cx="5220000" cy="264688"/>
            </a:xfrm>
            <a:prstGeom prst="rect">
              <a:avLst/>
            </a:prstGeom>
            <a:noFill/>
          </p:spPr>
          <p:txBody>
            <a:bodyPr wrap="square" lIns="0" tIns="0" rIns="0" bIns="0" rtlCol="0">
              <a:spAutoFit/>
            </a:bodyPr>
            <a:lstStyle/>
            <a:p>
              <a:pPr fontAlgn="base">
                <a:lnSpc>
                  <a:spcPct val="110000"/>
                </a:lnSpc>
              </a:pPr>
              <a:r>
                <a:rPr kumimoji="1" lang="en-US" altLang="ja-JP"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PJMO</a:t>
              </a: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の管理対象に整合させる</a:t>
              </a:r>
              <a:endParaRPr kumimoji="1"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104" name="テキスト ボックス 103">
              <a:extLst>
                <a:ext uri="{FF2B5EF4-FFF2-40B4-BE49-F238E27FC236}">
                  <a16:creationId xmlns:a16="http://schemas.microsoft.com/office/drawing/2014/main" id="{18BBF1D3-3B9A-DE23-D42A-F7E26E082098}"/>
                </a:ext>
              </a:extLst>
            </p:cNvPr>
            <p:cNvSpPr txBox="1"/>
            <p:nvPr/>
          </p:nvSpPr>
          <p:spPr>
            <a:xfrm>
              <a:off x="666666" y="4853618"/>
              <a:ext cx="5940000" cy="338554"/>
            </a:xfrm>
            <a:prstGeom prst="rect">
              <a:avLst/>
            </a:prstGeom>
            <a:noFill/>
          </p:spPr>
          <p:txBody>
            <a:bodyPr wrap="square" lIns="0" tIns="0" rIns="0" bIns="0" rtlCol="0">
              <a:spAutoFit/>
            </a:bodyPr>
            <a:lstStyle/>
            <a:p>
              <a:pPr fontAlgn="base"/>
              <a:r>
                <a:rPr lang="ja-JP" altLang="en-US" sz="1100" dirty="0">
                  <a:latin typeface="Meiryo UI"/>
                  <a:ea typeface="Meiryo UI"/>
                </a:rPr>
                <a:t>政策の目的を達成すべく、前ページのとおり</a:t>
              </a:r>
              <a:r>
                <a:rPr lang="en-US" altLang="ja-JP" sz="1100" b="1" dirty="0">
                  <a:latin typeface="Meiryo UI"/>
                  <a:ea typeface="Meiryo UI"/>
                </a:rPr>
                <a:t>PJMO</a:t>
              </a:r>
              <a:r>
                <a:rPr lang="ja-JP" altLang="en-US" sz="1100" b="1" dirty="0">
                  <a:latin typeface="Meiryo UI"/>
                  <a:ea typeface="Meiryo UI"/>
                </a:rPr>
                <a:t>が情報システムのライフサイクル全体を管理する役割を担っているため、プロジェクトもライフサイクル全体として整合をとっている</a:t>
              </a:r>
              <a:r>
                <a:rPr lang="ja-JP" altLang="en-US" sz="1100" dirty="0">
                  <a:latin typeface="Meiryo UI"/>
                  <a:ea typeface="Meiryo UI"/>
                </a:rPr>
                <a:t>。</a:t>
              </a:r>
              <a:endParaRPr kumimoji="1" lang="ja-JP" altLang="en-US" sz="1100" kern="500" dirty="0">
                <a:latin typeface="Segoe UI" panose="020B0502040204020203" pitchFamily="34" charset="0"/>
                <a:ea typeface="メイリオ" panose="020B0604030504040204" pitchFamily="50" charset="-128"/>
                <a:cs typeface="Segoe UI" panose="020B0502040204020203" pitchFamily="34" charset="0"/>
              </a:endParaRPr>
            </a:p>
          </p:txBody>
        </p:sp>
      </p:grpSp>
      <p:sp>
        <p:nvSpPr>
          <p:cNvPr id="120" name="テキスト ボックス 119">
            <a:extLst>
              <a:ext uri="{FF2B5EF4-FFF2-40B4-BE49-F238E27FC236}">
                <a16:creationId xmlns:a16="http://schemas.microsoft.com/office/drawing/2014/main" id="{8A26270C-28FB-86A5-2FA9-6D2829B3CE73}"/>
              </a:ext>
            </a:extLst>
          </p:cNvPr>
          <p:cNvSpPr txBox="1"/>
          <p:nvPr/>
        </p:nvSpPr>
        <p:spPr>
          <a:xfrm>
            <a:off x="7095980" y="5400000"/>
            <a:ext cx="4680000" cy="1378839"/>
          </a:xfrm>
          <a:prstGeom prst="rect">
            <a:avLst/>
          </a:prstGeom>
          <a:noFill/>
        </p:spPr>
        <p:txBody>
          <a:bodyPr wrap="square" lIns="0" tIns="0" rIns="0" bIns="0" rtlCol="0">
            <a:spAutoFit/>
          </a:bodyPr>
          <a:lstStyle/>
          <a:p>
            <a:pPr fontAlgn="base">
              <a:lnSpc>
                <a:spcPct val="110000"/>
              </a:lnSpc>
              <a:spcBef>
                <a:spcPts val="200"/>
              </a:spcBef>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脚注</a:t>
            </a:r>
            <a:br>
              <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b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1</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DS-130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標準ガイドライン群用語集から引用</a:t>
            </a:r>
            <a:endParaRPr lang="en-US" altLang="ja-JP" sz="800" kern="500" dirty="0">
              <a:latin typeface="Meiryo UI" panose="020B0604030504040204" pitchFamily="50" charset="-128"/>
              <a:ea typeface="Meiryo UI" panose="020B0604030504040204" pitchFamily="50" charset="-128"/>
              <a:cs typeface="Segoe UI" panose="020B0502040204020203" pitchFamily="34" charset="0"/>
            </a:endParaRPr>
          </a:p>
          <a:p>
            <a:pPr fontAlgn="base"/>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DS-100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デジタル・ガバメント推進標準ガイドライン「図３</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プロジェクトの標準的な活動スケジュール」を基に作成</a:t>
            </a:r>
            <a:endParaRPr lang="en-US" altLang="ja-JP" sz="800" kern="500" dirty="0">
              <a:latin typeface="Meiryo UI" panose="020B0604030504040204" pitchFamily="50" charset="-128"/>
              <a:ea typeface="Meiryo UI" panose="020B0604030504040204" pitchFamily="50" charset="-128"/>
              <a:cs typeface="Segoe UI" panose="020B0502040204020203" pitchFamily="34" charset="0"/>
            </a:endParaRPr>
          </a:p>
          <a:p>
            <a:pPr fontAlgn="base"/>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3</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］注記：</a:t>
            </a:r>
            <a:r>
              <a:rPr lang="ja-JP" altLang="en-US" sz="800" dirty="0">
                <a:latin typeface="Meiryo UI" panose="020B0604030504040204" pitchFamily="50" charset="-128"/>
                <a:ea typeface="Meiryo UI" panose="020B0604030504040204" pitchFamily="50" charset="-128"/>
              </a:rPr>
              <a:t>特定の工程の</a:t>
            </a:r>
            <a:r>
              <a:rPr lang="en-US" altLang="ja-JP" sz="800" dirty="0">
                <a:latin typeface="Meiryo UI" panose="020B0604030504040204" pitchFamily="50" charset="-128"/>
                <a:ea typeface="Meiryo UI" panose="020B0604030504040204" pitchFamily="50" charset="-128"/>
              </a:rPr>
              <a:t>IT</a:t>
            </a:r>
            <a:r>
              <a:rPr lang="ja-JP" altLang="en-US" sz="800" dirty="0">
                <a:latin typeface="Meiryo UI" panose="020B0604030504040204" pitchFamily="50" charset="-128"/>
                <a:ea typeface="Meiryo UI" panose="020B0604030504040204" pitchFamily="50" charset="-128"/>
              </a:rPr>
              <a:t>マネジメント等を担うことが多い</a:t>
            </a:r>
            <a:endParaRPr lang="ja-JP" altLang="en-US" sz="800" kern="500" dirty="0">
              <a:latin typeface="Meiryo UI" panose="020B0604030504040204" pitchFamily="50" charset="-128"/>
              <a:ea typeface="Meiryo UI" panose="020B0604030504040204" pitchFamily="50" charset="-128"/>
              <a:cs typeface="Segoe UI" panose="020B0502040204020203" pitchFamily="34" charset="0"/>
            </a:endParaRPr>
          </a:p>
          <a:p>
            <a:pPr lvl="0" fontAlgn="base">
              <a:spcBef>
                <a:spcPct val="0"/>
              </a:spcBef>
              <a:spcAft>
                <a:spcPct val="0"/>
              </a:spcAft>
              <a:defRPr/>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参考情報</a:t>
            </a:r>
            <a:br>
              <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DS-100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　第１編総論　第４章用語</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DS-100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　第３篇</a:t>
            </a:r>
            <a:r>
              <a:rPr kumimoji="0" lang="en-US" altLang="ja-JP" sz="800" kern="0" dirty="0">
                <a:solidFill>
                  <a:prstClr val="black"/>
                </a:solidFill>
                <a:latin typeface="Meiryo UI" panose="020B0604030504040204" pitchFamily="50" charset="-128"/>
                <a:ea typeface="Meiryo UI" panose="020B0604030504040204" pitchFamily="50" charset="-128"/>
              </a:rPr>
              <a:t>IT</a:t>
            </a:r>
            <a:r>
              <a:rPr kumimoji="0" lang="ja-JP" altLang="en-US" sz="800" kern="0" dirty="0">
                <a:solidFill>
                  <a:prstClr val="black"/>
                </a:solidFill>
                <a:latin typeface="Meiryo UI" panose="020B0604030504040204" pitchFamily="50" charset="-128"/>
                <a:ea typeface="Meiryo UI" panose="020B0604030504040204" pitchFamily="50" charset="-128"/>
              </a:rPr>
              <a:t>マネジメント　第</a:t>
            </a:r>
            <a:r>
              <a:rPr kumimoji="0" lang="en-US" altLang="ja-JP" sz="800" kern="0" dirty="0">
                <a:solidFill>
                  <a:prstClr val="black"/>
                </a:solidFill>
                <a:latin typeface="Meiryo UI" panose="020B0604030504040204" pitchFamily="50" charset="-128"/>
                <a:ea typeface="Meiryo UI" panose="020B0604030504040204" pitchFamily="50" charset="-128"/>
              </a:rPr>
              <a:t>1</a:t>
            </a:r>
            <a:r>
              <a:rPr kumimoji="0" lang="ja-JP" altLang="en-US" sz="800" kern="0" dirty="0">
                <a:solidFill>
                  <a:prstClr val="black"/>
                </a:solidFill>
                <a:latin typeface="Meiryo UI" panose="020B0604030504040204" pitchFamily="50" charset="-128"/>
                <a:ea typeface="Meiryo UI" panose="020B0604030504040204" pitchFamily="50" charset="-128"/>
              </a:rPr>
              <a:t>章</a:t>
            </a:r>
            <a:r>
              <a:rPr kumimoji="0" lang="en-US" altLang="ja-JP" sz="800" kern="0" dirty="0">
                <a:solidFill>
                  <a:prstClr val="black"/>
                </a:solidFill>
                <a:latin typeface="Meiryo UI" panose="020B0604030504040204" pitchFamily="50" charset="-128"/>
                <a:ea typeface="Meiryo UI" panose="020B0604030504040204" pitchFamily="50" charset="-128"/>
              </a:rPr>
              <a:t>IT</a:t>
            </a:r>
            <a:r>
              <a:rPr kumimoji="0" lang="ja-JP" altLang="en-US" sz="800" kern="0" dirty="0">
                <a:solidFill>
                  <a:prstClr val="black"/>
                </a:solidFill>
                <a:latin typeface="Meiryo UI" panose="020B0604030504040204" pitchFamily="50" charset="-128"/>
                <a:ea typeface="Meiryo UI" panose="020B0604030504040204" pitchFamily="50" charset="-128"/>
              </a:rPr>
              <a:t>マネジメントの全体像　</a:t>
            </a:r>
            <a:r>
              <a:rPr kumimoji="0" lang="en-US" altLang="ja-JP" sz="800" kern="0" dirty="0">
                <a:solidFill>
                  <a:prstClr val="black"/>
                </a:solidFill>
                <a:latin typeface="Meiryo UI" panose="020B0604030504040204" pitchFamily="50" charset="-128"/>
                <a:ea typeface="Meiryo UI" panose="020B0604030504040204" pitchFamily="50" charset="-128"/>
              </a:rPr>
              <a:t>2</a:t>
            </a:r>
            <a:r>
              <a:rPr kumimoji="0" lang="ja-JP" altLang="en-US" sz="800" kern="0" dirty="0">
                <a:solidFill>
                  <a:prstClr val="black"/>
                </a:solidFill>
                <a:latin typeface="Meiryo UI" panose="020B0604030504040204" pitchFamily="50" charset="-128"/>
                <a:ea typeface="Meiryo UI" panose="020B0604030504040204" pitchFamily="50" charset="-128"/>
              </a:rPr>
              <a:t>．プロジェクトの標準的な活動スケジュール</a:t>
            </a:r>
            <a:endParaRPr kumimoji="0" lang="en-US" altLang="ja-JP" sz="800" kern="0" dirty="0">
              <a:solidFill>
                <a:prstClr val="black"/>
              </a:solidFill>
              <a:latin typeface="Meiryo UI" panose="020B0604030504040204" pitchFamily="50" charset="-128"/>
              <a:ea typeface="Meiryo UI" panose="020B0604030504040204" pitchFamily="50" charset="-128"/>
            </a:endParaRPr>
          </a:p>
          <a:p>
            <a:pPr lvl="0" fontAlgn="base">
              <a:spcAft>
                <a:spcPct val="0"/>
              </a:spcAft>
              <a:defRPr/>
            </a:pP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DS-110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デジタル・ガバメント推進標準ガイドライン解説書　第１章 ＩＴマネジメントの全体像 ２</a:t>
            </a:r>
            <a:r>
              <a:rPr kumimoji="0" lang="en-US" altLang="ja-JP" sz="800" kern="0" dirty="0">
                <a:solidFill>
                  <a:prstClr val="black"/>
                </a:solidFill>
                <a:latin typeface="Meiryo UI" panose="020B0604030504040204" pitchFamily="50" charset="-128"/>
                <a:ea typeface="Meiryo UI" panose="020B0604030504040204" pitchFamily="50" charset="-128"/>
              </a:rPr>
              <a:t>. </a:t>
            </a:r>
            <a:r>
              <a:rPr kumimoji="0" lang="ja-JP" altLang="en-US" sz="800" kern="0" dirty="0">
                <a:solidFill>
                  <a:prstClr val="black"/>
                </a:solidFill>
                <a:latin typeface="Meiryo UI" panose="020B0604030504040204" pitchFamily="50" charset="-128"/>
                <a:ea typeface="Meiryo UI" panose="020B0604030504040204" pitchFamily="50" charset="-128"/>
              </a:rPr>
              <a:t>プロジェクトの標準的な活動スケジュール</a:t>
            </a:r>
            <a:endParaRPr kumimoji="0" lang="en-US" altLang="ja-JP" sz="800" kern="0" dirty="0">
              <a:solidFill>
                <a:prstClr val="black"/>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95795698-51E6-DF9A-9D79-D3EF2D066CB9}"/>
              </a:ext>
            </a:extLst>
          </p:cNvPr>
          <p:cNvSpPr txBox="1"/>
          <p:nvPr/>
        </p:nvSpPr>
        <p:spPr>
          <a:xfrm>
            <a:off x="6957138" y="1615401"/>
            <a:ext cx="5400000" cy="201978"/>
          </a:xfrm>
          <a:prstGeom prst="rect">
            <a:avLst/>
          </a:prstGeom>
          <a:noFill/>
        </p:spPr>
        <p:txBody>
          <a:bodyPr wrap="square" lIns="0" tIns="0" rIns="0" bIns="0" rtlCol="0" anchor="ctr">
            <a:spAutoFit/>
          </a:bodyPr>
          <a:lstStyle/>
          <a:p>
            <a:pPr marL="324000" indent="-324000" fontAlgn="base">
              <a:lnSpc>
                <a:spcPct val="110000"/>
              </a:lnSpc>
              <a:buClr>
                <a:srgbClr val="009999"/>
              </a:buClr>
              <a:buFont typeface="Meiryo UI" panose="020B0604030504040204" pitchFamily="50" charset="-128"/>
              <a:buChar char="▐"/>
            </a:pPr>
            <a:r>
              <a:rPr lang="ja-JP" altLang="en-US" sz="1300" kern="500" dirty="0">
                <a:latin typeface="Segoe UI" panose="020B0502040204020203" pitchFamily="34" charset="0"/>
                <a:ea typeface="Meiryo UI" panose="020B0604030504040204" pitchFamily="50" charset="-128"/>
                <a:cs typeface="Segoe UI" panose="020B0502040204020203" pitchFamily="34" charset="0"/>
              </a:rPr>
              <a:t>図．プロジェクトの対象範囲はライフサイクル全体</a:t>
            </a:r>
            <a:r>
              <a:rPr lang="en-US" altLang="ja-JP" sz="1300" kern="500" baseline="30000" dirty="0">
                <a:latin typeface="Segoe UI" panose="020B0502040204020203" pitchFamily="34" charset="0"/>
                <a:ea typeface="Meiryo UI" panose="020B0604030504040204" pitchFamily="50" charset="-128"/>
                <a:cs typeface="Segoe UI" panose="020B0502040204020203" pitchFamily="34" charset="0"/>
              </a:rPr>
              <a:t> [2]</a:t>
            </a:r>
          </a:p>
        </p:txBody>
      </p:sp>
      <p:pic>
        <p:nvPicPr>
          <p:cNvPr id="2" name="図 1">
            <a:extLst>
              <a:ext uri="{FF2B5EF4-FFF2-40B4-BE49-F238E27FC236}">
                <a16:creationId xmlns:a16="http://schemas.microsoft.com/office/drawing/2014/main" id="{09E691F5-B4A6-2A95-6E71-BF7C688668A0}"/>
              </a:ext>
            </a:extLst>
          </p:cNvPr>
          <p:cNvPicPr>
            <a:picLocks noChangeAspect="1"/>
          </p:cNvPicPr>
          <p:nvPr/>
        </p:nvPicPr>
        <p:blipFill>
          <a:blip r:embed="rId3"/>
          <a:stretch>
            <a:fillRect/>
          </a:stretch>
        </p:blipFill>
        <p:spPr>
          <a:xfrm>
            <a:off x="7392342" y="1817379"/>
            <a:ext cx="3898405" cy="3569686"/>
          </a:xfrm>
          <a:prstGeom prst="rect">
            <a:avLst/>
          </a:prstGeom>
        </p:spPr>
      </p:pic>
    </p:spTree>
    <p:extLst>
      <p:ext uri="{BB962C8B-B14F-4D97-AF65-F5344CB8AC3E}">
        <p14:creationId xmlns:p14="http://schemas.microsoft.com/office/powerpoint/2010/main" val="3750103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ED169-4362-03EB-2947-0EFD262BF226}"/>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4DD4DB3D-42AB-B913-7707-1B35972C86C7}"/>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制度・業務・システムの三位一体の取組み</a:t>
            </a:r>
            <a:endParaRPr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20" name="正方形/長方形 19">
            <a:extLst>
              <a:ext uri="{FF2B5EF4-FFF2-40B4-BE49-F238E27FC236}">
                <a16:creationId xmlns:a16="http://schemas.microsoft.com/office/drawing/2014/main" id="{51B510B9-78FE-AD10-11FA-A3C439929912}"/>
              </a:ext>
            </a:extLst>
          </p:cNvPr>
          <p:cNvSpPr/>
          <p:nvPr/>
        </p:nvSpPr>
        <p:spPr>
          <a:xfrm>
            <a:off x="0" y="0"/>
            <a:ext cx="468000" cy="1512000"/>
          </a:xfrm>
          <a:prstGeom prst="rect">
            <a:avLst/>
          </a:prstGeom>
          <a:solidFill>
            <a:srgbClr val="D7E4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B08CDE00-FC11-4AEB-A717-24BE8F3828B9}"/>
              </a:ext>
            </a:extLst>
          </p:cNvPr>
          <p:cNvSpPr txBox="1"/>
          <p:nvPr/>
        </p:nvSpPr>
        <p:spPr>
          <a:xfrm>
            <a:off x="763660" y="983204"/>
            <a:ext cx="10980000" cy="314317"/>
          </a:xfrm>
          <a:prstGeom prst="rect">
            <a:avLst/>
          </a:prstGeom>
          <a:noFill/>
        </p:spPr>
        <p:txBody>
          <a:bodyPr wrap="square" lIns="0" tIns="0" rIns="0" bIns="0" rtlCol="0">
            <a:spAutoFit/>
          </a:bodyPr>
          <a:lstStyle/>
          <a:p>
            <a:pPr marL="342900" indent="-342900" fontAlgn="base">
              <a:lnSpc>
                <a:spcPct val="110000"/>
              </a:lnSpc>
              <a:buClr>
                <a:srgbClr val="009999"/>
              </a:buClr>
              <a:buFont typeface="メイリオ" panose="020B0604030504040204" pitchFamily="50" charset="-128"/>
              <a:buChar char="▶"/>
            </a:pP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企画・立案段階から、「制度・業務・システム」が連携して検討する。</a:t>
            </a:r>
          </a:p>
        </p:txBody>
      </p:sp>
      <p:sp>
        <p:nvSpPr>
          <p:cNvPr id="97" name="フリーフォーム: 図形 96">
            <a:extLst>
              <a:ext uri="{FF2B5EF4-FFF2-40B4-BE49-F238E27FC236}">
                <a16:creationId xmlns:a16="http://schemas.microsoft.com/office/drawing/2014/main" id="{77099D1A-47D7-ADF7-2291-BBA61172DEC4}"/>
              </a:ext>
            </a:extLst>
          </p:cNvPr>
          <p:cNvSpPr/>
          <p:nvPr/>
        </p:nvSpPr>
        <p:spPr>
          <a:xfrm>
            <a:off x="0" y="1615401"/>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説明</a:t>
            </a:r>
          </a:p>
        </p:txBody>
      </p:sp>
      <p:cxnSp>
        <p:nvCxnSpPr>
          <p:cNvPr id="98" name="直線コネクタ 97">
            <a:extLst>
              <a:ext uri="{FF2B5EF4-FFF2-40B4-BE49-F238E27FC236}">
                <a16:creationId xmlns:a16="http://schemas.microsoft.com/office/drawing/2014/main" id="{AE3FF0AF-0B26-E92C-4E86-416E4B68CB50}"/>
              </a:ext>
            </a:extLst>
          </p:cNvPr>
          <p:cNvCxnSpPr>
            <a:cxnSpLocks/>
          </p:cNvCxnSpPr>
          <p:nvPr/>
        </p:nvCxnSpPr>
        <p:spPr>
          <a:xfrm>
            <a:off x="2392680" y="1777401"/>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sp>
        <p:nvSpPr>
          <p:cNvPr id="105" name="フリーフォーム: 図形 104">
            <a:extLst>
              <a:ext uri="{FF2B5EF4-FFF2-40B4-BE49-F238E27FC236}">
                <a16:creationId xmlns:a16="http://schemas.microsoft.com/office/drawing/2014/main" id="{841B1BE2-F28E-4AC8-314F-07CE27F6324F}"/>
              </a:ext>
            </a:extLst>
          </p:cNvPr>
          <p:cNvSpPr/>
          <p:nvPr/>
        </p:nvSpPr>
        <p:spPr>
          <a:xfrm>
            <a:off x="0" y="3971556"/>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背景・経緯</a:t>
            </a:r>
          </a:p>
        </p:txBody>
      </p:sp>
      <p:cxnSp>
        <p:nvCxnSpPr>
          <p:cNvPr id="106" name="直線コネクタ 105">
            <a:extLst>
              <a:ext uri="{FF2B5EF4-FFF2-40B4-BE49-F238E27FC236}">
                <a16:creationId xmlns:a16="http://schemas.microsoft.com/office/drawing/2014/main" id="{2D3E71CA-AB05-85DE-FE9D-7902E5B1C9F8}"/>
              </a:ext>
            </a:extLst>
          </p:cNvPr>
          <p:cNvCxnSpPr>
            <a:cxnSpLocks/>
          </p:cNvCxnSpPr>
          <p:nvPr/>
        </p:nvCxnSpPr>
        <p:spPr>
          <a:xfrm>
            <a:off x="2392680" y="4133556"/>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grpSp>
        <p:nvGrpSpPr>
          <p:cNvPr id="30" name="グループ化 29">
            <a:extLst>
              <a:ext uri="{FF2B5EF4-FFF2-40B4-BE49-F238E27FC236}">
                <a16:creationId xmlns:a16="http://schemas.microsoft.com/office/drawing/2014/main" id="{FF3EAB31-843C-BCF7-2EFD-F77B9BEEBE99}"/>
              </a:ext>
            </a:extLst>
          </p:cNvPr>
          <p:cNvGrpSpPr/>
          <p:nvPr/>
        </p:nvGrpSpPr>
        <p:grpSpPr>
          <a:xfrm>
            <a:off x="593054" y="2087685"/>
            <a:ext cx="5959050" cy="619361"/>
            <a:chOff x="647616" y="2108832"/>
            <a:chExt cx="5959050" cy="619361"/>
          </a:xfrm>
        </p:grpSpPr>
        <p:sp>
          <p:nvSpPr>
            <p:cNvPr id="95" name="テキスト ボックス 94">
              <a:extLst>
                <a:ext uri="{FF2B5EF4-FFF2-40B4-BE49-F238E27FC236}">
                  <a16:creationId xmlns:a16="http://schemas.microsoft.com/office/drawing/2014/main" id="{E6F06405-BCF4-5618-4905-57FCF8F9D27E}"/>
                </a:ext>
              </a:extLst>
            </p:cNvPr>
            <p:cNvSpPr txBox="1"/>
            <p:nvPr/>
          </p:nvSpPr>
          <p:spPr>
            <a:xfrm>
              <a:off x="647616" y="2108832"/>
              <a:ext cx="5220000" cy="270843"/>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制度・業務・システムに係る三者の参加</a:t>
              </a:r>
              <a:endParaRPr kumimoji="1"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96" name="テキスト ボックス 95">
              <a:extLst>
                <a:ext uri="{FF2B5EF4-FFF2-40B4-BE49-F238E27FC236}">
                  <a16:creationId xmlns:a16="http://schemas.microsoft.com/office/drawing/2014/main" id="{32CE44C7-AFB5-63A3-7114-AA0720B4B738}"/>
                </a:ext>
              </a:extLst>
            </p:cNvPr>
            <p:cNvSpPr txBox="1"/>
            <p:nvPr/>
          </p:nvSpPr>
          <p:spPr>
            <a:xfrm>
              <a:off x="666666" y="2389639"/>
              <a:ext cx="5940000" cy="338554"/>
            </a:xfrm>
            <a:prstGeom prst="rect">
              <a:avLst/>
            </a:prstGeom>
            <a:noFill/>
          </p:spPr>
          <p:txBody>
            <a:bodyPr wrap="square" lIns="0" tIns="0" rIns="0" bIns="0" rtlCol="0">
              <a:spAutoFit/>
            </a:bodyPr>
            <a:lstStyle/>
            <a:p>
              <a:r>
                <a:rPr lang="ja-JP" altLang="en-US" sz="1100" b="1" dirty="0">
                  <a:latin typeface="Meiryo UI"/>
                  <a:ea typeface="Meiryo UI"/>
                </a:rPr>
                <a:t>制度所管部門、業務実施部門及び情報システム部門の三者を、</a:t>
              </a:r>
              <a:r>
                <a:rPr lang="ja-JP" altLang="en-US" sz="1100" dirty="0">
                  <a:latin typeface="Meiryo UI"/>
                  <a:ea typeface="Meiryo UI"/>
                </a:rPr>
                <a:t>企画や立案段階から</a:t>
              </a:r>
              <a:r>
                <a:rPr lang="en-US" altLang="ja-JP" sz="1100" b="1" dirty="0">
                  <a:latin typeface="Meiryo UI"/>
                  <a:ea typeface="Meiryo UI"/>
                </a:rPr>
                <a:t>PJMO</a:t>
              </a:r>
              <a:r>
                <a:rPr lang="ja-JP" altLang="en-US" sz="1100" b="1" dirty="0">
                  <a:latin typeface="Meiryo UI"/>
                  <a:ea typeface="Meiryo UI"/>
                </a:rPr>
                <a:t>の体制に含めて</a:t>
              </a:r>
              <a:r>
                <a:rPr lang="ja-JP" altLang="en-US" sz="1100" dirty="0">
                  <a:latin typeface="Meiryo UI"/>
                  <a:ea typeface="Meiryo UI"/>
                </a:rPr>
                <a:t>、制度・業務の設計、情報システムの整備や運用に関わる検討を行う。</a:t>
              </a:r>
              <a:endParaRPr lang="en-US" altLang="ja-JP" sz="1100" dirty="0">
                <a:latin typeface="Meiryo UI"/>
                <a:ea typeface="Meiryo UI"/>
              </a:endParaRPr>
            </a:p>
          </p:txBody>
        </p:sp>
      </p:grpSp>
      <p:sp>
        <p:nvSpPr>
          <p:cNvPr id="120" name="テキスト ボックス 119">
            <a:extLst>
              <a:ext uri="{FF2B5EF4-FFF2-40B4-BE49-F238E27FC236}">
                <a16:creationId xmlns:a16="http://schemas.microsoft.com/office/drawing/2014/main" id="{44EA7174-748E-54C8-FCAE-9BCB49BC0072}"/>
              </a:ext>
            </a:extLst>
          </p:cNvPr>
          <p:cNvSpPr txBox="1"/>
          <p:nvPr/>
        </p:nvSpPr>
        <p:spPr>
          <a:xfrm>
            <a:off x="7095980" y="5057100"/>
            <a:ext cx="4680000" cy="1144929"/>
          </a:xfrm>
          <a:prstGeom prst="rect">
            <a:avLst/>
          </a:prstGeom>
          <a:noFill/>
        </p:spPr>
        <p:txBody>
          <a:bodyPr wrap="square" lIns="0" tIns="0" rIns="0" bIns="0" rtlCol="0">
            <a:spAutoFit/>
          </a:bodyPr>
          <a:lstStyle/>
          <a:p>
            <a:pPr fontAlgn="base">
              <a:lnSpc>
                <a:spcPct val="110000"/>
              </a:lnSpc>
              <a:spcBef>
                <a:spcPts val="200"/>
              </a:spcBef>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脚注</a:t>
            </a:r>
            <a:br>
              <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b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1</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］出典：デジタル庁「システム最適化・見える化及び制度・業務・システムの三位一体の取組の推進について」</a:t>
            </a:r>
            <a:r>
              <a:rPr lang="ja-JP" altLang="en-US" sz="800" dirty="0">
                <a:solidFill>
                  <a:prstClr val="black"/>
                </a:solidFill>
                <a:latin typeface="Meiryo UI" panose="020B0604030504040204" pitchFamily="50" charset="-128"/>
                <a:ea typeface="Meiryo UI" panose="020B0604030504040204" pitchFamily="50" charset="-128"/>
              </a:rPr>
              <a:t>」（</a:t>
            </a:r>
            <a:r>
              <a:rPr lang="en-US" altLang="ja-JP" sz="800" b="1" dirty="0">
                <a:solidFill>
                  <a:prstClr val="black"/>
                </a:solidFill>
                <a:latin typeface="Meiryo UI" panose="020B0604030504040204" pitchFamily="50" charset="-128"/>
                <a:ea typeface="Meiryo UI" panose="020B0604030504040204" pitchFamily="50" charset="-128"/>
                <a:hlinkClick r:id="rId3"/>
              </a:rPr>
              <a:t>Link</a:t>
            </a:r>
            <a:r>
              <a:rPr lang="ja-JP" altLang="en-US" sz="800" dirty="0">
                <a:solidFill>
                  <a:prstClr val="black"/>
                </a:solidFill>
                <a:latin typeface="Meiryo UI" panose="020B0604030504040204" pitchFamily="50" charset="-128"/>
                <a:ea typeface="Meiryo UI" panose="020B0604030504040204" pitchFamily="50" charset="-128"/>
              </a:rPr>
              <a:t>）　から引用</a:t>
            </a:r>
            <a:endParaRPr lang="en-US" altLang="ja-JP" sz="800" dirty="0">
              <a:solidFill>
                <a:prstClr val="black"/>
              </a:solidFill>
              <a:latin typeface="Meiryo UI" panose="020B0604030504040204" pitchFamily="50" charset="-128"/>
              <a:ea typeface="Meiryo UI" panose="020B0604030504040204" pitchFamily="50" charset="-128"/>
            </a:endParaRPr>
          </a:p>
          <a:p>
            <a:pPr lvl="0" fontAlgn="base">
              <a:spcBef>
                <a:spcPct val="0"/>
              </a:spcBef>
              <a:spcAft>
                <a:spcPct val="0"/>
              </a:spcAft>
              <a:defRPr/>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参考情報</a:t>
            </a:r>
            <a:br>
              <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DS-110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デジタル・ガバメント推進標準ガイドライン解説書　第２章 プロジェクトの管理 ２</a:t>
            </a:r>
            <a:r>
              <a:rPr kumimoji="0" lang="en-US" altLang="ja-JP" sz="800" kern="0" dirty="0">
                <a:solidFill>
                  <a:prstClr val="black"/>
                </a:solidFill>
                <a:latin typeface="Meiryo UI" panose="020B0604030504040204" pitchFamily="50" charset="-128"/>
                <a:ea typeface="Meiryo UI" panose="020B0604030504040204" pitchFamily="50" charset="-128"/>
              </a:rPr>
              <a:t>. </a:t>
            </a:r>
            <a:r>
              <a:rPr kumimoji="0" lang="ja-JP" altLang="en-US" sz="800" kern="0" dirty="0">
                <a:solidFill>
                  <a:prstClr val="black"/>
                </a:solidFill>
                <a:latin typeface="Meiryo UI" panose="020B0604030504040204" pitchFamily="50" charset="-128"/>
                <a:ea typeface="Meiryo UI" panose="020B0604030504040204" pitchFamily="50" charset="-128"/>
              </a:rPr>
              <a:t>プロジェクト計画の策定</a:t>
            </a:r>
          </a:p>
          <a:p>
            <a:pPr lvl="0" fontAlgn="base">
              <a:spcAft>
                <a:spcPct val="0"/>
              </a:spcAft>
              <a:defRPr/>
            </a:pP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DS-120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デジタル・ガバメント推進標準ガイドライン実践ガイドブック　第３編第２章 プロジェクトの管理 ５ 機能する体制を作る</a:t>
            </a:r>
            <a:endParaRPr lang="en-US" altLang="ja-JP" sz="800" b="1" dirty="0">
              <a:solidFill>
                <a:prstClr val="black"/>
              </a:solidFill>
              <a:latin typeface="Meiryo UI" panose="020B0604030504040204" pitchFamily="50" charset="-128"/>
              <a:ea typeface="Meiryo UI" panose="020B0604030504040204" pitchFamily="50" charset="-128"/>
            </a:endParaRPr>
          </a:p>
          <a:p>
            <a:pPr lvl="0" fontAlgn="base">
              <a:spcAft>
                <a:spcPct val="0"/>
              </a:spcAft>
              <a:defRPr/>
            </a:pPr>
            <a:r>
              <a:rPr lang="ja-JP" altLang="en-US" sz="800" dirty="0">
                <a:solidFill>
                  <a:prstClr val="black"/>
                </a:solidFill>
                <a:latin typeface="Meiryo UI" panose="020B0604030504040204" pitchFamily="50" charset="-128"/>
                <a:ea typeface="Meiryo UI" panose="020B0604030504040204" pitchFamily="50" charset="-128"/>
              </a:rPr>
              <a:t>・デジタル庁 令和６年７月</a:t>
            </a:r>
            <a:r>
              <a:rPr lang="en-US" altLang="ja-JP" sz="800" dirty="0">
                <a:solidFill>
                  <a:prstClr val="black"/>
                </a:solidFill>
                <a:latin typeface="Meiryo UI" panose="020B0604030504040204" pitchFamily="50" charset="-128"/>
                <a:ea typeface="Meiryo UI" panose="020B0604030504040204" pitchFamily="50" charset="-128"/>
              </a:rPr>
              <a:t>30</a:t>
            </a:r>
            <a:r>
              <a:rPr lang="ja-JP" altLang="en-US" sz="800" dirty="0">
                <a:solidFill>
                  <a:prstClr val="black"/>
                </a:solidFill>
                <a:latin typeface="Meiryo UI" panose="020B0604030504040204" pitchFamily="50" charset="-128"/>
                <a:ea typeface="Meiryo UI" panose="020B0604030504040204" pitchFamily="50" charset="-128"/>
              </a:rPr>
              <a:t>日各府省</a:t>
            </a:r>
            <a:r>
              <a:rPr lang="en-US" altLang="ja-JP" sz="800" dirty="0">
                <a:solidFill>
                  <a:prstClr val="black"/>
                </a:solidFill>
                <a:latin typeface="Meiryo UI" panose="020B0604030504040204" pitchFamily="50" charset="-128"/>
                <a:ea typeface="Meiryo UI" panose="020B0604030504040204" pitchFamily="50" charset="-128"/>
              </a:rPr>
              <a:t>DX</a:t>
            </a:r>
            <a:r>
              <a:rPr lang="ja-JP" altLang="en-US" sz="800" dirty="0">
                <a:solidFill>
                  <a:prstClr val="black"/>
                </a:solidFill>
                <a:latin typeface="Meiryo UI" panose="020B0604030504040204" pitchFamily="50" charset="-128"/>
                <a:ea typeface="Meiryo UI" panose="020B0604030504040204" pitchFamily="50" charset="-128"/>
              </a:rPr>
              <a:t>推進連絡会議・デジタル社会推進会議幹事会合同会議</a:t>
            </a:r>
            <a:br>
              <a:rPr lang="en-US" altLang="ja-JP" sz="800" dirty="0">
                <a:solidFill>
                  <a:prstClr val="black"/>
                </a:solidFill>
                <a:latin typeface="Meiryo UI" panose="020B0604030504040204" pitchFamily="50" charset="-128"/>
                <a:ea typeface="Meiryo UI" panose="020B0604030504040204" pitchFamily="50" charset="-128"/>
              </a:rPr>
            </a:br>
            <a:r>
              <a:rPr lang="ja-JP" altLang="en-US" sz="800" dirty="0">
                <a:solidFill>
                  <a:prstClr val="black"/>
                </a:solidFill>
                <a:latin typeface="Meiryo UI" panose="020B0604030504040204" pitchFamily="50" charset="-128"/>
                <a:ea typeface="Meiryo UI" panose="020B0604030504040204" pitchFamily="50" charset="-128"/>
              </a:rPr>
              <a:t>「システム最適化・見える化及び制度・業務・システムの三位一体の取組の推進について」（</a:t>
            </a:r>
            <a:r>
              <a:rPr lang="en-US" altLang="ja-JP" sz="800" b="1" dirty="0">
                <a:solidFill>
                  <a:prstClr val="black"/>
                </a:solidFill>
                <a:latin typeface="Meiryo UI" panose="020B0604030504040204" pitchFamily="50" charset="-128"/>
                <a:ea typeface="Meiryo UI" panose="020B0604030504040204" pitchFamily="50" charset="-128"/>
                <a:hlinkClick r:id="rId3"/>
              </a:rPr>
              <a:t>Link</a:t>
            </a:r>
            <a:r>
              <a:rPr lang="ja-JP" altLang="en-US" sz="800" dirty="0">
                <a:solidFill>
                  <a:prstClr val="black"/>
                </a:solidFill>
                <a:latin typeface="Meiryo UI" panose="020B0604030504040204" pitchFamily="50" charset="-128"/>
                <a:ea typeface="Meiryo UI" panose="020B0604030504040204" pitchFamily="50" charset="-128"/>
              </a:rPr>
              <a:t>）　</a:t>
            </a:r>
            <a:endParaRPr lang="en-US" altLang="ja-JP" sz="800" dirty="0">
              <a:solidFill>
                <a:prstClr val="black"/>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D776836E-2F6D-C287-B2A6-F615562DE363}"/>
              </a:ext>
            </a:extLst>
          </p:cNvPr>
          <p:cNvSpPr txBox="1"/>
          <p:nvPr/>
        </p:nvSpPr>
        <p:spPr>
          <a:xfrm>
            <a:off x="6957138" y="1615401"/>
            <a:ext cx="5400000" cy="201978"/>
          </a:xfrm>
          <a:prstGeom prst="rect">
            <a:avLst/>
          </a:prstGeom>
          <a:noFill/>
        </p:spPr>
        <p:txBody>
          <a:bodyPr wrap="square" lIns="0" tIns="0" rIns="0" bIns="0" rtlCol="0" anchor="ctr">
            <a:spAutoFit/>
          </a:bodyPr>
          <a:lstStyle/>
          <a:p>
            <a:pPr marL="324000" indent="-324000" fontAlgn="base">
              <a:lnSpc>
                <a:spcPct val="110000"/>
              </a:lnSpc>
              <a:buClr>
                <a:srgbClr val="009999"/>
              </a:buClr>
              <a:buFont typeface="Meiryo UI" panose="020B0604030504040204" pitchFamily="50" charset="-128"/>
              <a:buChar char="▐"/>
            </a:pPr>
            <a:r>
              <a:rPr lang="ja-JP" altLang="en-US" sz="1300" kern="500" dirty="0">
                <a:latin typeface="Segoe UI" panose="020B0502040204020203" pitchFamily="34" charset="0"/>
                <a:ea typeface="Meiryo UI" panose="020B0604030504040204" pitchFamily="50" charset="-128"/>
                <a:cs typeface="Segoe UI" panose="020B0502040204020203" pitchFamily="34" charset="0"/>
              </a:rPr>
              <a:t>図．制度・業務・システムの取組</a:t>
            </a:r>
            <a:r>
              <a:rPr lang="en-US" altLang="ja-JP" sz="1300" kern="500" baseline="30000" dirty="0">
                <a:latin typeface="Segoe UI" panose="020B0502040204020203" pitchFamily="34" charset="0"/>
                <a:ea typeface="Meiryo UI" panose="020B0604030504040204" pitchFamily="50" charset="-128"/>
                <a:cs typeface="Segoe UI" panose="020B0502040204020203" pitchFamily="34" charset="0"/>
              </a:rPr>
              <a:t>[1]</a:t>
            </a:r>
          </a:p>
        </p:txBody>
      </p:sp>
      <p:sp>
        <p:nvSpPr>
          <p:cNvPr id="9" name="テキスト ボックス 8">
            <a:extLst>
              <a:ext uri="{FF2B5EF4-FFF2-40B4-BE49-F238E27FC236}">
                <a16:creationId xmlns:a16="http://schemas.microsoft.com/office/drawing/2014/main" id="{E0285428-7534-EBE1-DF5E-253A1CEA83AC}"/>
              </a:ext>
            </a:extLst>
          </p:cNvPr>
          <p:cNvSpPr txBox="1"/>
          <p:nvPr/>
        </p:nvSpPr>
        <p:spPr>
          <a:xfrm>
            <a:off x="647616" y="4839444"/>
            <a:ext cx="5220000" cy="264688"/>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・制度自体に踏み込んだ検討</a:t>
            </a:r>
          </a:p>
        </p:txBody>
      </p:sp>
      <p:sp>
        <p:nvSpPr>
          <p:cNvPr id="10" name="テキスト ボックス 9">
            <a:extLst>
              <a:ext uri="{FF2B5EF4-FFF2-40B4-BE49-F238E27FC236}">
                <a16:creationId xmlns:a16="http://schemas.microsoft.com/office/drawing/2014/main" id="{0D275418-604C-6F82-5544-E9E89AD91568}"/>
              </a:ext>
            </a:extLst>
          </p:cNvPr>
          <p:cNvSpPr txBox="1"/>
          <p:nvPr/>
        </p:nvSpPr>
        <p:spPr>
          <a:xfrm>
            <a:off x="665902" y="5090133"/>
            <a:ext cx="5940000" cy="677108"/>
          </a:xfrm>
          <a:prstGeom prst="rect">
            <a:avLst/>
          </a:prstGeom>
          <a:noFill/>
        </p:spPr>
        <p:txBody>
          <a:bodyPr wrap="square" lIns="0" tIns="0" rIns="0" bIns="0" rtlCol="0">
            <a:spAutoFit/>
          </a:bodyPr>
          <a:lstStyle/>
          <a:p>
            <a:pPr marL="266700" defTabSz="216000"/>
            <a:r>
              <a:rPr lang="ja-JP" altLang="en-US" sz="1100" dirty="0">
                <a:latin typeface="Meiryo UI"/>
                <a:ea typeface="Meiryo UI"/>
              </a:rPr>
              <a:t>サービス・業務の検討に当たって、業務実施ルールを含めて一体で検討するという点は民間でも同様。</a:t>
            </a:r>
            <a:endParaRPr lang="en-US" altLang="ja-JP" sz="1100" dirty="0">
              <a:latin typeface="Meiryo UI"/>
              <a:ea typeface="Meiryo UI"/>
            </a:endParaRPr>
          </a:p>
          <a:p>
            <a:pPr marL="266700" defTabSz="216000"/>
            <a:r>
              <a:rPr lang="ja-JP" altLang="en-US" sz="1100" dirty="0">
                <a:latin typeface="Meiryo UI"/>
                <a:ea typeface="Meiryo UI"/>
              </a:rPr>
              <a:t>ただし、行政機関では制度・業務・システムの各担当部門が別組織となり連携が行いにくくなることも多いため、三位一体の検討の重要性を強調している。また、制度所管部門を検討に組み入れることで、制度自体の変更も実施できる体制となる。</a:t>
            </a:r>
            <a:endParaRPr lang="en-US" altLang="ja-JP" sz="1100" strike="sngStrike" dirty="0">
              <a:latin typeface="Meiryo UI"/>
              <a:ea typeface="Meiryo UI"/>
            </a:endParaRPr>
          </a:p>
        </p:txBody>
      </p:sp>
      <p:sp>
        <p:nvSpPr>
          <p:cNvPr id="13" name="テキスト ボックス 12">
            <a:extLst>
              <a:ext uri="{FF2B5EF4-FFF2-40B4-BE49-F238E27FC236}">
                <a16:creationId xmlns:a16="http://schemas.microsoft.com/office/drawing/2014/main" id="{6C404058-84A6-C279-2567-21BDFD7FCA1C}"/>
              </a:ext>
            </a:extLst>
          </p:cNvPr>
          <p:cNvSpPr txBox="1"/>
          <p:nvPr/>
        </p:nvSpPr>
        <p:spPr>
          <a:xfrm>
            <a:off x="665902" y="4464577"/>
            <a:ext cx="5940000" cy="338554"/>
          </a:xfrm>
          <a:prstGeom prst="rect">
            <a:avLst/>
          </a:prstGeom>
          <a:noFill/>
        </p:spPr>
        <p:txBody>
          <a:bodyPr wrap="square" lIns="0" tIns="0" rIns="0" bIns="0" rtlCol="0">
            <a:spAutoFit/>
          </a:bodyPr>
          <a:lstStyle/>
          <a:p>
            <a:r>
              <a:rPr lang="ja-JP" altLang="en-US" sz="1100" dirty="0">
                <a:highlight>
                  <a:srgbClr val="FFFFFF"/>
                </a:highlight>
                <a:latin typeface="Meiryo UI" panose="020B0604030504040204" pitchFamily="50" charset="-128"/>
                <a:ea typeface="Meiryo UI" panose="020B0604030504040204" pitchFamily="50" charset="-128"/>
              </a:rPr>
              <a:t>以下のような行政機関の特徴を踏まえ、制度・業務・システムの整合性を確保することで、より効果の高いサービス・業務を実現するため。</a:t>
            </a:r>
            <a:endParaRPr lang="en-US" altLang="ja-JP" sz="1100" b="1" dirty="0">
              <a:latin typeface="Meiryo UI"/>
              <a:ea typeface="Meiryo UI"/>
            </a:endParaRPr>
          </a:p>
        </p:txBody>
      </p:sp>
      <p:sp>
        <p:nvSpPr>
          <p:cNvPr id="14" name="テキスト ボックス 13">
            <a:extLst>
              <a:ext uri="{FF2B5EF4-FFF2-40B4-BE49-F238E27FC236}">
                <a16:creationId xmlns:a16="http://schemas.microsoft.com/office/drawing/2014/main" id="{C8E66F9F-6942-1FED-05FE-964B5445A35B}"/>
              </a:ext>
            </a:extLst>
          </p:cNvPr>
          <p:cNvSpPr txBox="1"/>
          <p:nvPr/>
        </p:nvSpPr>
        <p:spPr>
          <a:xfrm>
            <a:off x="647616" y="5824448"/>
            <a:ext cx="5220000" cy="264688"/>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・外部の組織を巻き込む必要</a:t>
            </a:r>
          </a:p>
        </p:txBody>
      </p:sp>
      <p:sp>
        <p:nvSpPr>
          <p:cNvPr id="16" name="テキスト ボックス 15">
            <a:extLst>
              <a:ext uri="{FF2B5EF4-FFF2-40B4-BE49-F238E27FC236}">
                <a16:creationId xmlns:a16="http://schemas.microsoft.com/office/drawing/2014/main" id="{5DE96D4A-29AB-1C93-2C57-D3FAB7B0A4CB}"/>
              </a:ext>
            </a:extLst>
          </p:cNvPr>
          <p:cNvSpPr txBox="1"/>
          <p:nvPr/>
        </p:nvSpPr>
        <p:spPr>
          <a:xfrm>
            <a:off x="665902" y="6089136"/>
            <a:ext cx="5940000" cy="507831"/>
          </a:xfrm>
          <a:prstGeom prst="rect">
            <a:avLst/>
          </a:prstGeom>
          <a:noFill/>
        </p:spPr>
        <p:txBody>
          <a:bodyPr wrap="square" lIns="0" tIns="0" rIns="0" bIns="0" rtlCol="0">
            <a:spAutoFit/>
          </a:bodyPr>
          <a:lstStyle/>
          <a:p>
            <a:pPr marL="266700" defTabSz="216000"/>
            <a:r>
              <a:rPr lang="ja-JP" altLang="en-US" sz="1100" dirty="0">
                <a:highlight>
                  <a:srgbClr val="FFFFFF"/>
                </a:highlight>
                <a:latin typeface="Meiryo UI" panose="020B0604030504040204" pitchFamily="50" charset="-128"/>
                <a:ea typeface="Meiryo UI" panose="020B0604030504040204" pitchFamily="50" charset="-128"/>
              </a:rPr>
              <a:t>行政機関では、制度・業務・システムの担当部門が、組織をまたいで存在することも多い（例えば、制度所管部門は当該府省内だが、業務実施部門が独立行政法人や地方公共団体等となる等）。</a:t>
            </a:r>
            <a:endParaRPr lang="en-US" altLang="ja-JP" sz="1100" dirty="0">
              <a:highlight>
                <a:srgbClr val="FFFFFF"/>
              </a:highlight>
              <a:latin typeface="Meiryo UI" panose="020B0604030504040204" pitchFamily="50" charset="-128"/>
              <a:ea typeface="Meiryo UI" panose="020B0604030504040204" pitchFamily="50" charset="-128"/>
            </a:endParaRPr>
          </a:p>
          <a:p>
            <a:pPr marL="266700" defTabSz="216000"/>
            <a:r>
              <a:rPr lang="ja-JP" altLang="en-US" sz="1100" dirty="0">
                <a:highlight>
                  <a:srgbClr val="FFFFFF"/>
                </a:highlight>
                <a:latin typeface="Meiryo UI" panose="020B0604030504040204" pitchFamily="50" charset="-128"/>
                <a:ea typeface="Meiryo UI" panose="020B0604030504040204" pitchFamily="50" charset="-128"/>
              </a:rPr>
              <a:t>このような場合においては、当該組織と連携して活動することが重要となる。</a:t>
            </a:r>
            <a:endParaRPr lang="en-US" altLang="ja-JP" sz="1100" strike="sngStrike" dirty="0">
              <a:solidFill>
                <a:srgbClr val="FF0000"/>
              </a:solidFill>
              <a:highlight>
                <a:srgbClr val="FFFFFF"/>
              </a:highlight>
              <a:latin typeface="Meiryo UI" panose="020B0604030504040204" pitchFamily="50" charset="-128"/>
              <a:ea typeface="Meiryo UI" panose="020B0604030504040204" pitchFamily="50" charset="-128"/>
            </a:endParaRPr>
          </a:p>
        </p:txBody>
      </p:sp>
      <p:pic>
        <p:nvPicPr>
          <p:cNvPr id="17" name="図 16">
            <a:extLst>
              <a:ext uri="{FF2B5EF4-FFF2-40B4-BE49-F238E27FC236}">
                <a16:creationId xmlns:a16="http://schemas.microsoft.com/office/drawing/2014/main" id="{FEECA3A8-B462-0C1C-DB9B-11FE9D7B2E15}"/>
              </a:ext>
            </a:extLst>
          </p:cNvPr>
          <p:cNvPicPr>
            <a:picLocks noChangeAspect="1"/>
          </p:cNvPicPr>
          <p:nvPr/>
        </p:nvPicPr>
        <p:blipFill>
          <a:blip r:embed="rId4"/>
          <a:stretch>
            <a:fillRect/>
          </a:stretch>
        </p:blipFill>
        <p:spPr>
          <a:xfrm>
            <a:off x="7379156" y="1857631"/>
            <a:ext cx="4113648" cy="2883945"/>
          </a:xfrm>
          <a:prstGeom prst="rect">
            <a:avLst/>
          </a:prstGeom>
        </p:spPr>
      </p:pic>
    </p:spTree>
    <p:extLst>
      <p:ext uri="{BB962C8B-B14F-4D97-AF65-F5344CB8AC3E}">
        <p14:creationId xmlns:p14="http://schemas.microsoft.com/office/powerpoint/2010/main" val="3083430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67286-3B1F-DB47-2498-8FE65EB15204}"/>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95AFA6E4-F451-8A8D-8243-C74D81B97DEE}"/>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デジタル</a:t>
            </a:r>
            <a:r>
              <a:rPr kumimoji="1"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3</a:t>
            </a:r>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原則</a:t>
            </a:r>
            <a:endParaRPr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20" name="正方形/長方形 19">
            <a:extLst>
              <a:ext uri="{FF2B5EF4-FFF2-40B4-BE49-F238E27FC236}">
                <a16:creationId xmlns:a16="http://schemas.microsoft.com/office/drawing/2014/main" id="{8B4645E0-6B5E-B039-C60B-E5879DE22A88}"/>
              </a:ext>
            </a:extLst>
          </p:cNvPr>
          <p:cNvSpPr/>
          <p:nvPr/>
        </p:nvSpPr>
        <p:spPr>
          <a:xfrm>
            <a:off x="0" y="0"/>
            <a:ext cx="468000" cy="1512000"/>
          </a:xfrm>
          <a:prstGeom prst="rect">
            <a:avLst/>
          </a:prstGeom>
          <a:solidFill>
            <a:srgbClr val="D7E4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4F139D9B-70F5-A6CF-894F-62622DFAD0B9}"/>
              </a:ext>
            </a:extLst>
          </p:cNvPr>
          <p:cNvSpPr txBox="1"/>
          <p:nvPr/>
        </p:nvSpPr>
        <p:spPr>
          <a:xfrm>
            <a:off x="763660" y="983204"/>
            <a:ext cx="10980000" cy="635943"/>
          </a:xfrm>
          <a:prstGeom prst="rect">
            <a:avLst/>
          </a:prstGeom>
          <a:noFill/>
        </p:spPr>
        <p:txBody>
          <a:bodyPr wrap="square" lIns="0" tIns="0" rIns="0" bIns="0" rtlCol="0">
            <a:spAutoFit/>
          </a:bodyPr>
          <a:lstStyle/>
          <a:p>
            <a:pPr marL="342900" indent="-342900" fontAlgn="base">
              <a:lnSpc>
                <a:spcPct val="110000"/>
              </a:lnSpc>
              <a:buClr>
                <a:srgbClr val="009999"/>
              </a:buClr>
              <a:buFont typeface="メイリオ" panose="020B0604030504040204" pitchFamily="50" charset="-128"/>
              <a:buChar char="▶"/>
            </a:pP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デジタル・ファースト、ワンス・オンリー、コネクテッド・ワンストップをデジタル化の基本原則とする。</a:t>
            </a:r>
          </a:p>
        </p:txBody>
      </p:sp>
      <p:sp>
        <p:nvSpPr>
          <p:cNvPr id="97" name="フリーフォーム: 図形 96">
            <a:extLst>
              <a:ext uri="{FF2B5EF4-FFF2-40B4-BE49-F238E27FC236}">
                <a16:creationId xmlns:a16="http://schemas.microsoft.com/office/drawing/2014/main" id="{096A1D2F-027C-51A9-DB82-109F27A066F5}"/>
              </a:ext>
            </a:extLst>
          </p:cNvPr>
          <p:cNvSpPr/>
          <p:nvPr/>
        </p:nvSpPr>
        <p:spPr>
          <a:xfrm>
            <a:off x="0" y="1615401"/>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説明</a:t>
            </a:r>
          </a:p>
        </p:txBody>
      </p:sp>
      <p:cxnSp>
        <p:nvCxnSpPr>
          <p:cNvPr id="98" name="直線コネクタ 97">
            <a:extLst>
              <a:ext uri="{FF2B5EF4-FFF2-40B4-BE49-F238E27FC236}">
                <a16:creationId xmlns:a16="http://schemas.microsoft.com/office/drawing/2014/main" id="{5D4F0C5D-4BB6-0D24-06E7-5AAF40AAA5A8}"/>
              </a:ext>
            </a:extLst>
          </p:cNvPr>
          <p:cNvCxnSpPr>
            <a:cxnSpLocks/>
          </p:cNvCxnSpPr>
          <p:nvPr/>
        </p:nvCxnSpPr>
        <p:spPr>
          <a:xfrm>
            <a:off x="2392680" y="1777401"/>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sp>
        <p:nvSpPr>
          <p:cNvPr id="105" name="フリーフォーム: 図形 104">
            <a:extLst>
              <a:ext uri="{FF2B5EF4-FFF2-40B4-BE49-F238E27FC236}">
                <a16:creationId xmlns:a16="http://schemas.microsoft.com/office/drawing/2014/main" id="{BE574CA1-FC35-D9CA-DBC8-827FFF357A40}"/>
              </a:ext>
            </a:extLst>
          </p:cNvPr>
          <p:cNvSpPr/>
          <p:nvPr/>
        </p:nvSpPr>
        <p:spPr>
          <a:xfrm>
            <a:off x="0" y="3971556"/>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背景・経緯</a:t>
            </a:r>
          </a:p>
        </p:txBody>
      </p:sp>
      <p:cxnSp>
        <p:nvCxnSpPr>
          <p:cNvPr id="106" name="直線コネクタ 105">
            <a:extLst>
              <a:ext uri="{FF2B5EF4-FFF2-40B4-BE49-F238E27FC236}">
                <a16:creationId xmlns:a16="http://schemas.microsoft.com/office/drawing/2014/main" id="{13887F94-6F7F-0B18-5AB9-00FA6F2B987E}"/>
              </a:ext>
            </a:extLst>
          </p:cNvPr>
          <p:cNvCxnSpPr>
            <a:cxnSpLocks/>
          </p:cNvCxnSpPr>
          <p:nvPr/>
        </p:nvCxnSpPr>
        <p:spPr>
          <a:xfrm>
            <a:off x="2392680" y="4133556"/>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grpSp>
        <p:nvGrpSpPr>
          <p:cNvPr id="30" name="グループ化 29">
            <a:extLst>
              <a:ext uri="{FF2B5EF4-FFF2-40B4-BE49-F238E27FC236}">
                <a16:creationId xmlns:a16="http://schemas.microsoft.com/office/drawing/2014/main" id="{FA1275D5-1391-4458-7202-8920E6ED8D6A}"/>
              </a:ext>
            </a:extLst>
          </p:cNvPr>
          <p:cNvGrpSpPr/>
          <p:nvPr/>
        </p:nvGrpSpPr>
        <p:grpSpPr>
          <a:xfrm>
            <a:off x="593054" y="2087685"/>
            <a:ext cx="5977337" cy="927797"/>
            <a:chOff x="647616" y="2108832"/>
            <a:chExt cx="5977337" cy="927797"/>
          </a:xfrm>
        </p:grpSpPr>
        <p:sp>
          <p:nvSpPr>
            <p:cNvPr id="95" name="テキスト ボックス 94">
              <a:extLst>
                <a:ext uri="{FF2B5EF4-FFF2-40B4-BE49-F238E27FC236}">
                  <a16:creationId xmlns:a16="http://schemas.microsoft.com/office/drawing/2014/main" id="{1AABE44A-3F1B-4264-A075-8574E606C3DD}"/>
                </a:ext>
              </a:extLst>
            </p:cNvPr>
            <p:cNvSpPr txBox="1"/>
            <p:nvPr/>
          </p:nvSpPr>
          <p:spPr>
            <a:xfrm>
              <a:off x="647616" y="2108832"/>
              <a:ext cx="5220000" cy="264688"/>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デジタル化の基本原則</a:t>
              </a:r>
            </a:p>
          </p:txBody>
        </p:sp>
        <p:sp>
          <p:nvSpPr>
            <p:cNvPr id="96" name="テキスト ボックス 95">
              <a:extLst>
                <a:ext uri="{FF2B5EF4-FFF2-40B4-BE49-F238E27FC236}">
                  <a16:creationId xmlns:a16="http://schemas.microsoft.com/office/drawing/2014/main" id="{E6459485-A328-167F-EA64-79F4FBCE5A03}"/>
                </a:ext>
              </a:extLst>
            </p:cNvPr>
            <p:cNvSpPr txBox="1"/>
            <p:nvPr/>
          </p:nvSpPr>
          <p:spPr>
            <a:xfrm>
              <a:off x="684953" y="2359521"/>
              <a:ext cx="5940000" cy="677108"/>
            </a:xfrm>
            <a:prstGeom prst="rect">
              <a:avLst/>
            </a:prstGeom>
            <a:noFill/>
          </p:spPr>
          <p:txBody>
            <a:bodyPr wrap="square" lIns="0" tIns="0" rIns="0" bIns="0" rtlCol="0">
              <a:spAutoFit/>
            </a:bodyPr>
            <a:lstStyle/>
            <a:p>
              <a:pPr fontAlgn="base">
                <a:spcAft>
                  <a:spcPct val="0"/>
                </a:spcAft>
              </a:pPr>
              <a:r>
                <a:rPr lang="ja-JP" altLang="en-US" sz="1100" dirty="0">
                  <a:latin typeface="Meiryo UI"/>
                  <a:ea typeface="Meiryo UI"/>
                </a:rPr>
                <a:t>行政のデジタル化は、以下の</a:t>
              </a:r>
              <a:r>
                <a:rPr lang="en-US" altLang="ja-JP" sz="1100" dirty="0">
                  <a:latin typeface="Meiryo UI"/>
                  <a:ea typeface="Meiryo UI"/>
                </a:rPr>
                <a:t>3</a:t>
              </a:r>
              <a:r>
                <a:rPr lang="ja-JP" altLang="en-US" sz="1100" dirty="0">
                  <a:latin typeface="Meiryo UI"/>
                  <a:ea typeface="Meiryo UI"/>
                </a:rPr>
                <a:t>原則を踏まえて実施する。</a:t>
              </a:r>
              <a:r>
                <a:rPr lang="en-US" altLang="ja-JP" sz="1100" baseline="30000" dirty="0">
                  <a:latin typeface="Meiryo UI"/>
                  <a:ea typeface="Meiryo UI"/>
                </a:rPr>
                <a:t>[1]</a:t>
              </a:r>
            </a:p>
            <a:p>
              <a:pPr marL="88900" indent="-88900" fontAlgn="base">
                <a:spcAft>
                  <a:spcPct val="0"/>
                </a:spcAft>
                <a:buFont typeface="Arial" panose="020B0604020202020204" pitchFamily="34" charset="0"/>
                <a:buChar char="•"/>
              </a:pPr>
              <a:r>
                <a:rPr lang="ja-JP" altLang="en-US" sz="1100" dirty="0">
                  <a:latin typeface="Meiryo UI"/>
                  <a:ea typeface="Meiryo UI"/>
                </a:rPr>
                <a:t>デジタル・ファースト：個々の手続・サービスが一貫してデジタルで完結する</a:t>
              </a:r>
              <a:endParaRPr lang="en-US" altLang="ja-JP" sz="1100" dirty="0">
                <a:latin typeface="Meiryo UI"/>
                <a:ea typeface="Meiryo UI"/>
              </a:endParaRPr>
            </a:p>
            <a:p>
              <a:pPr marL="88900" indent="-88900" fontAlgn="base">
                <a:spcAft>
                  <a:spcPct val="0"/>
                </a:spcAft>
                <a:buFont typeface="Arial" panose="020B0604020202020204" pitchFamily="34" charset="0"/>
                <a:buChar char="•"/>
              </a:pPr>
              <a:r>
                <a:rPr lang="ja-JP" altLang="en-US" sz="1100" dirty="0">
                  <a:latin typeface="Meiryo UI"/>
                  <a:ea typeface="Meiryo UI"/>
                </a:rPr>
                <a:t>ワンス・オンリー：一度提出した情報は、二度提出することを不要とする</a:t>
              </a:r>
              <a:endParaRPr lang="en-US" altLang="ja-JP" sz="1100" dirty="0">
                <a:latin typeface="Meiryo UI"/>
                <a:ea typeface="Meiryo UI"/>
              </a:endParaRPr>
            </a:p>
            <a:p>
              <a:pPr marL="88900" indent="-88900" fontAlgn="base">
                <a:spcAft>
                  <a:spcPct val="0"/>
                </a:spcAft>
                <a:buFont typeface="Arial" panose="020B0604020202020204" pitchFamily="34" charset="0"/>
                <a:buChar char="•"/>
              </a:pPr>
              <a:r>
                <a:rPr lang="ja-JP" altLang="en-US" sz="1100" dirty="0">
                  <a:latin typeface="Meiryo UI"/>
                  <a:ea typeface="Meiryo UI"/>
                </a:rPr>
                <a:t>コネクテッド・ワンストップ：民間サービスを含め、複数の手続・サービスをワンストップで実現する</a:t>
              </a:r>
              <a:endParaRPr lang="en-US" altLang="ja-JP" sz="1100" dirty="0">
                <a:latin typeface="Meiryo UI"/>
                <a:ea typeface="Meiryo UI"/>
              </a:endParaRPr>
            </a:p>
          </p:txBody>
        </p:sp>
      </p:grpSp>
      <p:grpSp>
        <p:nvGrpSpPr>
          <p:cNvPr id="7" name="グループ化 6">
            <a:extLst>
              <a:ext uri="{FF2B5EF4-FFF2-40B4-BE49-F238E27FC236}">
                <a16:creationId xmlns:a16="http://schemas.microsoft.com/office/drawing/2014/main" id="{6968055B-8581-9C99-4794-F7E024126302}"/>
              </a:ext>
            </a:extLst>
          </p:cNvPr>
          <p:cNvGrpSpPr/>
          <p:nvPr/>
        </p:nvGrpSpPr>
        <p:grpSpPr>
          <a:xfrm>
            <a:off x="647616" y="4466856"/>
            <a:ext cx="5958286" cy="1758794"/>
            <a:chOff x="647616" y="4586907"/>
            <a:chExt cx="5958286" cy="1758794"/>
          </a:xfrm>
        </p:grpSpPr>
        <p:sp>
          <p:nvSpPr>
            <p:cNvPr id="8" name="テキスト ボックス 7">
              <a:extLst>
                <a:ext uri="{FF2B5EF4-FFF2-40B4-BE49-F238E27FC236}">
                  <a16:creationId xmlns:a16="http://schemas.microsoft.com/office/drawing/2014/main" id="{34F37BE3-C099-22CD-B7AD-11321F12F3CE}"/>
                </a:ext>
              </a:extLst>
            </p:cNvPr>
            <p:cNvSpPr txBox="1"/>
            <p:nvPr/>
          </p:nvSpPr>
          <p:spPr>
            <a:xfrm>
              <a:off x="647616" y="4586907"/>
              <a:ext cx="5220000" cy="270843"/>
            </a:xfrm>
            <a:prstGeom prst="rect">
              <a:avLst/>
            </a:prstGeom>
            <a:noFill/>
          </p:spPr>
          <p:txBody>
            <a:bodyPr wrap="square" lIns="0" tIns="0" rIns="0" bIns="0" rtlCol="0">
              <a:spAutoFit/>
            </a:bodyPr>
            <a:lstStyle/>
            <a:p>
              <a:pPr fontAlgn="base">
                <a:lnSpc>
                  <a:spcPct val="110000"/>
                </a:lnSpc>
              </a:pPr>
              <a:r>
                <a:rPr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行政のデジタル化で特に生じやすい不備を回避</a:t>
              </a:r>
              <a:endParaRPr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9" name="テキスト ボックス 8">
              <a:extLst>
                <a:ext uri="{FF2B5EF4-FFF2-40B4-BE49-F238E27FC236}">
                  <a16:creationId xmlns:a16="http://schemas.microsoft.com/office/drawing/2014/main" id="{82DB1D13-2C2C-BBF0-32CD-0B7581A27646}"/>
                </a:ext>
              </a:extLst>
            </p:cNvPr>
            <p:cNvSpPr txBox="1"/>
            <p:nvPr/>
          </p:nvSpPr>
          <p:spPr>
            <a:xfrm>
              <a:off x="665902" y="4837596"/>
              <a:ext cx="5940000" cy="1508105"/>
            </a:xfrm>
            <a:prstGeom prst="rect">
              <a:avLst/>
            </a:prstGeom>
            <a:noFill/>
          </p:spPr>
          <p:txBody>
            <a:bodyPr wrap="square" lIns="0" tIns="0" rIns="0" bIns="0" rtlCol="0">
              <a:spAutoFit/>
            </a:bodyPr>
            <a:lstStyle/>
            <a:p>
              <a:pPr fontAlgn="base">
                <a:spcBef>
                  <a:spcPts val="600"/>
                </a:spcBef>
                <a:spcAft>
                  <a:spcPct val="0"/>
                </a:spcAft>
              </a:pPr>
              <a:r>
                <a:rPr lang="ja-JP" altLang="en-US" sz="1100" dirty="0">
                  <a:latin typeface="Meiryo UI"/>
                  <a:ea typeface="Meiryo UI"/>
                </a:rPr>
                <a:t>政府は国民に対して様々な手続・サービスを提供していることから、</a:t>
              </a:r>
              <a:r>
                <a:rPr lang="ja-JP" altLang="en-US" sz="1100" b="1" dirty="0">
                  <a:latin typeface="Meiryo UI"/>
                  <a:ea typeface="Meiryo UI"/>
                </a:rPr>
                <a:t>デジタル化に当たって、特に以下のような不備が生じやすい</a:t>
              </a:r>
              <a:r>
                <a:rPr lang="ja-JP" altLang="en-US" sz="1100" dirty="0">
                  <a:latin typeface="Meiryo UI"/>
                  <a:ea typeface="Meiryo UI"/>
                </a:rPr>
                <a:t>。このような不備を避け、より効果的なデジタル化を実現するため、デジタル３原則を踏まえることが重要。</a:t>
              </a:r>
              <a:r>
                <a:rPr lang="en-US" altLang="ja-JP" sz="1100" baseline="30000" dirty="0">
                  <a:latin typeface="Meiryo UI"/>
                  <a:ea typeface="Meiryo UI"/>
                </a:rPr>
                <a:t>[2]</a:t>
              </a:r>
              <a:endParaRPr lang="en-US" altLang="ja-JP" sz="1100" dirty="0">
                <a:latin typeface="Meiryo UI"/>
                <a:ea typeface="Meiryo UI"/>
              </a:endParaRPr>
            </a:p>
            <a:p>
              <a:pPr fontAlgn="base">
                <a:spcBef>
                  <a:spcPts val="600"/>
                </a:spcBef>
                <a:spcAft>
                  <a:spcPct val="0"/>
                </a:spcAft>
              </a:pPr>
              <a:r>
                <a:rPr lang="ja-JP" altLang="en-US" sz="1100" dirty="0">
                  <a:latin typeface="Meiryo UI"/>
                  <a:ea typeface="Meiryo UI"/>
                </a:rPr>
                <a:t>・手続き中に</a:t>
              </a:r>
              <a:r>
                <a:rPr lang="ja-JP" altLang="en-US" sz="1100" b="1" dirty="0">
                  <a:latin typeface="Meiryo UI"/>
                  <a:ea typeface="Meiryo UI"/>
                </a:rPr>
                <a:t>書面による申請・手続きを必須とするプロセスが残存する</a:t>
              </a:r>
              <a:r>
                <a:rPr lang="ja-JP" altLang="en-US" sz="1100" dirty="0">
                  <a:latin typeface="Meiryo UI"/>
                  <a:ea typeface="Meiryo UI"/>
                </a:rPr>
                <a:t>ことで、手続き全体がデジタルで完結しない</a:t>
              </a:r>
              <a:endParaRPr lang="en-US" altLang="ja-JP" sz="1100" dirty="0">
                <a:latin typeface="Meiryo UI"/>
                <a:ea typeface="Meiryo UI"/>
              </a:endParaRPr>
            </a:p>
            <a:p>
              <a:pPr fontAlgn="base">
                <a:spcBef>
                  <a:spcPts val="600"/>
                </a:spcBef>
                <a:spcAft>
                  <a:spcPct val="0"/>
                </a:spcAft>
              </a:pPr>
              <a:r>
                <a:rPr lang="ja-JP" altLang="en-US" sz="1100" dirty="0">
                  <a:latin typeface="Meiryo UI"/>
                  <a:ea typeface="Meiryo UI"/>
                </a:rPr>
                <a:t>・</a:t>
              </a:r>
              <a:r>
                <a:rPr lang="ja-JP" altLang="en-US" sz="1100" b="1" dirty="0">
                  <a:latin typeface="Meiryo UI"/>
                  <a:ea typeface="Meiryo UI"/>
                </a:rPr>
                <a:t>他府省や民間サービスの考慮が足りず、手続・サービスごとに最適化する</a:t>
              </a:r>
              <a:r>
                <a:rPr lang="ja-JP" altLang="en-US" sz="1100" dirty="0">
                  <a:latin typeface="Meiryo UI"/>
                  <a:ea typeface="Meiryo UI"/>
                </a:rPr>
                <a:t>ことで、手続ごとに国民から同様の情報の提出を繰り返し求めたり、一つの目的を達成するために国民に複数の手続・サービスの利用を強いたりする</a:t>
              </a:r>
              <a:endParaRPr lang="en-US" altLang="ja-JP" sz="1100" dirty="0">
                <a:latin typeface="Meiryo UI"/>
                <a:ea typeface="Meiryo UI"/>
              </a:endParaRPr>
            </a:p>
          </p:txBody>
        </p:sp>
      </p:grpSp>
      <p:sp>
        <p:nvSpPr>
          <p:cNvPr id="6" name="テキスト ボックス 5">
            <a:extLst>
              <a:ext uri="{FF2B5EF4-FFF2-40B4-BE49-F238E27FC236}">
                <a16:creationId xmlns:a16="http://schemas.microsoft.com/office/drawing/2014/main" id="{14008882-BAA8-F6CF-462D-342688BEF554}"/>
              </a:ext>
            </a:extLst>
          </p:cNvPr>
          <p:cNvSpPr txBox="1"/>
          <p:nvPr/>
        </p:nvSpPr>
        <p:spPr>
          <a:xfrm>
            <a:off x="7095980" y="5400000"/>
            <a:ext cx="4680000" cy="1046248"/>
          </a:xfrm>
          <a:prstGeom prst="rect">
            <a:avLst/>
          </a:prstGeom>
          <a:noFill/>
        </p:spPr>
        <p:txBody>
          <a:bodyPr wrap="square" lIns="0" tIns="0" rIns="0" bIns="0" rtlCol="0">
            <a:spAutoFit/>
          </a:bodyPr>
          <a:lstStyle/>
          <a:p>
            <a:pPr fontAlgn="base">
              <a:lnSpc>
                <a:spcPct val="110000"/>
              </a:lnSpc>
              <a:spcBef>
                <a:spcPts val="200"/>
              </a:spcBef>
              <a:spcAft>
                <a:spcPct val="0"/>
              </a:spcAft>
              <a:defRPr/>
            </a:pPr>
            <a:r>
              <a:rPr lang="ja-JP" altLang="en-US" sz="800" kern="500" dirty="0">
                <a:solidFill>
                  <a:srgbClr val="009999"/>
                </a:solidFill>
                <a:latin typeface="Meiryo UI" panose="020B0604030504040204" pitchFamily="50" charset="-128"/>
                <a:ea typeface="Meiryo UI" panose="020B0604030504040204" pitchFamily="50" charset="-128"/>
                <a:cs typeface="Segoe UI" panose="020B0502040204020203" pitchFamily="34" charset="0"/>
              </a:rPr>
              <a:t>脚注</a:t>
            </a:r>
            <a:endParaRPr lang="en-US" altLang="ja-JP" sz="800" kern="500" dirty="0">
              <a:solidFill>
                <a:srgbClr val="009999"/>
              </a:solidFill>
              <a:latin typeface="Meiryo UI" panose="020B0604030504040204" pitchFamily="50" charset="-128"/>
              <a:ea typeface="Meiryo UI" panose="020B0604030504040204" pitchFamily="50" charset="-128"/>
              <a:cs typeface="Segoe UI" panose="020B0502040204020203" pitchFamily="34" charset="0"/>
            </a:endParaRPr>
          </a:p>
          <a:p>
            <a:pPr fontAlgn="base">
              <a:spcAft>
                <a:spcPct val="0"/>
              </a:spcAft>
              <a:defRPr/>
            </a:pP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1</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 DS-100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デジタル・ガバメント推進標準ガイドライン第３編 </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IT</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マネジメント 第５章 要件定義を基に作成</a:t>
            </a:r>
            <a:endParaRPr lang="en-US" altLang="ja-JP" sz="800" kern="500" dirty="0">
              <a:latin typeface="Meiryo UI" panose="020B0604030504040204" pitchFamily="50" charset="-128"/>
              <a:ea typeface="Meiryo UI" panose="020B0604030504040204" pitchFamily="50" charset="-128"/>
              <a:cs typeface="Segoe UI" panose="020B0502040204020203" pitchFamily="34" charset="0"/>
            </a:endParaRPr>
          </a:p>
          <a:p>
            <a:pPr fontAlgn="base">
              <a:spcAft>
                <a:spcPct val="0"/>
              </a:spcAft>
              <a:defRPr/>
            </a:pP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］注釈：デジタル</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3</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原則は、サービス・業務を企画段階における実現方針の検討材料や、予算要求の根拠として活用することもできる。</a:t>
            </a:r>
            <a:endPar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endParaRPr>
          </a:p>
          <a:p>
            <a:pPr lvl="0" fontAlgn="base">
              <a:lnSpc>
                <a:spcPct val="110000"/>
              </a:lnSpc>
              <a:spcBef>
                <a:spcPts val="200"/>
              </a:spcBef>
              <a:spcAft>
                <a:spcPct val="0"/>
              </a:spcAft>
              <a:defRPr/>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参考情報</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・内閣官房　</a:t>
            </a:r>
            <a:r>
              <a:rPr lang="ja-JP" altLang="en-US" sz="800" dirty="0">
                <a:latin typeface="Meiryo UI" panose="020B0604030504040204" pitchFamily="50" charset="-128"/>
                <a:ea typeface="Meiryo UI" panose="020B0604030504040204" pitchFamily="50" charset="-128"/>
              </a:rPr>
              <a:t>デジタル手続法案の概要</a:t>
            </a: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b="1" kern="0" dirty="0">
                <a:solidFill>
                  <a:prstClr val="black"/>
                </a:solidFill>
                <a:latin typeface="Meiryo UI" panose="020B0604030504040204" pitchFamily="50" charset="-128"/>
                <a:ea typeface="Meiryo UI" panose="020B0604030504040204" pitchFamily="50" charset="-128"/>
                <a:hlinkClick r:id="rId3"/>
              </a:rPr>
              <a:t>Link</a:t>
            </a:r>
            <a:r>
              <a:rPr kumimoji="0" lang="ja-JP" altLang="en-US" sz="800" kern="0" dirty="0">
                <a:solidFill>
                  <a:prstClr val="black"/>
                </a:solidFill>
                <a:latin typeface="Meiryo UI" panose="020B0604030504040204" pitchFamily="50" charset="-128"/>
                <a:ea typeface="Meiryo UI" panose="020B0604030504040204" pitchFamily="50" charset="-128"/>
              </a:rPr>
              <a:t>）</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・デジタル庁デジタル社会の実現に向けた重点計画（</a:t>
            </a:r>
            <a:r>
              <a:rPr kumimoji="0" lang="en-US" altLang="ja-JP" sz="800" b="1" kern="0" dirty="0">
                <a:solidFill>
                  <a:prstClr val="black"/>
                </a:solidFill>
                <a:latin typeface="Meiryo UI" panose="020B0604030504040204" pitchFamily="50" charset="-128"/>
                <a:ea typeface="Meiryo UI" panose="020B0604030504040204" pitchFamily="50" charset="-128"/>
                <a:hlinkClick r:id="rId4"/>
              </a:rPr>
              <a:t>Link</a:t>
            </a:r>
            <a:r>
              <a:rPr kumimoji="0" lang="ja-JP" altLang="en-US" sz="800" kern="0" dirty="0">
                <a:solidFill>
                  <a:prstClr val="black"/>
                </a:solidFill>
                <a:latin typeface="Meiryo UI" panose="020B0604030504040204" pitchFamily="50" charset="-128"/>
                <a:ea typeface="Meiryo UI" panose="020B0604030504040204" pitchFamily="50" charset="-128"/>
              </a:rPr>
              <a:t>）</a:t>
            </a:r>
            <a:endParaRPr kumimoji="0" lang="en-US" altLang="ja-JP" sz="800" kern="0"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95024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19796-553C-C284-12B8-E25813ABF765}"/>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5634D102-5106-43E5-3E39-AC142D26629F}"/>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政府機関等のサイバーセキュリティ対策のための統一基準群</a:t>
            </a:r>
            <a:endParaRPr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20" name="正方形/長方形 19">
            <a:extLst>
              <a:ext uri="{FF2B5EF4-FFF2-40B4-BE49-F238E27FC236}">
                <a16:creationId xmlns:a16="http://schemas.microsoft.com/office/drawing/2014/main" id="{ECB3F9B2-82B5-AFCC-F222-779712EC6FEF}"/>
              </a:ext>
            </a:extLst>
          </p:cNvPr>
          <p:cNvSpPr/>
          <p:nvPr/>
        </p:nvSpPr>
        <p:spPr>
          <a:xfrm>
            <a:off x="0" y="0"/>
            <a:ext cx="468000" cy="1512000"/>
          </a:xfrm>
          <a:prstGeom prst="rect">
            <a:avLst/>
          </a:prstGeom>
          <a:solidFill>
            <a:srgbClr val="D7E4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DE2112F5-6047-7228-F045-C224EE784FE4}"/>
              </a:ext>
            </a:extLst>
          </p:cNvPr>
          <p:cNvSpPr txBox="1"/>
          <p:nvPr/>
        </p:nvSpPr>
        <p:spPr>
          <a:xfrm>
            <a:off x="763660" y="983204"/>
            <a:ext cx="10980000" cy="618054"/>
          </a:xfrm>
          <a:prstGeom prst="rect">
            <a:avLst/>
          </a:prstGeom>
          <a:noFill/>
        </p:spPr>
        <p:txBody>
          <a:bodyPr wrap="square" lIns="0" tIns="0" rIns="0" bIns="0" rtlCol="0">
            <a:spAutoFit/>
          </a:bodyPr>
          <a:lstStyle/>
          <a:p>
            <a:pPr marL="342900" indent="-342900" fontAlgn="base">
              <a:lnSpc>
                <a:spcPct val="110000"/>
              </a:lnSpc>
              <a:buClr>
                <a:srgbClr val="009999"/>
              </a:buClr>
              <a:buFont typeface="メイリオ" panose="020B0604030504040204" pitchFamily="50" charset="-128"/>
              <a:buChar char="▶"/>
            </a:pP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情報セキュリティ水準を向上させるための統一的な枠組み。</a:t>
            </a:r>
            <a:r>
              <a:rPr kumimoji="1" lang="ja-JP" altLang="en-US" sz="1900" kern="500" baseline="30000" dirty="0">
                <a:latin typeface="Segoe UI" panose="020B0502040204020203" pitchFamily="34" charset="0"/>
                <a:ea typeface="メイリオ" panose="020B0604030504040204" pitchFamily="50" charset="-128"/>
                <a:cs typeface="Segoe UI" panose="020B0502040204020203" pitchFamily="34" charset="0"/>
              </a:rPr>
              <a:t> </a:t>
            </a:r>
            <a:r>
              <a:rPr kumimoji="1" lang="en-US" altLang="ja-JP" sz="1900" kern="500" baseline="30000" dirty="0">
                <a:latin typeface="Segoe UI" panose="020B0502040204020203" pitchFamily="34" charset="0"/>
                <a:ea typeface="メイリオ" panose="020B0604030504040204" pitchFamily="50" charset="-128"/>
                <a:cs typeface="Segoe UI" panose="020B0502040204020203" pitchFamily="34" charset="0"/>
              </a:rPr>
              <a:t>[1]</a:t>
            </a:r>
          </a:p>
          <a:p>
            <a:pPr marL="342900" indent="-342900" fontAlgn="base">
              <a:lnSpc>
                <a:spcPct val="110000"/>
              </a:lnSpc>
              <a:buClr>
                <a:srgbClr val="009999"/>
              </a:buClr>
              <a:buFont typeface="メイリオ" panose="020B0604030504040204" pitchFamily="50" charset="-128"/>
              <a:buChar char="▶"/>
            </a:pPr>
            <a:endParaRPr kumimoji="1" lang="en-US" altLang="ja-JP" sz="1900" kern="500" dirty="0">
              <a:latin typeface="Segoe UI" panose="020B0502040204020203" pitchFamily="34" charset="0"/>
              <a:ea typeface="メイリオ" panose="020B0604030504040204" pitchFamily="50" charset="-128"/>
              <a:cs typeface="Segoe UI" panose="020B0502040204020203" pitchFamily="34" charset="0"/>
            </a:endParaRPr>
          </a:p>
        </p:txBody>
      </p:sp>
      <p:sp>
        <p:nvSpPr>
          <p:cNvPr id="97" name="フリーフォーム: 図形 96">
            <a:extLst>
              <a:ext uri="{FF2B5EF4-FFF2-40B4-BE49-F238E27FC236}">
                <a16:creationId xmlns:a16="http://schemas.microsoft.com/office/drawing/2014/main" id="{7863A8E1-8D25-E4A6-CE06-731079DB1128}"/>
              </a:ext>
            </a:extLst>
          </p:cNvPr>
          <p:cNvSpPr/>
          <p:nvPr/>
        </p:nvSpPr>
        <p:spPr>
          <a:xfrm>
            <a:off x="0" y="1615401"/>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説明</a:t>
            </a:r>
          </a:p>
        </p:txBody>
      </p:sp>
      <p:cxnSp>
        <p:nvCxnSpPr>
          <p:cNvPr id="98" name="直線コネクタ 97">
            <a:extLst>
              <a:ext uri="{FF2B5EF4-FFF2-40B4-BE49-F238E27FC236}">
                <a16:creationId xmlns:a16="http://schemas.microsoft.com/office/drawing/2014/main" id="{53DD3FB7-C470-4CB3-C613-AA3A242C1EAA}"/>
              </a:ext>
            </a:extLst>
          </p:cNvPr>
          <p:cNvCxnSpPr>
            <a:cxnSpLocks/>
          </p:cNvCxnSpPr>
          <p:nvPr/>
        </p:nvCxnSpPr>
        <p:spPr>
          <a:xfrm>
            <a:off x="2392680" y="1777401"/>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sp>
        <p:nvSpPr>
          <p:cNvPr id="105" name="フリーフォーム: 図形 104">
            <a:extLst>
              <a:ext uri="{FF2B5EF4-FFF2-40B4-BE49-F238E27FC236}">
                <a16:creationId xmlns:a16="http://schemas.microsoft.com/office/drawing/2014/main" id="{2070AEC0-80AE-5D93-1FB1-F7772383E319}"/>
              </a:ext>
            </a:extLst>
          </p:cNvPr>
          <p:cNvSpPr/>
          <p:nvPr/>
        </p:nvSpPr>
        <p:spPr>
          <a:xfrm>
            <a:off x="0" y="3971556"/>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背景・経緯</a:t>
            </a:r>
          </a:p>
        </p:txBody>
      </p:sp>
      <p:cxnSp>
        <p:nvCxnSpPr>
          <p:cNvPr id="106" name="直線コネクタ 105">
            <a:extLst>
              <a:ext uri="{FF2B5EF4-FFF2-40B4-BE49-F238E27FC236}">
                <a16:creationId xmlns:a16="http://schemas.microsoft.com/office/drawing/2014/main" id="{BADBE7FF-31F3-0873-661E-989084A86354}"/>
              </a:ext>
            </a:extLst>
          </p:cNvPr>
          <p:cNvCxnSpPr>
            <a:cxnSpLocks/>
          </p:cNvCxnSpPr>
          <p:nvPr/>
        </p:nvCxnSpPr>
        <p:spPr>
          <a:xfrm>
            <a:off x="2392680" y="4133556"/>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grpSp>
        <p:nvGrpSpPr>
          <p:cNvPr id="30" name="グループ化 29">
            <a:extLst>
              <a:ext uri="{FF2B5EF4-FFF2-40B4-BE49-F238E27FC236}">
                <a16:creationId xmlns:a16="http://schemas.microsoft.com/office/drawing/2014/main" id="{F1743632-C555-8929-C6AB-53DF6F1B0025}"/>
              </a:ext>
            </a:extLst>
          </p:cNvPr>
          <p:cNvGrpSpPr/>
          <p:nvPr/>
        </p:nvGrpSpPr>
        <p:grpSpPr>
          <a:xfrm>
            <a:off x="593054" y="2087685"/>
            <a:ext cx="5958287" cy="1743405"/>
            <a:chOff x="647616" y="2108832"/>
            <a:chExt cx="5958287" cy="1743405"/>
          </a:xfrm>
        </p:grpSpPr>
        <p:sp>
          <p:nvSpPr>
            <p:cNvPr id="95" name="テキスト ボックス 94">
              <a:extLst>
                <a:ext uri="{FF2B5EF4-FFF2-40B4-BE49-F238E27FC236}">
                  <a16:creationId xmlns:a16="http://schemas.microsoft.com/office/drawing/2014/main" id="{8755F25A-9AF2-75D9-9FAA-947A488D3821}"/>
                </a:ext>
              </a:extLst>
            </p:cNvPr>
            <p:cNvSpPr txBox="1"/>
            <p:nvPr/>
          </p:nvSpPr>
          <p:spPr>
            <a:xfrm>
              <a:off x="647616" y="2108832"/>
              <a:ext cx="5220000" cy="270843"/>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政府機関等が準拠すべき情報セキュリティの基準</a:t>
              </a:r>
              <a:r>
                <a:rPr kumimoji="1" lang="en-US" altLang="ja-JP"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[2]</a:t>
              </a:r>
              <a:endParaRPr kumimoji="1"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96" name="テキスト ボックス 95">
              <a:extLst>
                <a:ext uri="{FF2B5EF4-FFF2-40B4-BE49-F238E27FC236}">
                  <a16:creationId xmlns:a16="http://schemas.microsoft.com/office/drawing/2014/main" id="{7065B93A-2084-1CCB-0080-B1EB61947EF9}"/>
                </a:ext>
              </a:extLst>
            </p:cNvPr>
            <p:cNvSpPr txBox="1"/>
            <p:nvPr/>
          </p:nvSpPr>
          <p:spPr>
            <a:xfrm>
              <a:off x="665903" y="2359521"/>
              <a:ext cx="5940000" cy="1492716"/>
            </a:xfrm>
            <a:prstGeom prst="rect">
              <a:avLst/>
            </a:prstGeom>
            <a:noFill/>
          </p:spPr>
          <p:txBody>
            <a:bodyPr wrap="square" lIns="0" tIns="0" rIns="0" bIns="0" rtlCol="0">
              <a:spAutoFit/>
            </a:bodyPr>
            <a:lstStyle/>
            <a:p>
              <a:pPr fontAlgn="base">
                <a:spcBef>
                  <a:spcPts val="600"/>
                </a:spcBef>
                <a:spcAft>
                  <a:spcPct val="0"/>
                </a:spcAft>
              </a:pPr>
              <a:r>
                <a:rPr lang="ja-JP" altLang="en-US" sz="1100" b="1" dirty="0">
                  <a:latin typeface="Meiryo UI"/>
                  <a:ea typeface="Meiryo UI"/>
                </a:rPr>
                <a:t>情報セキュリティのベースラインや、より高い水準の情報セキュリティを確保するための対策事項が規定されている</a:t>
              </a:r>
              <a:r>
                <a:rPr lang="ja-JP" altLang="en-US" sz="1100" dirty="0">
                  <a:latin typeface="Meiryo UI"/>
                  <a:ea typeface="Meiryo UI"/>
                </a:rPr>
                <a:t>。</a:t>
              </a:r>
              <a:endParaRPr lang="en-US" altLang="ja-JP" sz="1100" dirty="0">
                <a:latin typeface="Meiryo UI"/>
                <a:ea typeface="Meiryo UI"/>
              </a:endParaRPr>
            </a:p>
            <a:p>
              <a:pPr fontAlgn="base">
                <a:spcBef>
                  <a:spcPts val="600"/>
                </a:spcBef>
                <a:spcAft>
                  <a:spcPct val="0"/>
                </a:spcAft>
              </a:pPr>
              <a:r>
                <a:rPr lang="ja-JP" altLang="en-US" sz="1100" dirty="0">
                  <a:latin typeface="Meiryo UI"/>
                  <a:ea typeface="Meiryo UI"/>
                </a:rPr>
                <a:t>以下の文書で構成されており、</a:t>
              </a:r>
              <a:r>
                <a:rPr lang="ja-JP" altLang="en-US" sz="1100" b="1" dirty="0">
                  <a:latin typeface="Meiryo UI"/>
                  <a:ea typeface="Meiryo UI"/>
                </a:rPr>
                <a:t>政府機関等（行政機関、独立行政法人等）は、統一規範及び統一基準への準拠が必要</a:t>
              </a:r>
              <a:r>
                <a:rPr lang="ja-JP" altLang="en-US" sz="1100" dirty="0">
                  <a:latin typeface="Meiryo UI"/>
                  <a:ea typeface="Meiryo UI"/>
                </a:rPr>
                <a:t>。</a:t>
              </a:r>
              <a:endParaRPr lang="en-US" altLang="ja-JP" sz="1100" dirty="0">
                <a:latin typeface="Meiryo UI"/>
                <a:ea typeface="Meiryo UI"/>
              </a:endParaRPr>
            </a:p>
            <a:p>
              <a:pPr marL="285750" indent="-285750" fontAlgn="base">
                <a:spcBef>
                  <a:spcPts val="600"/>
                </a:spcBef>
                <a:spcAft>
                  <a:spcPct val="0"/>
                </a:spcAft>
                <a:buFont typeface="Wingdings" panose="05000000000000000000" pitchFamily="2" charset="2"/>
                <a:buChar char="ü"/>
              </a:pPr>
              <a:r>
                <a:rPr lang="ja-JP" altLang="en-US" sz="1100" dirty="0">
                  <a:latin typeface="Meiryo UI"/>
                  <a:ea typeface="Meiryo UI"/>
                </a:rPr>
                <a:t>政府機関等のサイバーセキュリティ対策のための統一規範</a:t>
              </a:r>
              <a:endParaRPr lang="en-US" altLang="ja-JP" sz="1100" dirty="0">
                <a:latin typeface="Meiryo UI"/>
                <a:ea typeface="Meiryo UI"/>
              </a:endParaRPr>
            </a:p>
            <a:p>
              <a:pPr marL="285750" indent="-285750" fontAlgn="base">
                <a:spcBef>
                  <a:spcPts val="600"/>
                </a:spcBef>
                <a:spcAft>
                  <a:spcPct val="0"/>
                </a:spcAft>
                <a:buFont typeface="Wingdings" panose="05000000000000000000" pitchFamily="2" charset="2"/>
                <a:buChar char="ü"/>
              </a:pPr>
              <a:r>
                <a:rPr lang="ja-JP" altLang="en-US" sz="1100" dirty="0">
                  <a:latin typeface="Meiryo UI"/>
                  <a:ea typeface="Meiryo UI"/>
                </a:rPr>
                <a:t>政府機関等のサイバーセキュリティ対策のための統一基準</a:t>
              </a:r>
              <a:endParaRPr lang="en-US" altLang="ja-JP" sz="1100" dirty="0">
                <a:latin typeface="Meiryo UI"/>
                <a:ea typeface="Meiryo UI"/>
              </a:endParaRPr>
            </a:p>
            <a:p>
              <a:pPr marL="285750" indent="-285750" fontAlgn="base">
                <a:spcBef>
                  <a:spcPts val="600"/>
                </a:spcBef>
                <a:spcAft>
                  <a:spcPct val="0"/>
                </a:spcAft>
                <a:buFont typeface="Wingdings" panose="05000000000000000000" pitchFamily="2" charset="2"/>
                <a:buChar char="ü"/>
              </a:pPr>
              <a:r>
                <a:rPr lang="ja-JP" altLang="en-US" sz="1100" dirty="0">
                  <a:latin typeface="Meiryo UI"/>
                  <a:ea typeface="Meiryo UI"/>
                </a:rPr>
                <a:t>政府機関等の対策基準策定のためのガイドライン</a:t>
              </a:r>
              <a:endParaRPr lang="en-US" altLang="ja-JP" sz="1100" dirty="0">
                <a:latin typeface="Meiryo UI"/>
                <a:ea typeface="Meiryo UI"/>
              </a:endParaRPr>
            </a:p>
          </p:txBody>
        </p:sp>
      </p:grpSp>
      <p:sp>
        <p:nvSpPr>
          <p:cNvPr id="120" name="テキスト ボックス 119">
            <a:extLst>
              <a:ext uri="{FF2B5EF4-FFF2-40B4-BE49-F238E27FC236}">
                <a16:creationId xmlns:a16="http://schemas.microsoft.com/office/drawing/2014/main" id="{1E4FC642-84DB-AAF6-2DE1-009280773328}"/>
              </a:ext>
            </a:extLst>
          </p:cNvPr>
          <p:cNvSpPr txBox="1"/>
          <p:nvPr/>
        </p:nvSpPr>
        <p:spPr>
          <a:xfrm>
            <a:off x="7095980" y="5400000"/>
            <a:ext cx="4680000" cy="1107996"/>
          </a:xfrm>
          <a:prstGeom prst="rect">
            <a:avLst/>
          </a:prstGeom>
          <a:noFill/>
        </p:spPr>
        <p:txBody>
          <a:bodyPr wrap="square" lIns="0" tIns="0" rIns="0" bIns="0" rtlCol="0">
            <a:spAutoFit/>
          </a:bodyPr>
          <a:lstStyle/>
          <a:p>
            <a:pPr lvl="0" fontAlgn="base">
              <a:spcAft>
                <a:spcPct val="0"/>
              </a:spcAft>
              <a:defRPr/>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脚注</a:t>
            </a:r>
            <a:br>
              <a:rPr lang="en-US" altLang="ja-JP" sz="800" kern="500" dirty="0">
                <a:latin typeface="Meiryo UI" panose="020B0604030504040204" pitchFamily="50" charset="-128"/>
                <a:ea typeface="Meiryo UI" panose="020B0604030504040204" pitchFamily="50" charset="-128"/>
                <a:cs typeface="Segoe UI" panose="020B0502040204020203" pitchFamily="34" charset="0"/>
              </a:rPr>
            </a:br>
            <a:r>
              <a:rPr kumimoji="0" lang="ja-JP" altLang="en-US" sz="800" kern="0" dirty="0">
                <a:solidFill>
                  <a:prstClr val="black"/>
                </a:solidFill>
                <a:latin typeface="Meiryo UI" panose="020B0604030504040204" pitchFamily="50" charset="-128"/>
                <a:ea typeface="Meiryo UI" panose="020B0604030504040204" pitchFamily="50" charset="-128"/>
                <a:cs typeface="Segoe UI" panose="020B0502040204020203" pitchFamily="34" charset="0"/>
              </a:rPr>
              <a:t>［</a:t>
            </a:r>
            <a:r>
              <a:rPr kumimoji="0" lang="en-US" altLang="ja-JP" sz="800" kern="0" dirty="0">
                <a:solidFill>
                  <a:prstClr val="black"/>
                </a:solidFill>
                <a:latin typeface="Meiryo UI" panose="020B0604030504040204" pitchFamily="50" charset="-128"/>
                <a:ea typeface="Meiryo UI" panose="020B0604030504040204" pitchFamily="50" charset="-128"/>
                <a:cs typeface="Segoe UI" panose="020B0502040204020203" pitchFamily="34" charset="0"/>
              </a:rPr>
              <a:t>1</a:t>
            </a:r>
            <a:r>
              <a:rPr kumimoji="0" lang="ja-JP" altLang="en-US" sz="800" kern="0" dirty="0">
                <a:solidFill>
                  <a:prstClr val="black"/>
                </a:solidFill>
                <a:latin typeface="Meiryo UI" panose="020B0604030504040204" pitchFamily="50" charset="-128"/>
                <a:ea typeface="Meiryo UI" panose="020B0604030504040204" pitchFamily="50" charset="-128"/>
                <a:cs typeface="Segoe UI" panose="020B0502040204020203" pitchFamily="34" charset="0"/>
              </a:rPr>
              <a:t>］出典：</a:t>
            </a:r>
            <a:r>
              <a:rPr kumimoji="0" lang="ja-JP" altLang="en-US" sz="800" kern="0" dirty="0">
                <a:solidFill>
                  <a:prstClr val="black"/>
                </a:solidFill>
                <a:latin typeface="Meiryo UI" panose="020B0604030504040204" pitchFamily="50" charset="-128"/>
                <a:ea typeface="Meiryo UI" panose="020B0604030504040204" pitchFamily="50" charset="-128"/>
              </a:rPr>
              <a:t>国家サイバー統括室</a:t>
            </a:r>
            <a:r>
              <a:rPr kumimoji="0" lang="en-US" altLang="ja-JP" sz="800" kern="0" dirty="0">
                <a:solidFill>
                  <a:prstClr val="black"/>
                </a:solidFill>
                <a:latin typeface="Meiryo UI" panose="020B0604030504040204" pitchFamily="50" charset="-128"/>
                <a:ea typeface="Meiryo UI" panose="020B0604030504040204" pitchFamily="50" charset="-128"/>
              </a:rPr>
              <a:t> </a:t>
            </a:r>
            <a:r>
              <a:rPr kumimoji="0" lang="ja-JP" altLang="en-US" sz="800" kern="0" dirty="0">
                <a:solidFill>
                  <a:prstClr val="black"/>
                </a:solidFill>
                <a:latin typeface="Meiryo UI" panose="020B0604030504040204" pitchFamily="50" charset="-128"/>
                <a:ea typeface="Meiryo UI" panose="020B0604030504040204" pitchFamily="50" charset="-128"/>
              </a:rPr>
              <a:t>「政府機関等のサイバーセキュリティ対策のための統一基準群」を基に作成（</a:t>
            </a:r>
            <a:r>
              <a:rPr kumimoji="0" lang="en-US" altLang="ja-JP" sz="800" b="1" kern="0" dirty="0">
                <a:solidFill>
                  <a:prstClr val="black"/>
                </a:solidFill>
                <a:latin typeface="Meiryo UI" panose="020B0604030504040204" pitchFamily="50" charset="-128"/>
                <a:ea typeface="Meiryo UI" panose="020B0604030504040204" pitchFamily="50" charset="-128"/>
                <a:hlinkClick r:id="rId3"/>
              </a:rPr>
              <a:t>Link</a:t>
            </a:r>
            <a:r>
              <a:rPr kumimoji="0" lang="ja-JP" altLang="en-US" sz="800" kern="0" dirty="0">
                <a:solidFill>
                  <a:prstClr val="black"/>
                </a:solidFill>
                <a:latin typeface="Meiryo UI" panose="020B0604030504040204" pitchFamily="50" charset="-128"/>
                <a:ea typeface="Meiryo UI" panose="020B0604030504040204" pitchFamily="50" charset="-128"/>
              </a:rPr>
              <a:t>）</a:t>
            </a:r>
            <a:endParaRPr kumimoji="0" lang="en-US" altLang="ja-JP" sz="800" kern="0" dirty="0">
              <a:solidFill>
                <a:prstClr val="black"/>
              </a:solidFill>
              <a:latin typeface="Meiryo UI" panose="020B0604030504040204" pitchFamily="50" charset="-128"/>
              <a:ea typeface="Meiryo UI" panose="020B0604030504040204" pitchFamily="50" charset="-128"/>
            </a:endParaRPr>
          </a:p>
          <a:p>
            <a:pPr lvl="0" fontAlgn="base">
              <a:spcAft>
                <a:spcPct val="0"/>
              </a:spcAft>
              <a:defRPr/>
            </a:pP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2</a:t>
            </a:r>
            <a:r>
              <a:rPr kumimoji="0" lang="ja-JP" altLang="en-US" sz="800" kern="0" dirty="0">
                <a:solidFill>
                  <a:prstClr val="black"/>
                </a:solidFill>
                <a:latin typeface="Meiryo UI" panose="020B0604030504040204" pitchFamily="50" charset="-128"/>
                <a:ea typeface="Meiryo UI" panose="020B0604030504040204" pitchFamily="50" charset="-128"/>
              </a:rPr>
              <a:t>］出典：国家サイバー統括室</a:t>
            </a:r>
            <a:r>
              <a:rPr kumimoji="0" lang="en-US" altLang="ja-JP" sz="800" kern="0" dirty="0">
                <a:solidFill>
                  <a:prstClr val="black"/>
                </a:solidFill>
                <a:latin typeface="Meiryo UI" panose="020B0604030504040204" pitchFamily="50" charset="-128"/>
                <a:ea typeface="Meiryo UI" panose="020B0604030504040204" pitchFamily="50" charset="-128"/>
              </a:rPr>
              <a:t> </a:t>
            </a:r>
            <a:r>
              <a:rPr kumimoji="0" lang="ja-JP" altLang="en-US" sz="800" kern="0" dirty="0">
                <a:solidFill>
                  <a:prstClr val="black"/>
                </a:solidFill>
                <a:latin typeface="Meiryo UI" panose="020B0604030504040204" pitchFamily="50" charset="-128"/>
                <a:ea typeface="Meiryo UI" panose="020B0604030504040204" pitchFamily="50" charset="-128"/>
              </a:rPr>
              <a:t>「政府機関等のサイバーセキュリティ対策のための統一基準群（令和７年度版）について」を基に作成</a:t>
            </a:r>
            <a:endParaRPr kumimoji="0" lang="en-US" altLang="ja-JP" sz="800" kern="0" dirty="0">
              <a:solidFill>
                <a:prstClr val="black"/>
              </a:solidFill>
              <a:latin typeface="Meiryo UI" panose="020B0604030504040204" pitchFamily="50" charset="-128"/>
              <a:ea typeface="Meiryo UI" panose="020B0604030504040204" pitchFamily="50" charset="-128"/>
            </a:endParaRPr>
          </a:p>
          <a:p>
            <a:pPr fontAlgn="base">
              <a:spcAft>
                <a:spcPct val="0"/>
              </a:spcAft>
              <a:defRPr/>
            </a:pP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3</a:t>
            </a:r>
            <a:r>
              <a:rPr kumimoji="0" lang="ja-JP" altLang="en-US" sz="800" kern="0" dirty="0">
                <a:solidFill>
                  <a:prstClr val="black"/>
                </a:solidFill>
                <a:latin typeface="Meiryo UI" panose="020B0604030504040204" pitchFamily="50" charset="-128"/>
                <a:ea typeface="Meiryo UI" panose="020B0604030504040204" pitchFamily="50" charset="-128"/>
              </a:rPr>
              <a:t>］出典：国家サイバー統括室「政府機関等のサイバーセキュリティ対策のための統一基準群（令和７年度版）について」の図を引用（</a:t>
            </a:r>
            <a:r>
              <a:rPr kumimoji="0" lang="en-US" altLang="ja-JP" sz="800" b="1" kern="0" dirty="0">
                <a:solidFill>
                  <a:prstClr val="black"/>
                </a:solidFill>
                <a:latin typeface="Meiryo UI" panose="020B0604030504040204" pitchFamily="50" charset="-128"/>
                <a:ea typeface="Meiryo UI" panose="020B0604030504040204" pitchFamily="50" charset="-128"/>
                <a:hlinkClick r:id="rId4"/>
              </a:rPr>
              <a:t>Link</a:t>
            </a:r>
            <a:r>
              <a:rPr kumimoji="0" lang="ja-JP" altLang="en-US" sz="800" kern="0" dirty="0">
                <a:solidFill>
                  <a:prstClr val="black"/>
                </a:solidFill>
                <a:latin typeface="Meiryo UI" panose="020B0604030504040204" pitchFamily="50" charset="-128"/>
                <a:ea typeface="Meiryo UI" panose="020B0604030504040204" pitchFamily="50" charset="-128"/>
              </a:rPr>
              <a:t>）</a:t>
            </a:r>
            <a:endParaRPr lang="en-US" altLang="ja-JP" sz="800" kern="500" dirty="0">
              <a:latin typeface="Meiryo UI" panose="020B0604030504040204" pitchFamily="50" charset="-128"/>
              <a:ea typeface="Meiryo UI" panose="020B0604030504040204" pitchFamily="50" charset="-128"/>
              <a:cs typeface="Segoe UI" panose="020B0502040204020203" pitchFamily="34" charset="0"/>
            </a:endParaRPr>
          </a:p>
          <a:p>
            <a:pPr lvl="0" fontAlgn="base">
              <a:spcAft>
                <a:spcPct val="0"/>
              </a:spcAft>
              <a:defRPr/>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参考情報</a:t>
            </a:r>
            <a:br>
              <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b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a:t>
            </a:r>
            <a:r>
              <a:rPr kumimoji="0" lang="ja-JP" altLang="en-US" sz="800" kern="0" dirty="0">
                <a:solidFill>
                  <a:prstClr val="black"/>
                </a:solidFill>
                <a:latin typeface="Meiryo UI" panose="020B0604030504040204" pitchFamily="50" charset="-128"/>
                <a:ea typeface="Meiryo UI" panose="020B0604030504040204" pitchFamily="50" charset="-128"/>
              </a:rPr>
              <a:t>国家サイバー統括室</a:t>
            </a:r>
            <a:r>
              <a:rPr kumimoji="0" lang="en-US" altLang="ja-JP" sz="800" kern="0" dirty="0">
                <a:solidFill>
                  <a:prstClr val="black"/>
                </a:solidFill>
                <a:latin typeface="Meiryo UI" panose="020B0604030504040204" pitchFamily="50" charset="-128"/>
                <a:ea typeface="Meiryo UI" panose="020B0604030504040204" pitchFamily="50" charset="-128"/>
              </a:rPr>
              <a:t> </a:t>
            </a:r>
            <a:r>
              <a:rPr kumimoji="0" lang="ja-JP" altLang="en-US" sz="800" kern="0" dirty="0">
                <a:solidFill>
                  <a:prstClr val="black"/>
                </a:solidFill>
                <a:latin typeface="Meiryo UI" panose="020B0604030504040204" pitchFamily="50" charset="-128"/>
                <a:ea typeface="Meiryo UI" panose="020B0604030504040204" pitchFamily="50" charset="-128"/>
              </a:rPr>
              <a:t>「政府機関の情報セキュリティ対策の強化に関する基本方針」（</a:t>
            </a:r>
            <a:r>
              <a:rPr kumimoji="0" lang="en-US" altLang="ja-JP" sz="800" b="1" kern="0" dirty="0">
                <a:solidFill>
                  <a:prstClr val="black"/>
                </a:solidFill>
                <a:latin typeface="Meiryo UI" panose="020B0604030504040204" pitchFamily="50" charset="-128"/>
                <a:ea typeface="Meiryo UI" panose="020B0604030504040204" pitchFamily="50" charset="-128"/>
                <a:hlinkClick r:id="rId5"/>
              </a:rPr>
              <a:t>Link</a:t>
            </a:r>
            <a:r>
              <a:rPr kumimoji="0" lang="ja-JP" altLang="en-US" sz="800" kern="0" dirty="0">
                <a:solidFill>
                  <a:prstClr val="black"/>
                </a:solidFill>
                <a:latin typeface="Meiryo UI" panose="020B0604030504040204" pitchFamily="50" charset="-128"/>
                <a:ea typeface="Meiryo UI" panose="020B0604030504040204" pitchFamily="50" charset="-128"/>
              </a:rPr>
              <a:t>）</a:t>
            </a:r>
            <a:endParaRPr kumimoji="0" lang="en-US" altLang="ja-JP" sz="800" kern="0" dirty="0">
              <a:solidFill>
                <a:prstClr val="black"/>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82127B91-AE9C-6985-825E-61FA6C29FA44}"/>
              </a:ext>
            </a:extLst>
          </p:cNvPr>
          <p:cNvSpPr txBox="1"/>
          <p:nvPr/>
        </p:nvSpPr>
        <p:spPr>
          <a:xfrm>
            <a:off x="6957138" y="1615401"/>
            <a:ext cx="5400000" cy="201978"/>
          </a:xfrm>
          <a:prstGeom prst="rect">
            <a:avLst/>
          </a:prstGeom>
          <a:noFill/>
        </p:spPr>
        <p:txBody>
          <a:bodyPr wrap="square" lIns="0" tIns="0" rIns="0" bIns="0" rtlCol="0" anchor="ctr">
            <a:spAutoFit/>
          </a:bodyPr>
          <a:lstStyle/>
          <a:p>
            <a:pPr marL="324000" indent="-324000" fontAlgn="base">
              <a:lnSpc>
                <a:spcPct val="110000"/>
              </a:lnSpc>
              <a:buClr>
                <a:srgbClr val="009999"/>
              </a:buClr>
              <a:buFont typeface="Meiryo UI" panose="020B0604030504040204" pitchFamily="50" charset="-128"/>
              <a:buChar char="▐"/>
            </a:pPr>
            <a:r>
              <a:rPr lang="ja-JP" altLang="en-US" sz="1300" kern="500" dirty="0">
                <a:latin typeface="Segoe UI" panose="020B0502040204020203" pitchFamily="34" charset="0"/>
                <a:ea typeface="Meiryo UI" panose="020B0604030504040204" pitchFamily="50" charset="-128"/>
                <a:cs typeface="Segoe UI" panose="020B0502040204020203" pitchFamily="34" charset="0"/>
              </a:rPr>
              <a:t>図．統一基準群の構成</a:t>
            </a:r>
            <a:r>
              <a:rPr lang="en-US" altLang="ja-JP" sz="1300" kern="500" baseline="30000" dirty="0">
                <a:latin typeface="Segoe UI" panose="020B0502040204020203" pitchFamily="34" charset="0"/>
                <a:ea typeface="Meiryo UI" panose="020B0604030504040204" pitchFamily="50" charset="-128"/>
                <a:cs typeface="Segoe UI" panose="020B0502040204020203" pitchFamily="34" charset="0"/>
              </a:rPr>
              <a:t>[3]</a:t>
            </a:r>
          </a:p>
        </p:txBody>
      </p:sp>
      <p:grpSp>
        <p:nvGrpSpPr>
          <p:cNvPr id="2" name="グループ化 1">
            <a:extLst>
              <a:ext uri="{FF2B5EF4-FFF2-40B4-BE49-F238E27FC236}">
                <a16:creationId xmlns:a16="http://schemas.microsoft.com/office/drawing/2014/main" id="{114DB605-41EF-B59A-BB17-E0E9096DEA4F}"/>
              </a:ext>
            </a:extLst>
          </p:cNvPr>
          <p:cNvGrpSpPr/>
          <p:nvPr/>
        </p:nvGrpSpPr>
        <p:grpSpPr>
          <a:xfrm>
            <a:off x="647616" y="4466856"/>
            <a:ext cx="5977336" cy="1174019"/>
            <a:chOff x="647616" y="4586907"/>
            <a:chExt cx="5977336" cy="1174019"/>
          </a:xfrm>
        </p:grpSpPr>
        <p:sp>
          <p:nvSpPr>
            <p:cNvPr id="3" name="テキスト ボックス 2">
              <a:extLst>
                <a:ext uri="{FF2B5EF4-FFF2-40B4-BE49-F238E27FC236}">
                  <a16:creationId xmlns:a16="http://schemas.microsoft.com/office/drawing/2014/main" id="{FFD85496-9C58-87EA-7A0A-282EDC70DC72}"/>
                </a:ext>
              </a:extLst>
            </p:cNvPr>
            <p:cNvSpPr txBox="1"/>
            <p:nvPr/>
          </p:nvSpPr>
          <p:spPr>
            <a:xfrm>
              <a:off x="647616" y="4586907"/>
              <a:ext cx="5220000" cy="270843"/>
            </a:xfrm>
            <a:prstGeom prst="rect">
              <a:avLst/>
            </a:prstGeom>
            <a:noFill/>
          </p:spPr>
          <p:txBody>
            <a:bodyPr wrap="square" lIns="0" tIns="0" rIns="0" bIns="0" rtlCol="0">
              <a:spAutoFit/>
            </a:bodyPr>
            <a:lstStyle/>
            <a:p>
              <a:pPr fontAlgn="base">
                <a:lnSpc>
                  <a:spcPct val="110000"/>
                </a:lnSpc>
              </a:pPr>
              <a:r>
                <a:rPr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政府機関等全体の情報セキュリティを確保</a:t>
              </a:r>
              <a:endParaRPr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6" name="テキスト ボックス 5">
              <a:extLst>
                <a:ext uri="{FF2B5EF4-FFF2-40B4-BE49-F238E27FC236}">
                  <a16:creationId xmlns:a16="http://schemas.microsoft.com/office/drawing/2014/main" id="{AB322451-A5CD-7ED0-E407-CB3ABEDDB969}"/>
                </a:ext>
              </a:extLst>
            </p:cNvPr>
            <p:cNvSpPr txBox="1"/>
            <p:nvPr/>
          </p:nvSpPr>
          <p:spPr>
            <a:xfrm>
              <a:off x="684952" y="4837596"/>
              <a:ext cx="5940000" cy="923330"/>
            </a:xfrm>
            <a:prstGeom prst="rect">
              <a:avLst/>
            </a:prstGeom>
            <a:noFill/>
          </p:spPr>
          <p:txBody>
            <a:bodyPr wrap="square" lIns="0" tIns="0" rIns="0" bIns="0" rtlCol="0">
              <a:spAutoFit/>
            </a:bodyPr>
            <a:lstStyle/>
            <a:p>
              <a:pPr fontAlgn="base">
                <a:spcBef>
                  <a:spcPts val="600"/>
                </a:spcBef>
                <a:spcAft>
                  <a:spcPct val="0"/>
                </a:spcAft>
              </a:pPr>
              <a:r>
                <a:rPr lang="ja-JP" altLang="en-US" sz="1100" dirty="0">
                  <a:latin typeface="Meiryo UI"/>
                  <a:ea typeface="Meiryo UI"/>
                </a:rPr>
                <a:t>情報セキュリティの専門家の確保具合など、状況の異なる政府機関等が、それぞれに対策を実施すると、一部の機関では必要な水準の対策が採れない、非効率が生じ政府機関等全体としての情報セキュリティ水準が下がるなどのおそれがある。</a:t>
              </a:r>
              <a:endParaRPr lang="en-US" altLang="ja-JP" sz="1100" dirty="0">
                <a:latin typeface="Meiryo UI"/>
                <a:ea typeface="Meiryo UI"/>
              </a:endParaRPr>
            </a:p>
            <a:p>
              <a:pPr fontAlgn="base">
                <a:spcBef>
                  <a:spcPts val="600"/>
                </a:spcBef>
                <a:spcAft>
                  <a:spcPct val="0"/>
                </a:spcAft>
              </a:pPr>
              <a:r>
                <a:rPr lang="ja-JP" altLang="en-US" sz="1100" dirty="0">
                  <a:latin typeface="Meiryo UI"/>
                  <a:ea typeface="Meiryo UI"/>
                </a:rPr>
                <a:t>このため、統一基準群の運用により、</a:t>
              </a:r>
              <a:r>
                <a:rPr lang="ja-JP" altLang="en-US" sz="1100" b="1" dirty="0">
                  <a:latin typeface="Meiryo UI"/>
                  <a:ea typeface="Meiryo UI"/>
                </a:rPr>
                <a:t>それぞれの機関や政府機関等全体の</a:t>
              </a:r>
              <a:r>
                <a:rPr lang="en-US" altLang="ja-JP" sz="1100" b="1" dirty="0">
                  <a:latin typeface="Meiryo UI"/>
                  <a:ea typeface="Meiryo UI"/>
                </a:rPr>
                <a:t>PDCA</a:t>
              </a:r>
              <a:r>
                <a:rPr lang="ja-JP" altLang="en-US" sz="1100" b="1" dirty="0">
                  <a:latin typeface="Meiryo UI"/>
                  <a:ea typeface="Meiryo UI"/>
                </a:rPr>
                <a:t>サイクルを適切に回し、全体としての情報セキュリティの確保を目指している。</a:t>
              </a:r>
              <a:endParaRPr lang="en-US" altLang="ja-JP" sz="1100" b="1" dirty="0">
                <a:latin typeface="Meiryo UI"/>
                <a:ea typeface="Meiryo UI"/>
              </a:endParaRPr>
            </a:p>
          </p:txBody>
        </p:sp>
      </p:grpSp>
      <p:pic>
        <p:nvPicPr>
          <p:cNvPr id="4" name="図 3">
            <a:extLst>
              <a:ext uri="{FF2B5EF4-FFF2-40B4-BE49-F238E27FC236}">
                <a16:creationId xmlns:a16="http://schemas.microsoft.com/office/drawing/2014/main" id="{23199869-25E8-A971-7446-58950239EDB6}"/>
              </a:ext>
            </a:extLst>
          </p:cNvPr>
          <p:cNvPicPr>
            <a:picLocks noChangeAspect="1"/>
          </p:cNvPicPr>
          <p:nvPr/>
        </p:nvPicPr>
        <p:blipFill>
          <a:blip r:embed="rId6"/>
          <a:stretch>
            <a:fillRect/>
          </a:stretch>
        </p:blipFill>
        <p:spPr>
          <a:xfrm>
            <a:off x="7095980" y="2087685"/>
            <a:ext cx="4760686" cy="1806927"/>
          </a:xfrm>
          <a:prstGeom prst="rect">
            <a:avLst/>
          </a:prstGeom>
        </p:spPr>
      </p:pic>
    </p:spTree>
    <p:extLst>
      <p:ext uri="{BB962C8B-B14F-4D97-AF65-F5344CB8AC3E}">
        <p14:creationId xmlns:p14="http://schemas.microsoft.com/office/powerpoint/2010/main" val="1077337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5E819-00F3-E7B2-561D-5B313A130888}"/>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4D432D76-F25D-C65E-4BB7-1C956780EA42}"/>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ISMAP</a:t>
            </a:r>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a:t>
            </a:r>
            <a:r>
              <a:rPr kumimoji="1"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ISMAP-LIU</a:t>
            </a:r>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利用の原則</a:t>
            </a:r>
            <a:endParaRPr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20" name="正方形/長方形 19">
            <a:extLst>
              <a:ext uri="{FF2B5EF4-FFF2-40B4-BE49-F238E27FC236}">
                <a16:creationId xmlns:a16="http://schemas.microsoft.com/office/drawing/2014/main" id="{7B72BC6F-6171-1DAA-D4EE-B3E56CC45129}"/>
              </a:ext>
            </a:extLst>
          </p:cNvPr>
          <p:cNvSpPr/>
          <p:nvPr/>
        </p:nvSpPr>
        <p:spPr>
          <a:xfrm>
            <a:off x="0" y="0"/>
            <a:ext cx="468000" cy="1512000"/>
          </a:xfrm>
          <a:prstGeom prst="rect">
            <a:avLst/>
          </a:prstGeom>
          <a:solidFill>
            <a:srgbClr val="D7E4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6A2A50EA-F749-BF45-F874-43CA2F56816D}"/>
              </a:ext>
            </a:extLst>
          </p:cNvPr>
          <p:cNvSpPr txBox="1"/>
          <p:nvPr/>
        </p:nvSpPr>
        <p:spPr>
          <a:xfrm>
            <a:off x="763660" y="983204"/>
            <a:ext cx="10980000" cy="643253"/>
          </a:xfrm>
          <a:prstGeom prst="rect">
            <a:avLst/>
          </a:prstGeom>
          <a:noFill/>
        </p:spPr>
        <p:txBody>
          <a:bodyPr wrap="square" lIns="0" tIns="0" rIns="0" bIns="0" rtlCol="0">
            <a:spAutoFit/>
          </a:bodyPr>
          <a:lstStyle/>
          <a:p>
            <a:pPr marL="342900" indent="-342900" fontAlgn="base">
              <a:lnSpc>
                <a:spcPct val="110000"/>
              </a:lnSpc>
              <a:buClr>
                <a:srgbClr val="009999"/>
              </a:buClr>
              <a:buFont typeface="メイリオ" panose="020B0604030504040204" pitchFamily="50" charset="-128"/>
              <a:buChar char="▶"/>
            </a:pP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クラウドサービスを利用する場合は、</a:t>
            </a:r>
            <a:r>
              <a:rPr kumimoji="1" lang="en-US" altLang="ja-JP" sz="1900" kern="500" dirty="0">
                <a:latin typeface="Segoe UI" panose="020B0502040204020203" pitchFamily="34" charset="0"/>
                <a:ea typeface="メイリオ" panose="020B0604030504040204" pitchFamily="50" charset="-128"/>
                <a:cs typeface="Segoe UI" panose="020B0502040204020203" pitchFamily="34" charset="0"/>
              </a:rPr>
              <a:t>ISMAP</a:t>
            </a: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等クラウドサービスリスト等の中から調達することを原則とする。</a:t>
            </a:r>
            <a:r>
              <a:rPr kumimoji="1" lang="en-US" altLang="ja-JP" sz="1900" kern="500" baseline="30000" dirty="0">
                <a:latin typeface="Segoe UI" panose="020B0502040204020203" pitchFamily="34" charset="0"/>
                <a:ea typeface="メイリオ" panose="020B0604030504040204" pitchFamily="50" charset="-128"/>
                <a:cs typeface="Segoe UI" panose="020B0502040204020203" pitchFamily="34" charset="0"/>
              </a:rPr>
              <a:t>[1]</a:t>
            </a:r>
          </a:p>
        </p:txBody>
      </p:sp>
      <p:sp>
        <p:nvSpPr>
          <p:cNvPr id="97" name="フリーフォーム: 図形 96">
            <a:extLst>
              <a:ext uri="{FF2B5EF4-FFF2-40B4-BE49-F238E27FC236}">
                <a16:creationId xmlns:a16="http://schemas.microsoft.com/office/drawing/2014/main" id="{7B41C4AD-6DD3-53A6-3FC9-53A7AA9BBCD5}"/>
              </a:ext>
            </a:extLst>
          </p:cNvPr>
          <p:cNvSpPr/>
          <p:nvPr/>
        </p:nvSpPr>
        <p:spPr>
          <a:xfrm>
            <a:off x="0" y="1615401"/>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説明</a:t>
            </a:r>
          </a:p>
        </p:txBody>
      </p:sp>
      <p:cxnSp>
        <p:nvCxnSpPr>
          <p:cNvPr id="98" name="直線コネクタ 97">
            <a:extLst>
              <a:ext uri="{FF2B5EF4-FFF2-40B4-BE49-F238E27FC236}">
                <a16:creationId xmlns:a16="http://schemas.microsoft.com/office/drawing/2014/main" id="{66F45FA4-DEFE-DD55-0887-69B7F1B6F866}"/>
              </a:ext>
            </a:extLst>
          </p:cNvPr>
          <p:cNvCxnSpPr>
            <a:cxnSpLocks/>
          </p:cNvCxnSpPr>
          <p:nvPr/>
        </p:nvCxnSpPr>
        <p:spPr>
          <a:xfrm>
            <a:off x="2392680" y="1777401"/>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sp>
        <p:nvSpPr>
          <p:cNvPr id="105" name="フリーフォーム: 図形 104">
            <a:extLst>
              <a:ext uri="{FF2B5EF4-FFF2-40B4-BE49-F238E27FC236}">
                <a16:creationId xmlns:a16="http://schemas.microsoft.com/office/drawing/2014/main" id="{787DD8A9-1783-0C45-3549-28DC8DC1445E}"/>
              </a:ext>
            </a:extLst>
          </p:cNvPr>
          <p:cNvSpPr/>
          <p:nvPr/>
        </p:nvSpPr>
        <p:spPr>
          <a:xfrm>
            <a:off x="0" y="3971556"/>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背景・経緯</a:t>
            </a:r>
          </a:p>
        </p:txBody>
      </p:sp>
      <p:cxnSp>
        <p:nvCxnSpPr>
          <p:cNvPr id="106" name="直線コネクタ 105">
            <a:extLst>
              <a:ext uri="{FF2B5EF4-FFF2-40B4-BE49-F238E27FC236}">
                <a16:creationId xmlns:a16="http://schemas.microsoft.com/office/drawing/2014/main" id="{CB088675-CC31-5F86-9C87-BD3435F38DF1}"/>
              </a:ext>
            </a:extLst>
          </p:cNvPr>
          <p:cNvCxnSpPr>
            <a:cxnSpLocks/>
          </p:cNvCxnSpPr>
          <p:nvPr/>
        </p:nvCxnSpPr>
        <p:spPr>
          <a:xfrm>
            <a:off x="2392680" y="4133556"/>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grpSp>
        <p:nvGrpSpPr>
          <p:cNvPr id="30" name="グループ化 29">
            <a:extLst>
              <a:ext uri="{FF2B5EF4-FFF2-40B4-BE49-F238E27FC236}">
                <a16:creationId xmlns:a16="http://schemas.microsoft.com/office/drawing/2014/main" id="{736E3496-9DA2-8C76-997C-C52064D49E93}"/>
              </a:ext>
            </a:extLst>
          </p:cNvPr>
          <p:cNvGrpSpPr/>
          <p:nvPr/>
        </p:nvGrpSpPr>
        <p:grpSpPr>
          <a:xfrm>
            <a:off x="593054" y="2087685"/>
            <a:ext cx="5977337" cy="1794701"/>
            <a:chOff x="647616" y="2108832"/>
            <a:chExt cx="5977337" cy="1794701"/>
          </a:xfrm>
        </p:grpSpPr>
        <p:sp>
          <p:nvSpPr>
            <p:cNvPr id="95" name="テキスト ボックス 94">
              <a:extLst>
                <a:ext uri="{FF2B5EF4-FFF2-40B4-BE49-F238E27FC236}">
                  <a16:creationId xmlns:a16="http://schemas.microsoft.com/office/drawing/2014/main" id="{CF1EE7D4-B895-BA17-0169-6342A345CC4C}"/>
                </a:ext>
              </a:extLst>
            </p:cNvPr>
            <p:cNvSpPr txBox="1"/>
            <p:nvPr/>
          </p:nvSpPr>
          <p:spPr>
            <a:xfrm>
              <a:off x="647616" y="2108832"/>
              <a:ext cx="5220000" cy="270843"/>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セキュリティ基準を満たしたサービスを登録・公表</a:t>
              </a:r>
              <a:endParaRPr kumimoji="1"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96" name="テキスト ボックス 95">
              <a:extLst>
                <a:ext uri="{FF2B5EF4-FFF2-40B4-BE49-F238E27FC236}">
                  <a16:creationId xmlns:a16="http://schemas.microsoft.com/office/drawing/2014/main" id="{CEDCB66B-B1C0-63F8-571D-3C8B1FA94C0B}"/>
                </a:ext>
              </a:extLst>
            </p:cNvPr>
            <p:cNvSpPr txBox="1"/>
            <p:nvPr/>
          </p:nvSpPr>
          <p:spPr>
            <a:xfrm>
              <a:off x="684953" y="2359521"/>
              <a:ext cx="5940000" cy="1544012"/>
            </a:xfrm>
            <a:prstGeom prst="rect">
              <a:avLst/>
            </a:prstGeom>
            <a:noFill/>
          </p:spPr>
          <p:txBody>
            <a:bodyPr wrap="square" lIns="0" tIns="0" rIns="0" bIns="0" rtlCol="0">
              <a:spAutoFit/>
            </a:bodyPr>
            <a:lstStyle/>
            <a:p>
              <a:pPr fontAlgn="base">
                <a:spcBef>
                  <a:spcPts val="600"/>
                </a:spcBef>
                <a:spcAft>
                  <a:spcPct val="0"/>
                </a:spcAft>
              </a:pPr>
              <a:r>
                <a:rPr lang="en-US" altLang="ja-JP" sz="1100" dirty="0">
                  <a:latin typeface="Meiryo UI"/>
                  <a:ea typeface="Meiryo UI"/>
                </a:rPr>
                <a:t>ISMAP</a:t>
              </a:r>
              <a:r>
                <a:rPr lang="ja-JP" altLang="en-US" sz="1100" dirty="0">
                  <a:latin typeface="Meiryo UI"/>
                  <a:ea typeface="Meiryo UI"/>
                </a:rPr>
                <a:t>では、監査機関による監査プロセスを経て、 「政府機関等のサイバーセキュリティ対策のための統一基準」等の</a:t>
              </a:r>
              <a:r>
                <a:rPr lang="ja-JP" altLang="en-US" sz="1100" b="1" dirty="0">
                  <a:latin typeface="Meiryo UI"/>
                  <a:ea typeface="Meiryo UI"/>
                </a:rPr>
                <a:t>セキュリティ基準を満たしているクラウドサービスをクラウドサービスリストに登録し、公表している</a:t>
              </a:r>
              <a:r>
                <a:rPr lang="ja-JP" altLang="en-US" sz="1100" dirty="0">
                  <a:latin typeface="Meiryo UI"/>
                  <a:ea typeface="Meiryo UI"/>
                </a:rPr>
                <a:t>。</a:t>
              </a:r>
              <a:r>
                <a:rPr lang="en-US" altLang="ja-JP" sz="1100" baseline="30000" dirty="0">
                  <a:latin typeface="Meiryo UI"/>
                  <a:ea typeface="Meiryo UI"/>
                </a:rPr>
                <a:t>[2]</a:t>
              </a:r>
            </a:p>
            <a:p>
              <a:pPr fontAlgn="base">
                <a:spcBef>
                  <a:spcPts val="300"/>
                </a:spcBef>
                <a:spcAft>
                  <a:spcPct val="0"/>
                </a:spcAft>
              </a:pPr>
              <a:r>
                <a:rPr lang="ja-JP" altLang="en-US" sz="1100" dirty="0">
                  <a:latin typeface="Meiryo UI"/>
                  <a:ea typeface="Meiryo UI"/>
                </a:rPr>
                <a:t>クラウドサービスを利用する場合は、ガバメントクラウドの利用が原則だが、</a:t>
              </a:r>
              <a:r>
                <a:rPr lang="ja-JP" altLang="en-US" sz="1100" b="1" dirty="0">
                  <a:latin typeface="Meiryo UI"/>
                  <a:ea typeface="Meiryo UI"/>
                </a:rPr>
                <a:t>利用しない場合は、</a:t>
              </a:r>
              <a:r>
                <a:rPr lang="en-US" altLang="ja-JP" sz="1100" b="1" dirty="0">
                  <a:latin typeface="Meiryo UI"/>
                  <a:ea typeface="Meiryo UI"/>
                </a:rPr>
                <a:t>ISMAP</a:t>
              </a:r>
              <a:r>
                <a:rPr lang="ja-JP" altLang="en-US" sz="1100" b="1" dirty="0">
                  <a:latin typeface="Meiryo UI"/>
                  <a:ea typeface="Meiryo UI"/>
                </a:rPr>
                <a:t>等クラウドサービスリストの中から調達することが原則</a:t>
              </a:r>
              <a:r>
                <a:rPr lang="ja-JP" altLang="en-US" sz="1100" dirty="0">
                  <a:latin typeface="Meiryo UI"/>
                  <a:ea typeface="Meiryo UI"/>
                </a:rPr>
                <a:t>。</a:t>
              </a:r>
              <a:r>
                <a:rPr lang="en-US" altLang="ja-JP" sz="1100" baseline="30000" dirty="0">
                  <a:latin typeface="Meiryo UI"/>
                  <a:ea typeface="Meiryo UI"/>
                </a:rPr>
                <a:t>[3]</a:t>
              </a:r>
              <a:endParaRPr lang="en-US" altLang="ja-JP" sz="1100" dirty="0">
                <a:latin typeface="Meiryo UI"/>
                <a:ea typeface="Meiryo UI"/>
              </a:endParaRPr>
            </a:p>
            <a:p>
              <a:pPr fontAlgn="base">
                <a:spcBef>
                  <a:spcPts val="300"/>
                </a:spcBef>
                <a:spcAft>
                  <a:spcPct val="0"/>
                </a:spcAft>
              </a:pPr>
              <a:r>
                <a:rPr lang="en-US" altLang="ja-JP" sz="1100" dirty="0">
                  <a:latin typeface="Meiryo UI"/>
                  <a:ea typeface="Meiryo UI"/>
                </a:rPr>
                <a:t>ISMAP</a:t>
              </a:r>
              <a:r>
                <a:rPr lang="ja-JP" altLang="en-US" sz="1100" dirty="0">
                  <a:latin typeface="Meiryo UI"/>
                  <a:ea typeface="Meiryo UI"/>
                </a:rPr>
                <a:t>は</a:t>
              </a:r>
              <a:r>
                <a:rPr lang="en-US" altLang="ja-JP" sz="1100" dirty="0">
                  <a:latin typeface="Meiryo UI"/>
                  <a:ea typeface="Meiryo UI"/>
                </a:rPr>
                <a:t>Information system Security Management and Assessment Program</a:t>
              </a:r>
              <a:r>
                <a:rPr lang="ja-JP" altLang="en-US" sz="1100" dirty="0">
                  <a:latin typeface="Meiryo UI"/>
                  <a:ea typeface="Meiryo UI"/>
                </a:rPr>
                <a:t>（政府情報システムのためのセキュリティ評価制度）の略称である。また、</a:t>
              </a:r>
              <a:r>
                <a:rPr lang="en-US" altLang="ja-JP" sz="1100" dirty="0">
                  <a:latin typeface="Meiryo UI"/>
                  <a:ea typeface="Meiryo UI"/>
                </a:rPr>
                <a:t>ISMAP-LIU</a:t>
              </a:r>
              <a:r>
                <a:rPr lang="ja-JP" altLang="en-US" sz="1100" dirty="0">
                  <a:latin typeface="Meiryo UI"/>
                  <a:ea typeface="Meiryo UI"/>
                </a:rPr>
                <a:t>は、</a:t>
              </a:r>
              <a:r>
                <a:rPr lang="en-US" altLang="ja-JP" sz="1100" dirty="0">
                  <a:latin typeface="Meiryo UI"/>
                  <a:ea typeface="Meiryo UI"/>
                </a:rPr>
                <a:t>ISMAP</a:t>
              </a:r>
              <a:r>
                <a:rPr lang="ja-JP" altLang="en-US" sz="1100" dirty="0">
                  <a:latin typeface="Meiryo UI"/>
                  <a:ea typeface="Meiryo UI"/>
                </a:rPr>
                <a:t>の枠組みのうち</a:t>
              </a:r>
              <a:r>
                <a:rPr lang="ja-JP" altLang="en-US" sz="1100" b="1" dirty="0">
                  <a:latin typeface="Meiryo UI"/>
                  <a:ea typeface="Meiryo UI"/>
                </a:rPr>
                <a:t>リスクの小さな業務や情報の処理に用いる</a:t>
              </a:r>
              <a:r>
                <a:rPr lang="en-US" altLang="ja-JP" sz="1100" b="1" dirty="0">
                  <a:latin typeface="Meiryo UI"/>
                  <a:ea typeface="Meiryo UI"/>
                </a:rPr>
                <a:t>SaaS</a:t>
              </a:r>
              <a:r>
                <a:rPr lang="ja-JP" altLang="en-US" sz="1100" b="1" dirty="0">
                  <a:latin typeface="Meiryo UI"/>
                  <a:ea typeface="Meiryo UI"/>
                </a:rPr>
                <a:t>サービスを対象とした仕組み</a:t>
              </a:r>
              <a:r>
                <a:rPr lang="ja-JP" altLang="en-US" sz="1100" dirty="0">
                  <a:latin typeface="Meiryo UI"/>
                  <a:ea typeface="Meiryo UI"/>
                </a:rPr>
                <a:t>である（</a:t>
              </a:r>
              <a:r>
                <a:rPr lang="en-US" altLang="ja-JP" sz="1100" dirty="0">
                  <a:latin typeface="Meiryo UI"/>
                  <a:ea typeface="Meiryo UI"/>
                </a:rPr>
                <a:t>LIU</a:t>
              </a:r>
              <a:r>
                <a:rPr lang="ja-JP" altLang="en-US" sz="1100" dirty="0">
                  <a:latin typeface="Meiryo UI"/>
                  <a:ea typeface="Meiryo UI"/>
                </a:rPr>
                <a:t>は</a:t>
              </a:r>
              <a:r>
                <a:rPr lang="en-US" altLang="ja-JP" sz="1100" dirty="0">
                  <a:latin typeface="Meiryo UI"/>
                  <a:ea typeface="Meiryo UI"/>
                </a:rPr>
                <a:t>for Low-Impact Use</a:t>
              </a:r>
              <a:r>
                <a:rPr lang="ja-JP" altLang="en-US" sz="1100" dirty="0">
                  <a:latin typeface="Meiryo UI"/>
                  <a:ea typeface="Meiryo UI"/>
                </a:rPr>
                <a:t>の略称）</a:t>
              </a:r>
              <a:r>
                <a:rPr lang="en-US" altLang="ja-JP" sz="1100" kern="500" baseline="30000" dirty="0">
                  <a:latin typeface="Segoe UI" panose="020B0502040204020203" pitchFamily="34" charset="0"/>
                  <a:ea typeface="Meiryo UI" panose="020B0604030504040204" pitchFamily="50" charset="-128"/>
                  <a:cs typeface="Segoe UI" panose="020B0502040204020203" pitchFamily="34" charset="0"/>
                </a:rPr>
                <a:t> [4]</a:t>
              </a:r>
              <a:r>
                <a:rPr lang="ja-JP" altLang="en-US" sz="1100" dirty="0">
                  <a:latin typeface="Meiryo UI"/>
                  <a:ea typeface="Meiryo UI"/>
                </a:rPr>
                <a:t> 。</a:t>
              </a:r>
              <a:endParaRPr lang="en-US" altLang="ja-JP" sz="1100" dirty="0">
                <a:latin typeface="Meiryo UI"/>
                <a:ea typeface="Meiryo UI"/>
              </a:endParaRPr>
            </a:p>
          </p:txBody>
        </p:sp>
      </p:grpSp>
      <p:grpSp>
        <p:nvGrpSpPr>
          <p:cNvPr id="7" name="グループ化 6">
            <a:extLst>
              <a:ext uri="{FF2B5EF4-FFF2-40B4-BE49-F238E27FC236}">
                <a16:creationId xmlns:a16="http://schemas.microsoft.com/office/drawing/2014/main" id="{787AB616-B406-BFB2-6EFE-0697DC7ADE78}"/>
              </a:ext>
            </a:extLst>
          </p:cNvPr>
          <p:cNvGrpSpPr/>
          <p:nvPr/>
        </p:nvGrpSpPr>
        <p:grpSpPr>
          <a:xfrm>
            <a:off x="647616" y="4466856"/>
            <a:ext cx="5958286" cy="835464"/>
            <a:chOff x="647616" y="4586907"/>
            <a:chExt cx="5958286" cy="835464"/>
          </a:xfrm>
        </p:grpSpPr>
        <p:sp>
          <p:nvSpPr>
            <p:cNvPr id="8" name="テキスト ボックス 7">
              <a:extLst>
                <a:ext uri="{FF2B5EF4-FFF2-40B4-BE49-F238E27FC236}">
                  <a16:creationId xmlns:a16="http://schemas.microsoft.com/office/drawing/2014/main" id="{A84A5822-5CA6-838C-6A76-0B9228DD7D43}"/>
                </a:ext>
              </a:extLst>
            </p:cNvPr>
            <p:cNvSpPr txBox="1"/>
            <p:nvPr/>
          </p:nvSpPr>
          <p:spPr>
            <a:xfrm>
              <a:off x="647616" y="4586907"/>
              <a:ext cx="5220000" cy="270843"/>
            </a:xfrm>
            <a:prstGeom prst="rect">
              <a:avLst/>
            </a:prstGeom>
            <a:noFill/>
          </p:spPr>
          <p:txBody>
            <a:bodyPr wrap="square" lIns="0" tIns="0" rIns="0" bIns="0" rtlCol="0">
              <a:spAutoFit/>
            </a:bodyPr>
            <a:lstStyle/>
            <a:p>
              <a:pPr fontAlgn="base">
                <a:lnSpc>
                  <a:spcPct val="110000"/>
                </a:lnSpc>
              </a:pPr>
              <a:r>
                <a:rPr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クラウドサービスのセキュアで円滑な導入</a:t>
              </a:r>
              <a:endParaRPr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9" name="テキスト ボックス 8">
              <a:extLst>
                <a:ext uri="{FF2B5EF4-FFF2-40B4-BE49-F238E27FC236}">
                  <a16:creationId xmlns:a16="http://schemas.microsoft.com/office/drawing/2014/main" id="{F4ADB980-96B9-A12A-3A95-A31B72E17453}"/>
                </a:ext>
              </a:extLst>
            </p:cNvPr>
            <p:cNvSpPr txBox="1"/>
            <p:nvPr/>
          </p:nvSpPr>
          <p:spPr>
            <a:xfrm>
              <a:off x="665902" y="4837596"/>
              <a:ext cx="5940000" cy="584775"/>
            </a:xfrm>
            <a:prstGeom prst="rect">
              <a:avLst/>
            </a:prstGeom>
            <a:noFill/>
          </p:spPr>
          <p:txBody>
            <a:bodyPr wrap="square" lIns="0" tIns="0" rIns="0" bIns="0" rtlCol="0">
              <a:spAutoFit/>
            </a:bodyPr>
            <a:lstStyle/>
            <a:p>
              <a:pPr fontAlgn="base">
                <a:spcBef>
                  <a:spcPts val="600"/>
                </a:spcBef>
                <a:spcAft>
                  <a:spcPct val="0"/>
                </a:spcAft>
              </a:pPr>
              <a:r>
                <a:rPr lang="ja-JP" altLang="en-US" sz="1100" dirty="0">
                  <a:latin typeface="Meiryo UI"/>
                  <a:ea typeface="Meiryo UI"/>
                </a:rPr>
                <a:t>各府省が個別にクラウドサービスのプロバイダにセキュリティ対策を確認し、調達を行うことは非効率。</a:t>
              </a:r>
              <a:endParaRPr lang="en-US" altLang="ja-JP" sz="1100" dirty="0">
                <a:latin typeface="Meiryo UI"/>
                <a:ea typeface="Meiryo UI"/>
              </a:endParaRPr>
            </a:p>
            <a:p>
              <a:pPr fontAlgn="base">
                <a:spcBef>
                  <a:spcPts val="600"/>
                </a:spcBef>
                <a:spcAft>
                  <a:spcPct val="0"/>
                </a:spcAft>
              </a:pPr>
              <a:r>
                <a:rPr lang="ja-JP" altLang="en-US" sz="1100" dirty="0">
                  <a:latin typeface="Meiryo UI"/>
                  <a:ea typeface="Meiryo UI"/>
                </a:rPr>
                <a:t>そこで、セキュリティ基準を満たしているクラウドサービスをあらかじめ評価・登録し、サービスリストから選択できるようにすることで、</a:t>
              </a:r>
              <a:r>
                <a:rPr lang="ja-JP" altLang="en-US" sz="1100" b="1" dirty="0">
                  <a:latin typeface="Meiryo UI"/>
                  <a:ea typeface="Meiryo UI"/>
                </a:rPr>
                <a:t>セキュリティ水準を確保し、円滑なクラウドサービス導入を目指した</a:t>
              </a:r>
              <a:r>
                <a:rPr lang="ja-JP" altLang="en-US" sz="1100" dirty="0">
                  <a:latin typeface="Meiryo UI"/>
                  <a:ea typeface="Meiryo UI"/>
                </a:rPr>
                <a:t>。</a:t>
              </a:r>
              <a:endParaRPr lang="ja-JP" altLang="en-US" sz="1100" b="1" dirty="0">
                <a:latin typeface="Meiryo UI"/>
                <a:ea typeface="Meiryo UI"/>
              </a:endParaRPr>
            </a:p>
          </p:txBody>
        </p:sp>
      </p:grpSp>
      <p:pic>
        <p:nvPicPr>
          <p:cNvPr id="2" name="図 1">
            <a:extLst>
              <a:ext uri="{FF2B5EF4-FFF2-40B4-BE49-F238E27FC236}">
                <a16:creationId xmlns:a16="http://schemas.microsoft.com/office/drawing/2014/main" id="{7410BA68-1571-178C-C1B8-442E8CD37571}"/>
              </a:ext>
            </a:extLst>
          </p:cNvPr>
          <p:cNvPicPr>
            <a:picLocks noChangeAspect="1"/>
          </p:cNvPicPr>
          <p:nvPr/>
        </p:nvPicPr>
        <p:blipFill>
          <a:blip r:embed="rId3"/>
          <a:stretch>
            <a:fillRect/>
          </a:stretch>
        </p:blipFill>
        <p:spPr>
          <a:xfrm>
            <a:off x="7525486" y="1950201"/>
            <a:ext cx="3245183" cy="3066423"/>
          </a:xfrm>
          <a:prstGeom prst="rect">
            <a:avLst/>
          </a:prstGeom>
        </p:spPr>
      </p:pic>
      <p:sp>
        <p:nvSpPr>
          <p:cNvPr id="5" name="テキスト ボックス 4">
            <a:extLst>
              <a:ext uri="{FF2B5EF4-FFF2-40B4-BE49-F238E27FC236}">
                <a16:creationId xmlns:a16="http://schemas.microsoft.com/office/drawing/2014/main" id="{CCE47AA7-B9EE-A194-60FF-5807CEB3B22F}"/>
              </a:ext>
            </a:extLst>
          </p:cNvPr>
          <p:cNvSpPr txBox="1"/>
          <p:nvPr/>
        </p:nvSpPr>
        <p:spPr>
          <a:xfrm>
            <a:off x="6957138" y="1615401"/>
            <a:ext cx="5400000" cy="201978"/>
          </a:xfrm>
          <a:prstGeom prst="rect">
            <a:avLst/>
          </a:prstGeom>
          <a:noFill/>
        </p:spPr>
        <p:txBody>
          <a:bodyPr wrap="square" lIns="0" tIns="0" rIns="0" bIns="0" rtlCol="0" anchor="ctr">
            <a:spAutoFit/>
          </a:bodyPr>
          <a:lstStyle/>
          <a:p>
            <a:pPr marL="324000" indent="-324000" fontAlgn="base">
              <a:lnSpc>
                <a:spcPct val="110000"/>
              </a:lnSpc>
              <a:buClr>
                <a:srgbClr val="009999"/>
              </a:buClr>
              <a:buFont typeface="Meiryo UI" panose="020B0604030504040204" pitchFamily="50" charset="-128"/>
              <a:buChar char="▐"/>
            </a:pPr>
            <a:r>
              <a:rPr lang="ja-JP" altLang="en-US" sz="1300" kern="500" dirty="0">
                <a:latin typeface="Segoe UI" panose="020B0502040204020203" pitchFamily="34" charset="0"/>
                <a:ea typeface="Meiryo UI" panose="020B0604030504040204" pitchFamily="50" charset="-128"/>
                <a:cs typeface="Segoe UI" panose="020B0502040204020203" pitchFamily="34" charset="0"/>
              </a:rPr>
              <a:t>図．</a:t>
            </a:r>
            <a:r>
              <a:rPr lang="en-US" altLang="ja-JP" sz="1300" kern="500" dirty="0">
                <a:latin typeface="Segoe UI" panose="020B0502040204020203" pitchFamily="34" charset="0"/>
                <a:ea typeface="Meiryo UI" panose="020B0604030504040204" pitchFamily="50" charset="-128"/>
                <a:cs typeface="Segoe UI" panose="020B0502040204020203" pitchFamily="34" charset="0"/>
              </a:rPr>
              <a:t>ISMAP</a:t>
            </a:r>
            <a:r>
              <a:rPr lang="ja-JP" altLang="en-US" sz="1300" kern="500" dirty="0">
                <a:latin typeface="Segoe UI" panose="020B0502040204020203" pitchFamily="34" charset="0"/>
                <a:ea typeface="Meiryo UI" panose="020B0604030504040204" pitchFamily="50" charset="-128"/>
                <a:cs typeface="Segoe UI" panose="020B0502040204020203" pitchFamily="34" charset="0"/>
              </a:rPr>
              <a:t>制度の目指すべき姿</a:t>
            </a:r>
            <a:r>
              <a:rPr lang="en-US" altLang="ja-JP" sz="1300" kern="500" baseline="30000" dirty="0">
                <a:latin typeface="Segoe UI" panose="020B0502040204020203" pitchFamily="34" charset="0"/>
                <a:ea typeface="Meiryo UI" panose="020B0604030504040204" pitchFamily="50" charset="-128"/>
                <a:cs typeface="Segoe UI" panose="020B0502040204020203" pitchFamily="34" charset="0"/>
              </a:rPr>
              <a:t>[5]</a:t>
            </a:r>
          </a:p>
        </p:txBody>
      </p:sp>
      <p:sp>
        <p:nvSpPr>
          <p:cNvPr id="6" name="テキスト ボックス 5">
            <a:extLst>
              <a:ext uri="{FF2B5EF4-FFF2-40B4-BE49-F238E27FC236}">
                <a16:creationId xmlns:a16="http://schemas.microsoft.com/office/drawing/2014/main" id="{95E41E1D-A74A-9535-D5E6-5CE9AD14A974}"/>
              </a:ext>
            </a:extLst>
          </p:cNvPr>
          <p:cNvSpPr txBox="1"/>
          <p:nvPr/>
        </p:nvSpPr>
        <p:spPr>
          <a:xfrm>
            <a:off x="7095979" y="5400000"/>
            <a:ext cx="4869041" cy="1231106"/>
          </a:xfrm>
          <a:prstGeom prst="rect">
            <a:avLst/>
          </a:prstGeom>
          <a:noFill/>
        </p:spPr>
        <p:txBody>
          <a:bodyPr wrap="square" lIns="0" tIns="0" rIns="0" bIns="0" rtlCol="0">
            <a:spAutoFit/>
          </a:bodyPr>
          <a:lstStyle/>
          <a:p>
            <a:pPr lvl="0" fontAlgn="base">
              <a:spcAft>
                <a:spcPct val="0"/>
              </a:spcAft>
              <a:defRPr/>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脚注</a:t>
            </a:r>
            <a:br>
              <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b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1</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］出典：政府機関等のサイバーセキュリティ対策のための統一基準（令和</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7</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年度版）</a:t>
            </a: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b="1" kern="0" dirty="0">
                <a:solidFill>
                  <a:prstClr val="black"/>
                </a:solidFill>
                <a:latin typeface="Meiryo UI" panose="020B0604030504040204" pitchFamily="50" charset="-128"/>
                <a:ea typeface="Meiryo UI" panose="020B0604030504040204" pitchFamily="50" charset="-128"/>
                <a:hlinkClick r:id="rId4"/>
              </a:rPr>
              <a:t>Link</a:t>
            </a: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ja-JP" altLang="en-US" sz="800" kern="0" dirty="0">
                <a:latin typeface="Meiryo UI" panose="020B0604030504040204" pitchFamily="50" charset="-128"/>
                <a:ea typeface="Meiryo UI" panose="020B0604030504040204" pitchFamily="50" charset="-128"/>
              </a:rPr>
              <a:t>を基に作成</a:t>
            </a:r>
            <a:endParaRPr kumimoji="0" lang="en-US" altLang="ja-JP" sz="800" kern="0" dirty="0">
              <a:latin typeface="Meiryo UI" panose="020B0604030504040204" pitchFamily="50" charset="-128"/>
              <a:ea typeface="Meiryo UI" panose="020B0604030504040204" pitchFamily="50" charset="-128"/>
            </a:endParaRPr>
          </a:p>
          <a:p>
            <a:pPr lvl="0" fontAlgn="base">
              <a:spcAft>
                <a:spcPct val="0"/>
              </a:spcAft>
              <a:defRPr/>
            </a:pPr>
            <a:r>
              <a:rPr kumimoji="0" lang="ja-JP" altLang="en-US" sz="800" kern="0" dirty="0">
                <a:latin typeface="Meiryo UI" panose="020B0604030504040204" pitchFamily="50" charset="-128"/>
                <a:ea typeface="Meiryo UI" panose="020B0604030504040204" pitchFamily="50" charset="-128"/>
              </a:rPr>
              <a:t>［</a:t>
            </a:r>
            <a:r>
              <a:rPr kumimoji="0" lang="en-US" altLang="ja-JP" sz="800" kern="0" dirty="0">
                <a:latin typeface="Meiryo UI" panose="020B0604030504040204" pitchFamily="50" charset="-128"/>
                <a:ea typeface="Meiryo UI" panose="020B0604030504040204" pitchFamily="50" charset="-128"/>
              </a:rPr>
              <a:t>2</a:t>
            </a:r>
            <a:r>
              <a:rPr kumimoji="0" lang="ja-JP" altLang="en-US" sz="800" kern="0" dirty="0">
                <a:latin typeface="Meiryo UI" panose="020B0604030504040204" pitchFamily="50" charset="-128"/>
                <a:ea typeface="Meiryo UI" panose="020B0604030504040204" pitchFamily="50" charset="-128"/>
              </a:rPr>
              <a:t>］出典：国家サイバー統括室政府情報システムのためのセキュリティ評価制度（</a:t>
            </a:r>
            <a:r>
              <a:rPr kumimoji="0" lang="en-US" altLang="ja-JP" sz="800" kern="0" dirty="0">
                <a:latin typeface="Meiryo UI" panose="020B0604030504040204" pitchFamily="50" charset="-128"/>
                <a:ea typeface="Meiryo UI" panose="020B0604030504040204" pitchFamily="50" charset="-128"/>
              </a:rPr>
              <a:t>ISMAP</a:t>
            </a:r>
            <a:r>
              <a:rPr kumimoji="0" lang="ja-JP" altLang="en-US" sz="800" kern="0" dirty="0">
                <a:latin typeface="Meiryo UI" panose="020B0604030504040204" pitchFamily="50" charset="-128"/>
                <a:ea typeface="Meiryo UI" panose="020B0604030504040204" pitchFamily="50" charset="-128"/>
              </a:rPr>
              <a:t>）（</a:t>
            </a:r>
            <a:r>
              <a:rPr kumimoji="0" lang="en-US" altLang="ja-JP" sz="800" b="1" kern="0" dirty="0">
                <a:latin typeface="Meiryo UI" panose="020B0604030504040204" pitchFamily="50" charset="-128"/>
                <a:ea typeface="Meiryo UI" panose="020B0604030504040204" pitchFamily="50" charset="-128"/>
                <a:hlinkClick r:id="rId5"/>
              </a:rPr>
              <a:t>Link</a:t>
            </a:r>
            <a:r>
              <a:rPr kumimoji="0" lang="ja-JP" altLang="en-US" sz="800" kern="0" dirty="0">
                <a:latin typeface="Meiryo UI" panose="020B0604030504040204" pitchFamily="50" charset="-128"/>
                <a:ea typeface="Meiryo UI" panose="020B0604030504040204" pitchFamily="50" charset="-128"/>
              </a:rPr>
              <a:t>）を基に作成</a:t>
            </a:r>
            <a:endParaRPr kumimoji="0" lang="en-US" altLang="ja-JP" sz="800" kern="0" dirty="0">
              <a:latin typeface="Meiryo UI" panose="020B0604030504040204" pitchFamily="50" charset="-128"/>
              <a:ea typeface="Meiryo UI" panose="020B0604030504040204" pitchFamily="50" charset="-128"/>
            </a:endParaRPr>
          </a:p>
          <a:p>
            <a:pPr fontAlgn="base">
              <a:spcAft>
                <a:spcPct val="0"/>
              </a:spcAft>
              <a:defRPr/>
            </a:pP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3</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kumimoji="0" lang="en-US" altLang="ja-JP" sz="800" kern="0" dirty="0">
                <a:latin typeface="Meiryo UI" panose="020B0604030504040204" pitchFamily="50" charset="-128"/>
                <a:ea typeface="Meiryo UI" panose="020B0604030504040204" pitchFamily="50" charset="-128"/>
              </a:rPr>
              <a:t>DS-310</a:t>
            </a:r>
            <a:r>
              <a:rPr kumimoji="0" lang="ja-JP" altLang="en-US" sz="800" kern="0" dirty="0">
                <a:latin typeface="Meiryo UI" panose="020B0604030504040204" pitchFamily="50" charset="-128"/>
                <a:ea typeface="Meiryo UI" panose="020B0604030504040204" pitchFamily="50" charset="-128"/>
              </a:rPr>
              <a:t>政府情報システムにおけるクラウドサービスの適切な利用に係る基本方針</a:t>
            </a: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b="1" kern="0" dirty="0">
                <a:solidFill>
                  <a:prstClr val="black"/>
                </a:solidFill>
                <a:latin typeface="Meiryo UI" panose="020B0604030504040204" pitchFamily="50" charset="-128"/>
                <a:ea typeface="Meiryo UI" panose="020B0604030504040204" pitchFamily="50" charset="-128"/>
                <a:hlinkClick r:id="rId6"/>
              </a:rPr>
              <a:t>Link</a:t>
            </a: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ja-JP" altLang="en-US" sz="800" kern="0" dirty="0">
                <a:latin typeface="Meiryo UI" panose="020B0604030504040204" pitchFamily="50" charset="-128"/>
                <a:ea typeface="Meiryo UI" panose="020B0604030504040204" pitchFamily="50" charset="-128"/>
              </a:rPr>
              <a:t>を基に作成</a:t>
            </a:r>
            <a:endParaRPr kumimoji="0" lang="en-US" altLang="ja-JP" sz="800" kern="0" dirty="0">
              <a:latin typeface="Meiryo UI" panose="020B0604030504040204" pitchFamily="50" charset="-128"/>
              <a:ea typeface="Meiryo UI" panose="020B0604030504040204" pitchFamily="50" charset="-128"/>
            </a:endParaRPr>
          </a:p>
          <a:p>
            <a:pPr fontAlgn="base">
              <a:spcAft>
                <a:spcPct val="0"/>
              </a:spcAft>
              <a:defRPr/>
            </a:pPr>
            <a:r>
              <a:rPr kumimoji="0" lang="ja-JP" altLang="en-US" sz="800" kern="0" dirty="0">
                <a:latin typeface="Meiryo UI" panose="020B0604030504040204" pitchFamily="50" charset="-128"/>
                <a:ea typeface="Meiryo UI" panose="020B0604030504040204" pitchFamily="50" charset="-128"/>
              </a:rPr>
              <a:t>［</a:t>
            </a:r>
            <a:r>
              <a:rPr kumimoji="0" lang="en-US" altLang="ja-JP" sz="800" kern="0" dirty="0">
                <a:latin typeface="Meiryo UI" panose="020B0604030504040204" pitchFamily="50" charset="-128"/>
                <a:ea typeface="Meiryo UI" panose="020B0604030504040204" pitchFamily="50" charset="-128"/>
              </a:rPr>
              <a:t>4</a:t>
            </a:r>
            <a:r>
              <a:rPr kumimoji="0" lang="ja-JP" altLang="en-US" sz="800" kern="0" dirty="0">
                <a:latin typeface="Meiryo UI" panose="020B0604030504040204" pitchFamily="50" charset="-128"/>
                <a:ea typeface="Meiryo UI" panose="020B0604030504040204" pitchFamily="50" charset="-128"/>
              </a:rPr>
              <a:t>］出典：デジタル庁 </a:t>
            </a:r>
            <a:r>
              <a:rPr kumimoji="0" lang="en-US" altLang="ja-JP" sz="800" kern="0" dirty="0">
                <a:latin typeface="Meiryo UI" panose="020B0604030504040204" pitchFamily="50" charset="-128"/>
                <a:ea typeface="Meiryo UI" panose="020B0604030504040204" pitchFamily="50" charset="-128"/>
              </a:rPr>
              <a:t>ISMAP-LIU</a:t>
            </a:r>
            <a:r>
              <a:rPr kumimoji="0" lang="ja-JP" altLang="en-US" sz="800" kern="0" dirty="0">
                <a:latin typeface="Meiryo UI" panose="020B0604030504040204" pitchFamily="50" charset="-128"/>
                <a:ea typeface="Meiryo UI" panose="020B0604030504040204" pitchFamily="50" charset="-128"/>
              </a:rPr>
              <a:t>登録促進のための取組み（</a:t>
            </a:r>
            <a:r>
              <a:rPr kumimoji="0" lang="en-US" altLang="ja-JP" sz="800" b="1" kern="0" dirty="0">
                <a:latin typeface="Meiryo UI" panose="020B0604030504040204" pitchFamily="50" charset="-128"/>
                <a:ea typeface="Meiryo UI" panose="020B0604030504040204" pitchFamily="50" charset="-128"/>
                <a:hlinkClick r:id="rId7"/>
              </a:rPr>
              <a:t>Link</a:t>
            </a:r>
            <a:r>
              <a:rPr kumimoji="0" lang="ja-JP" altLang="en-US" sz="800" kern="0" dirty="0">
                <a:latin typeface="Meiryo UI" panose="020B0604030504040204" pitchFamily="50" charset="-128"/>
                <a:ea typeface="Meiryo UI" panose="020B0604030504040204" pitchFamily="50" charset="-128"/>
              </a:rPr>
              <a:t>）を基に作成</a:t>
            </a:r>
          </a:p>
          <a:p>
            <a:pPr lvl="0" fontAlgn="base">
              <a:spcAft>
                <a:spcPct val="0"/>
              </a:spcAft>
              <a:defRPr/>
            </a:pP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5</a:t>
            </a:r>
            <a:r>
              <a:rPr kumimoji="0" lang="ja-JP" altLang="en-US" sz="800" kern="0" dirty="0">
                <a:solidFill>
                  <a:prstClr val="black"/>
                </a:solidFill>
                <a:latin typeface="Meiryo UI" panose="020B0604030504040204" pitchFamily="50" charset="-128"/>
                <a:ea typeface="Meiryo UI" panose="020B0604030504040204" pitchFamily="50" charset="-128"/>
              </a:rPr>
              <a:t>］出典：政府情報システムのためのセキュリティ評価制度（</a:t>
            </a:r>
            <a:r>
              <a:rPr kumimoji="0" lang="en-US" altLang="ja-JP" sz="800" kern="0" dirty="0">
                <a:solidFill>
                  <a:prstClr val="black"/>
                </a:solidFill>
                <a:latin typeface="Meiryo UI" panose="020B0604030504040204" pitchFamily="50" charset="-128"/>
                <a:ea typeface="Meiryo UI" panose="020B0604030504040204" pitchFamily="50" charset="-128"/>
              </a:rPr>
              <a:t>ISMAP</a:t>
            </a:r>
            <a:r>
              <a:rPr kumimoji="0" lang="ja-JP" altLang="en-US" sz="800" kern="0" dirty="0">
                <a:solidFill>
                  <a:prstClr val="black"/>
                </a:solidFill>
                <a:latin typeface="Meiryo UI" panose="020B0604030504040204" pitchFamily="50" charset="-128"/>
                <a:ea typeface="Meiryo UI" panose="020B0604030504040204" pitchFamily="50" charset="-128"/>
              </a:rPr>
              <a:t>）の概要（</a:t>
            </a:r>
            <a:r>
              <a:rPr kumimoji="0" lang="en-US" altLang="ja-JP" sz="800" b="1" kern="0" dirty="0">
                <a:solidFill>
                  <a:prstClr val="black"/>
                </a:solidFill>
                <a:latin typeface="Meiryo UI" panose="020B0604030504040204" pitchFamily="50" charset="-128"/>
                <a:ea typeface="Meiryo UI" panose="020B0604030504040204" pitchFamily="50" charset="-128"/>
                <a:hlinkClick r:id="rId8"/>
              </a:rPr>
              <a:t>Link</a:t>
            </a:r>
            <a:r>
              <a:rPr kumimoji="0" lang="ja-JP" altLang="en-US" sz="800" kern="0" dirty="0">
                <a:solidFill>
                  <a:prstClr val="black"/>
                </a:solidFill>
                <a:latin typeface="Meiryo UI" panose="020B0604030504040204" pitchFamily="50" charset="-128"/>
                <a:ea typeface="Meiryo UI" panose="020B0604030504040204" pitchFamily="50" charset="-128"/>
              </a:rPr>
              <a:t>）を引用</a:t>
            </a:r>
          </a:p>
          <a:p>
            <a:pPr fontAlgn="base">
              <a:spcBef>
                <a:spcPct val="0"/>
              </a:spcBef>
              <a:spcAft>
                <a:spcPct val="0"/>
              </a:spcAft>
              <a:defRPr/>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参考情報</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DS-310 </a:t>
            </a:r>
            <a:r>
              <a:rPr kumimoji="0" lang="ja-JP" altLang="en-US" sz="800" kern="0" dirty="0">
                <a:solidFill>
                  <a:prstClr val="black"/>
                </a:solidFill>
                <a:latin typeface="Meiryo UI" panose="020B0604030504040204" pitchFamily="50" charset="-128"/>
                <a:ea typeface="Meiryo UI" panose="020B0604030504040204" pitchFamily="50" charset="-128"/>
              </a:rPr>
              <a:t>政府情報システムにおけるクラウドサービスの適切な利用に係る基本方針（</a:t>
            </a:r>
            <a:r>
              <a:rPr kumimoji="0" lang="en-US" altLang="ja-JP" sz="800" b="1" kern="0" dirty="0">
                <a:solidFill>
                  <a:prstClr val="black"/>
                </a:solidFill>
                <a:latin typeface="Meiryo UI" panose="020B0604030504040204" pitchFamily="50" charset="-128"/>
                <a:ea typeface="Meiryo UI" panose="020B0604030504040204" pitchFamily="50" charset="-128"/>
                <a:hlinkClick r:id="rId6"/>
              </a:rPr>
              <a:t>Link</a:t>
            </a:r>
            <a:r>
              <a:rPr kumimoji="0" lang="ja-JP" altLang="en-US" sz="800" kern="0" dirty="0">
                <a:solidFill>
                  <a:prstClr val="black"/>
                </a:solidFill>
                <a:latin typeface="Meiryo UI" panose="020B0604030504040204" pitchFamily="50" charset="-128"/>
                <a:ea typeface="Meiryo UI" panose="020B0604030504040204" pitchFamily="50" charset="-128"/>
              </a:rPr>
              <a:t>）</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ISMAP </a:t>
            </a:r>
            <a:r>
              <a:rPr kumimoji="0" lang="ja-JP" altLang="en-US" sz="800" kern="0" dirty="0">
                <a:solidFill>
                  <a:prstClr val="black"/>
                </a:solidFill>
                <a:latin typeface="Meiryo UI" panose="020B0604030504040204" pitchFamily="50" charset="-128"/>
                <a:ea typeface="Meiryo UI" panose="020B0604030504040204" pitchFamily="50" charset="-128"/>
              </a:rPr>
              <a:t>政府情報システムのためのセキュリティ評価制度（</a:t>
            </a:r>
            <a:r>
              <a:rPr kumimoji="0" lang="en-US" altLang="ja-JP" sz="800" b="1" kern="0" dirty="0">
                <a:solidFill>
                  <a:prstClr val="black"/>
                </a:solidFill>
                <a:latin typeface="Meiryo UI" panose="020B0604030504040204" pitchFamily="50" charset="-128"/>
                <a:ea typeface="Meiryo UI" panose="020B0604030504040204" pitchFamily="50" charset="-128"/>
                <a:hlinkClick r:id="rId9"/>
              </a:rPr>
              <a:t>Link</a:t>
            </a:r>
            <a:r>
              <a:rPr kumimoji="0" lang="ja-JP" altLang="en-US" sz="800" kern="0" dirty="0">
                <a:solidFill>
                  <a:prstClr val="black"/>
                </a:solidFill>
                <a:latin typeface="Meiryo UI" panose="020B0604030504040204" pitchFamily="50" charset="-128"/>
                <a:ea typeface="Meiryo UI" panose="020B0604030504040204" pitchFamily="50" charset="-128"/>
              </a:rPr>
              <a:t>）</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ISMAP </a:t>
            </a:r>
            <a:r>
              <a:rPr kumimoji="0" lang="ja-JP" altLang="en-US" sz="800" kern="0" dirty="0">
                <a:solidFill>
                  <a:prstClr val="black"/>
                </a:solidFill>
                <a:latin typeface="Meiryo UI" panose="020B0604030504040204" pitchFamily="50" charset="-128"/>
                <a:ea typeface="Meiryo UI" panose="020B0604030504040204" pitchFamily="50" charset="-128"/>
              </a:rPr>
              <a:t>政府情報システムのためのセキュリティ評価制度 </a:t>
            </a:r>
            <a:r>
              <a:rPr kumimoji="0" lang="en-US" altLang="ja-JP" sz="800" kern="0" dirty="0">
                <a:solidFill>
                  <a:prstClr val="black"/>
                </a:solidFill>
                <a:latin typeface="Meiryo UI" panose="020B0604030504040204" pitchFamily="50" charset="-128"/>
                <a:ea typeface="Meiryo UI" panose="020B0604030504040204" pitchFamily="50" charset="-128"/>
              </a:rPr>
              <a:t>ISMAP</a:t>
            </a:r>
            <a:r>
              <a:rPr kumimoji="0" lang="ja-JP" altLang="en-US" sz="800" kern="0" dirty="0">
                <a:solidFill>
                  <a:prstClr val="black"/>
                </a:solidFill>
                <a:latin typeface="Meiryo UI" panose="020B0604030504040204" pitchFamily="50" charset="-128"/>
                <a:ea typeface="Meiryo UI" panose="020B0604030504040204" pitchFamily="50" charset="-128"/>
              </a:rPr>
              <a:t>概要（</a:t>
            </a:r>
            <a:r>
              <a:rPr kumimoji="0" lang="en-US" altLang="ja-JP" sz="800" b="1" kern="0" dirty="0">
                <a:solidFill>
                  <a:prstClr val="black"/>
                </a:solidFill>
                <a:latin typeface="Meiryo UI" panose="020B0604030504040204" pitchFamily="50" charset="-128"/>
                <a:ea typeface="Meiryo UI" panose="020B0604030504040204" pitchFamily="50" charset="-128"/>
                <a:hlinkClick r:id="rId8"/>
              </a:rPr>
              <a:t>Link</a:t>
            </a:r>
            <a:r>
              <a:rPr kumimoji="0" lang="ja-JP" altLang="en-US" sz="800" kern="0" dirty="0">
                <a:solidFill>
                  <a:prstClr val="black"/>
                </a:solidFill>
                <a:latin typeface="Meiryo UI" panose="020B0604030504040204" pitchFamily="50" charset="-128"/>
                <a:ea typeface="Meiryo UI" panose="020B0604030504040204" pitchFamily="50" charset="-128"/>
              </a:rPr>
              <a:t>）</a:t>
            </a:r>
            <a:endParaRPr kumimoji="0" lang="en-US" altLang="ja-JP" sz="800" kern="0"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571839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37F47-0D92-F51C-91F9-086D3A14D0A2}"/>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D4318240-928E-AAB9-F503-D5AD5E054FAE}"/>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調達手続及びその実施に要する期間</a:t>
            </a:r>
            <a:endParaRPr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20" name="正方形/長方形 19">
            <a:extLst>
              <a:ext uri="{FF2B5EF4-FFF2-40B4-BE49-F238E27FC236}">
                <a16:creationId xmlns:a16="http://schemas.microsoft.com/office/drawing/2014/main" id="{C8888A0C-A954-F7F9-8FD5-735126E81FBB}"/>
              </a:ext>
            </a:extLst>
          </p:cNvPr>
          <p:cNvSpPr/>
          <p:nvPr/>
        </p:nvSpPr>
        <p:spPr>
          <a:xfrm>
            <a:off x="0" y="0"/>
            <a:ext cx="468000" cy="1512000"/>
          </a:xfrm>
          <a:prstGeom prst="rect">
            <a:avLst/>
          </a:prstGeom>
          <a:solidFill>
            <a:srgbClr val="D7E4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9D334D56-E318-EDA1-7D68-304D08AA7F0C}"/>
              </a:ext>
            </a:extLst>
          </p:cNvPr>
          <p:cNvSpPr txBox="1"/>
          <p:nvPr/>
        </p:nvSpPr>
        <p:spPr>
          <a:xfrm>
            <a:off x="763660" y="983204"/>
            <a:ext cx="10980000" cy="314317"/>
          </a:xfrm>
          <a:prstGeom prst="rect">
            <a:avLst/>
          </a:prstGeom>
          <a:noFill/>
        </p:spPr>
        <p:txBody>
          <a:bodyPr wrap="square" lIns="0" tIns="0" rIns="0" bIns="0" rtlCol="0">
            <a:spAutoFit/>
          </a:bodyPr>
          <a:lstStyle/>
          <a:p>
            <a:pPr marL="342900" indent="-342900" fontAlgn="base">
              <a:lnSpc>
                <a:spcPct val="110000"/>
              </a:lnSpc>
              <a:buClr>
                <a:srgbClr val="009999"/>
              </a:buClr>
              <a:buFont typeface="メイリオ" panose="020B0604030504040204" pitchFamily="50" charset="-128"/>
              <a:buChar char="▶"/>
            </a:pP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調達で実施すべき手続及びそれに要する期間が定められている。</a:t>
            </a:r>
          </a:p>
        </p:txBody>
      </p:sp>
      <p:sp>
        <p:nvSpPr>
          <p:cNvPr id="97" name="フリーフォーム: 図形 96">
            <a:extLst>
              <a:ext uri="{FF2B5EF4-FFF2-40B4-BE49-F238E27FC236}">
                <a16:creationId xmlns:a16="http://schemas.microsoft.com/office/drawing/2014/main" id="{DB1FC5DD-7687-93FC-6E84-4D1024E03695}"/>
              </a:ext>
            </a:extLst>
          </p:cNvPr>
          <p:cNvSpPr/>
          <p:nvPr/>
        </p:nvSpPr>
        <p:spPr>
          <a:xfrm>
            <a:off x="0" y="1615401"/>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説明</a:t>
            </a:r>
          </a:p>
        </p:txBody>
      </p:sp>
      <p:cxnSp>
        <p:nvCxnSpPr>
          <p:cNvPr id="98" name="直線コネクタ 97">
            <a:extLst>
              <a:ext uri="{FF2B5EF4-FFF2-40B4-BE49-F238E27FC236}">
                <a16:creationId xmlns:a16="http://schemas.microsoft.com/office/drawing/2014/main" id="{CE8ADD13-7701-2FF0-9F89-D35F6402F1F8}"/>
              </a:ext>
            </a:extLst>
          </p:cNvPr>
          <p:cNvCxnSpPr>
            <a:cxnSpLocks/>
          </p:cNvCxnSpPr>
          <p:nvPr/>
        </p:nvCxnSpPr>
        <p:spPr>
          <a:xfrm>
            <a:off x="2392680" y="1777401"/>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sp>
        <p:nvSpPr>
          <p:cNvPr id="105" name="フリーフォーム: 図形 104">
            <a:extLst>
              <a:ext uri="{FF2B5EF4-FFF2-40B4-BE49-F238E27FC236}">
                <a16:creationId xmlns:a16="http://schemas.microsoft.com/office/drawing/2014/main" id="{A367F42E-7EFA-6EDC-F611-AEA099B906E8}"/>
              </a:ext>
            </a:extLst>
          </p:cNvPr>
          <p:cNvSpPr/>
          <p:nvPr/>
        </p:nvSpPr>
        <p:spPr>
          <a:xfrm>
            <a:off x="0" y="3971556"/>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背景・経緯</a:t>
            </a:r>
          </a:p>
        </p:txBody>
      </p:sp>
      <p:cxnSp>
        <p:nvCxnSpPr>
          <p:cNvPr id="106" name="直線コネクタ 105">
            <a:extLst>
              <a:ext uri="{FF2B5EF4-FFF2-40B4-BE49-F238E27FC236}">
                <a16:creationId xmlns:a16="http://schemas.microsoft.com/office/drawing/2014/main" id="{728B8548-E2E6-C2B2-8151-F2D0CDF292DD}"/>
              </a:ext>
            </a:extLst>
          </p:cNvPr>
          <p:cNvCxnSpPr>
            <a:cxnSpLocks/>
          </p:cNvCxnSpPr>
          <p:nvPr/>
        </p:nvCxnSpPr>
        <p:spPr>
          <a:xfrm>
            <a:off x="2392680" y="4133556"/>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grpSp>
        <p:nvGrpSpPr>
          <p:cNvPr id="30" name="グループ化 29">
            <a:extLst>
              <a:ext uri="{FF2B5EF4-FFF2-40B4-BE49-F238E27FC236}">
                <a16:creationId xmlns:a16="http://schemas.microsoft.com/office/drawing/2014/main" id="{7BE0ECA3-E036-5905-CCDA-86BE8B9E2E35}"/>
              </a:ext>
            </a:extLst>
          </p:cNvPr>
          <p:cNvGrpSpPr/>
          <p:nvPr/>
        </p:nvGrpSpPr>
        <p:grpSpPr>
          <a:xfrm>
            <a:off x="593054" y="2087685"/>
            <a:ext cx="5977337" cy="1343296"/>
            <a:chOff x="647616" y="2108832"/>
            <a:chExt cx="5977337" cy="1343296"/>
          </a:xfrm>
        </p:grpSpPr>
        <p:sp>
          <p:nvSpPr>
            <p:cNvPr id="95" name="テキスト ボックス 94">
              <a:extLst>
                <a:ext uri="{FF2B5EF4-FFF2-40B4-BE49-F238E27FC236}">
                  <a16:creationId xmlns:a16="http://schemas.microsoft.com/office/drawing/2014/main" id="{F7B6CA48-D18A-4118-2583-4C5A1CD60958}"/>
                </a:ext>
              </a:extLst>
            </p:cNvPr>
            <p:cNvSpPr txBox="1"/>
            <p:nvPr/>
          </p:nvSpPr>
          <p:spPr>
            <a:xfrm>
              <a:off x="647616" y="2108832"/>
              <a:ext cx="5220000" cy="270843"/>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予定価格に応じた手続と期間を規定</a:t>
              </a:r>
              <a:endParaRPr kumimoji="1"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96" name="テキスト ボックス 95">
              <a:extLst>
                <a:ext uri="{FF2B5EF4-FFF2-40B4-BE49-F238E27FC236}">
                  <a16:creationId xmlns:a16="http://schemas.microsoft.com/office/drawing/2014/main" id="{6DEED8EF-8417-42EC-5C50-0C92A984BB98}"/>
                </a:ext>
              </a:extLst>
            </p:cNvPr>
            <p:cNvSpPr txBox="1"/>
            <p:nvPr/>
          </p:nvSpPr>
          <p:spPr>
            <a:xfrm>
              <a:off x="684953" y="2359521"/>
              <a:ext cx="5940000" cy="1092607"/>
            </a:xfrm>
            <a:prstGeom prst="rect">
              <a:avLst/>
            </a:prstGeom>
            <a:noFill/>
          </p:spPr>
          <p:txBody>
            <a:bodyPr wrap="square" lIns="0" tIns="0" rIns="0" bIns="0" rtlCol="0">
              <a:spAutoFit/>
            </a:bodyPr>
            <a:lstStyle/>
            <a:p>
              <a:pPr fontAlgn="base">
                <a:spcBef>
                  <a:spcPts val="600"/>
                </a:spcBef>
                <a:spcAft>
                  <a:spcPct val="0"/>
                </a:spcAft>
                <a:tabLst>
                  <a:tab pos="2247900" algn="l"/>
                  <a:tab pos="3403600" algn="l"/>
                </a:tabLst>
              </a:pPr>
              <a:r>
                <a:rPr lang="ja-JP" altLang="en-US" sz="1100" b="1" dirty="0">
                  <a:latin typeface="Meiryo UI"/>
                  <a:ea typeface="Meiryo UI"/>
                </a:rPr>
                <a:t>右の表のとおり、予定価格ごとに入札公告や意見招請手続等の調達手続及びその実施期間が定められている</a:t>
              </a:r>
              <a:r>
                <a:rPr lang="ja-JP" altLang="en-US" sz="1100" dirty="0">
                  <a:latin typeface="Meiryo UI"/>
                  <a:ea typeface="Meiryo UI"/>
                </a:rPr>
                <a:t>。例えば、予定価格が</a:t>
              </a:r>
              <a:r>
                <a:rPr lang="en-US" altLang="ja-JP" sz="1100" dirty="0">
                  <a:latin typeface="Meiryo UI"/>
                  <a:ea typeface="Meiryo UI"/>
                </a:rPr>
                <a:t>80</a:t>
              </a:r>
              <a:r>
                <a:rPr lang="ja-JP" altLang="en-US" sz="1100" dirty="0">
                  <a:latin typeface="Meiryo UI"/>
                  <a:ea typeface="Meiryo UI"/>
                </a:rPr>
                <a:t>万</a:t>
              </a:r>
              <a:r>
                <a:rPr lang="en-US" altLang="ja-JP" sz="1100" dirty="0">
                  <a:latin typeface="Meiryo UI"/>
                  <a:ea typeface="Meiryo UI"/>
                </a:rPr>
                <a:t>SDR</a:t>
              </a:r>
              <a:r>
                <a:rPr lang="ja-JP" altLang="en-US" sz="1100" dirty="0">
                  <a:latin typeface="Meiryo UI"/>
                  <a:ea typeface="Meiryo UI"/>
                </a:rPr>
                <a:t>以上の場合、入札公告の期間は特別の事情がない限り</a:t>
              </a:r>
              <a:r>
                <a:rPr lang="en-US" altLang="ja-JP" sz="1100" dirty="0">
                  <a:latin typeface="Meiryo UI"/>
                  <a:ea typeface="Meiryo UI"/>
                </a:rPr>
                <a:t>50</a:t>
              </a:r>
              <a:r>
                <a:rPr lang="ja-JP" altLang="en-US" sz="1100" dirty="0">
                  <a:latin typeface="Meiryo UI"/>
                  <a:ea typeface="Meiryo UI"/>
                </a:rPr>
                <a:t>日以上行うことになっている。</a:t>
              </a:r>
              <a:endParaRPr lang="en-US" altLang="ja-JP" sz="1100" dirty="0">
                <a:latin typeface="Meiryo UI"/>
                <a:ea typeface="Meiryo UI"/>
              </a:endParaRPr>
            </a:p>
            <a:p>
              <a:pPr fontAlgn="base">
                <a:spcBef>
                  <a:spcPts val="600"/>
                </a:spcBef>
                <a:spcAft>
                  <a:spcPct val="0"/>
                </a:spcAft>
                <a:tabLst>
                  <a:tab pos="2247900" algn="l"/>
                  <a:tab pos="3403600" algn="l"/>
                </a:tabLst>
              </a:pPr>
              <a:r>
                <a:rPr lang="ja-JP" altLang="en-US" sz="1100" dirty="0">
                  <a:latin typeface="Meiryo UI"/>
                  <a:ea typeface="Meiryo UI"/>
                </a:rPr>
                <a:t>なお、予定価格の</a:t>
              </a:r>
              <a:r>
                <a:rPr lang="en-US" altLang="ja-JP" sz="1100" dirty="0">
                  <a:latin typeface="Meiryo UI"/>
                  <a:ea typeface="Meiryo UI"/>
                </a:rPr>
                <a:t>SDR</a:t>
              </a:r>
              <a:r>
                <a:rPr lang="ja-JP" altLang="en-US" sz="1100" dirty="0">
                  <a:latin typeface="Meiryo UI"/>
                  <a:ea typeface="Meiryo UI"/>
                </a:rPr>
                <a:t> （</a:t>
              </a:r>
              <a:r>
                <a:rPr lang="en-US" altLang="ja-JP" sz="1100" dirty="0">
                  <a:latin typeface="Meiryo UI"/>
                  <a:ea typeface="Meiryo UI"/>
                </a:rPr>
                <a:t>Special Drawing Right</a:t>
              </a:r>
              <a:r>
                <a:rPr lang="ja-JP" altLang="en-US" sz="1100" dirty="0">
                  <a:latin typeface="Meiryo UI"/>
                  <a:ea typeface="Meiryo UI"/>
                </a:rPr>
                <a:t>、特別引出権）は国際通貨基金</a:t>
              </a:r>
              <a:r>
                <a:rPr lang="en-US" altLang="ja-JP" sz="1100" dirty="0">
                  <a:latin typeface="Meiryo UI"/>
                  <a:ea typeface="Meiryo UI"/>
                </a:rPr>
                <a:t>IMF</a:t>
              </a:r>
              <a:r>
                <a:rPr lang="ja-JP" altLang="en-US" sz="1100" dirty="0">
                  <a:latin typeface="Meiryo UI"/>
                  <a:ea typeface="Meiryo UI"/>
                </a:rPr>
                <a:t>によって作成された国際準備資産のこと。</a:t>
              </a:r>
              <a:r>
                <a:rPr lang="en-US" altLang="ja-JP" sz="1100" dirty="0">
                  <a:latin typeface="Meiryo UI"/>
                  <a:ea typeface="Meiryo UI"/>
                </a:rPr>
                <a:t>SDR</a:t>
              </a:r>
              <a:r>
                <a:rPr lang="ja-JP" altLang="en-US" sz="1100" dirty="0">
                  <a:latin typeface="Meiryo UI"/>
                  <a:ea typeface="Meiryo UI"/>
                </a:rPr>
                <a:t>は会計単位として使われることがあり、各国の通貨に換算できる。最新情報は、内閣官房の「政府調達に関する自主的措置におけるＳＤＲ基準額の円貨換算レート」を参照すること。</a:t>
              </a:r>
              <a:endParaRPr lang="en-US" altLang="ja-JP" sz="1100" dirty="0">
                <a:latin typeface="Meiryo UI"/>
                <a:ea typeface="Meiryo UI"/>
              </a:endParaRPr>
            </a:p>
          </p:txBody>
        </p:sp>
      </p:grpSp>
      <p:sp>
        <p:nvSpPr>
          <p:cNvPr id="120" name="テキスト ボックス 119">
            <a:extLst>
              <a:ext uri="{FF2B5EF4-FFF2-40B4-BE49-F238E27FC236}">
                <a16:creationId xmlns:a16="http://schemas.microsoft.com/office/drawing/2014/main" id="{EFAEFA79-49A7-CE25-542F-0B3F00A90E21}"/>
              </a:ext>
            </a:extLst>
          </p:cNvPr>
          <p:cNvSpPr txBox="1"/>
          <p:nvPr/>
        </p:nvSpPr>
        <p:spPr>
          <a:xfrm>
            <a:off x="7095980" y="5400000"/>
            <a:ext cx="4680000" cy="1021818"/>
          </a:xfrm>
          <a:prstGeom prst="rect">
            <a:avLst/>
          </a:prstGeom>
          <a:noFill/>
        </p:spPr>
        <p:txBody>
          <a:bodyPr wrap="square" lIns="0" tIns="0" rIns="0" bIns="0" rtlCol="0">
            <a:spAutoFit/>
          </a:bodyPr>
          <a:lstStyle/>
          <a:p>
            <a:pPr fontAlgn="base">
              <a:lnSpc>
                <a:spcPct val="110000"/>
              </a:lnSpc>
              <a:spcBef>
                <a:spcPts val="200"/>
              </a:spcBef>
            </a:pPr>
            <a:r>
              <a:rPr lang="ja-JP" altLang="en-US" sz="800" kern="500" dirty="0">
                <a:solidFill>
                  <a:srgbClr val="008080"/>
                </a:solidFill>
                <a:latin typeface="Segoe UI" panose="020B0502040204020203" pitchFamily="34" charset="0"/>
                <a:ea typeface="Meiryo UI" panose="020B0604030504040204" pitchFamily="50" charset="-128"/>
                <a:cs typeface="Segoe UI" panose="020B0502040204020203" pitchFamily="34" charset="0"/>
              </a:rPr>
              <a:t>脚注</a:t>
            </a:r>
            <a:br>
              <a:rPr lang="en-US" altLang="ja-JP" sz="800" kern="500" dirty="0">
                <a:latin typeface="Segoe UI" panose="020B0502040204020203" pitchFamily="34" charset="0"/>
                <a:ea typeface="Meiryo UI" panose="020B0604030504040204" pitchFamily="50" charset="-128"/>
                <a:cs typeface="Segoe UI" panose="020B0502040204020203" pitchFamily="34" charset="0"/>
              </a:rPr>
            </a:br>
            <a:r>
              <a:rPr lang="ja-JP" altLang="en-US" sz="800" kern="500" dirty="0">
                <a:latin typeface="Segoe UI" panose="020B0502040204020203" pitchFamily="34" charset="0"/>
                <a:ea typeface="Meiryo UI" panose="020B0604030504040204" pitchFamily="50" charset="-128"/>
                <a:cs typeface="Segoe UI" panose="020B0502040204020203" pitchFamily="34" charset="0"/>
              </a:rPr>
              <a:t>［</a:t>
            </a:r>
            <a:r>
              <a:rPr lang="en-US" altLang="ja-JP" sz="800" kern="500" dirty="0">
                <a:latin typeface="Segoe UI" panose="020B0502040204020203" pitchFamily="34" charset="0"/>
                <a:ea typeface="Meiryo UI" panose="020B0604030504040204" pitchFamily="50" charset="-128"/>
                <a:cs typeface="Segoe UI" panose="020B0502040204020203" pitchFamily="34" charset="0"/>
              </a:rPr>
              <a:t>1</a:t>
            </a:r>
            <a:r>
              <a:rPr lang="ja-JP" altLang="en-US" sz="800" kern="500" dirty="0">
                <a:latin typeface="Segoe UI" panose="020B0502040204020203" pitchFamily="34" charset="0"/>
                <a:ea typeface="Meiryo UI" panose="020B0604030504040204" pitchFamily="50" charset="-128"/>
                <a:cs typeface="Segoe UI" panose="020B0502040204020203" pitchFamily="34" charset="0"/>
              </a:rPr>
              <a:t>］出典：</a:t>
            </a:r>
            <a:r>
              <a:rPr lang="en-US" altLang="ja-JP" sz="800" kern="500" dirty="0">
                <a:latin typeface="Segoe UI" panose="020B0502040204020203" pitchFamily="34" charset="0"/>
                <a:ea typeface="Meiryo UI" panose="020B0604030504040204" pitchFamily="50" charset="-128"/>
                <a:cs typeface="Segoe UI" panose="020B0502040204020203" pitchFamily="34" charset="0"/>
              </a:rPr>
              <a:t> DS-110 </a:t>
            </a:r>
            <a:r>
              <a:rPr lang="ja-JP" altLang="en-US" sz="800" kern="500" dirty="0">
                <a:latin typeface="Segoe UI" panose="020B0502040204020203" pitchFamily="34" charset="0"/>
                <a:ea typeface="Meiryo UI" panose="020B0604030504040204" pitchFamily="50" charset="-128"/>
                <a:cs typeface="Segoe UI" panose="020B0502040204020203" pitchFamily="34" charset="0"/>
              </a:rPr>
              <a:t>デジタル・ガバメント推進標準ガイドライン解説書「表 </a:t>
            </a:r>
            <a:r>
              <a:rPr lang="en-US" altLang="ja-JP" sz="800" kern="500" dirty="0">
                <a:latin typeface="Segoe UI" panose="020B0502040204020203" pitchFamily="34" charset="0"/>
                <a:ea typeface="Meiryo UI" panose="020B0604030504040204" pitchFamily="50" charset="-128"/>
                <a:cs typeface="Segoe UI" panose="020B0502040204020203" pitchFamily="34" charset="0"/>
              </a:rPr>
              <a:t>6-1 </a:t>
            </a:r>
            <a:r>
              <a:rPr lang="ja-JP" altLang="en-US" sz="800" kern="500" dirty="0">
                <a:latin typeface="Segoe UI" panose="020B0502040204020203" pitchFamily="34" charset="0"/>
                <a:ea typeface="Meiryo UI" panose="020B0604030504040204" pitchFamily="50" charset="-128"/>
                <a:cs typeface="Segoe UI" panose="020B0502040204020203" pitchFamily="34" charset="0"/>
              </a:rPr>
              <a:t>予定価格ごとの調達手続に要する期間」を引用</a:t>
            </a:r>
            <a:endParaRPr lang="en-US" altLang="ja-JP" sz="800" kern="500" dirty="0">
              <a:latin typeface="Segoe UI" panose="020B0502040204020203" pitchFamily="34" charset="0"/>
              <a:ea typeface="Meiryo UI" panose="020B0604030504040204" pitchFamily="50" charset="-128"/>
              <a:cs typeface="Segoe UI" panose="020B0502040204020203" pitchFamily="34" charset="0"/>
            </a:endParaRPr>
          </a:p>
          <a:p>
            <a:pPr fontAlgn="base"/>
            <a:r>
              <a:rPr kumimoji="0" lang="ja-JP" altLang="en-US" sz="800" kern="0" dirty="0">
                <a:latin typeface="Meiryo UI"/>
                <a:ea typeface="Meiryo UI"/>
                <a:cs typeface="Segoe UI" panose="020B0502040204020203" pitchFamily="34" charset="0"/>
              </a:rPr>
              <a:t>［</a:t>
            </a:r>
            <a:r>
              <a:rPr kumimoji="0" lang="en-US" altLang="ja-JP" sz="800" kern="0" dirty="0">
                <a:latin typeface="Meiryo UI"/>
                <a:ea typeface="Meiryo UI"/>
                <a:cs typeface="Segoe UI" panose="020B0502040204020203" pitchFamily="34" charset="0"/>
              </a:rPr>
              <a:t>2</a:t>
            </a:r>
            <a:r>
              <a:rPr kumimoji="0" lang="ja-JP" altLang="en-US" sz="800" kern="0" dirty="0">
                <a:latin typeface="Meiryo UI"/>
                <a:ea typeface="Meiryo UI"/>
                <a:cs typeface="Segoe UI" panose="020B0502040204020203" pitchFamily="34" charset="0"/>
              </a:rPr>
              <a:t>］注釈：</a:t>
            </a:r>
            <a:r>
              <a:rPr kumimoji="0" lang="ja-JP" altLang="en-US" sz="800" kern="0" dirty="0">
                <a:latin typeface="Meiryo UI"/>
                <a:ea typeface="Meiryo UI"/>
              </a:rPr>
              <a:t>供給者からの資料等の提出を求めなければ適切な仕様等を決定することが困難な場合に実施する</a:t>
            </a:r>
            <a:endParaRPr lang="ja-JP" altLang="en-US" sz="800" kern="500" dirty="0">
              <a:latin typeface="Segoe UI" panose="020B0502040204020203" pitchFamily="34" charset="0"/>
              <a:ea typeface="Meiryo UI" panose="020B0604030504040204" pitchFamily="50" charset="-128"/>
              <a:cs typeface="Segoe UI" panose="020B0502040204020203" pitchFamily="34" charset="0"/>
            </a:endParaRPr>
          </a:p>
          <a:p>
            <a:pPr fontAlgn="base">
              <a:spcBef>
                <a:spcPct val="0"/>
              </a:spcBef>
              <a:spcAft>
                <a:spcPct val="0"/>
              </a:spcAft>
              <a:defRPr/>
            </a:pPr>
            <a:r>
              <a:rPr lang="ja-JP" altLang="en-US" sz="800" kern="500" dirty="0">
                <a:solidFill>
                  <a:srgbClr val="008080"/>
                </a:solidFill>
                <a:latin typeface="Segoe UI" panose="020B0502040204020203" pitchFamily="34" charset="0"/>
                <a:ea typeface="Meiryo UI" panose="020B0604030504040204" pitchFamily="50" charset="-128"/>
                <a:cs typeface="Segoe UI" panose="020B0502040204020203" pitchFamily="34" charset="0"/>
              </a:rPr>
              <a:t>参考情報</a:t>
            </a:r>
            <a:br>
              <a:rPr lang="en-US" altLang="ja-JP" sz="800" kern="500" dirty="0">
                <a:solidFill>
                  <a:srgbClr val="008080"/>
                </a:solidFill>
                <a:latin typeface="Segoe UI" panose="020B0502040204020203" pitchFamily="34" charset="0"/>
                <a:ea typeface="Meiryo UI" panose="020B0604030504040204" pitchFamily="50" charset="-128"/>
                <a:cs typeface="Segoe UI" panose="020B0502040204020203" pitchFamily="34" charset="0"/>
              </a:rPr>
            </a:br>
            <a:r>
              <a:rPr kumimoji="0" lang="ja-JP" altLang="en-US" sz="800" kern="0" dirty="0">
                <a:solidFill>
                  <a:prstClr val="black"/>
                </a:solidFill>
                <a:latin typeface="Meiryo UI"/>
                <a:ea typeface="Meiryo UI"/>
              </a:rPr>
              <a:t>・内閣官房　政府調達の自主的措置に関する関係省庁等会議（</a:t>
            </a:r>
            <a:r>
              <a:rPr kumimoji="0" lang="en-US" altLang="ja-JP" sz="800" b="1" kern="0" dirty="0">
                <a:solidFill>
                  <a:prstClr val="black"/>
                </a:solidFill>
                <a:latin typeface="Meiryo UI"/>
                <a:ea typeface="Meiryo UI"/>
                <a:hlinkClick r:id="rId3"/>
              </a:rPr>
              <a:t>Link</a:t>
            </a:r>
            <a:r>
              <a:rPr kumimoji="0" lang="ja-JP" altLang="en-US" sz="800" kern="0" dirty="0">
                <a:solidFill>
                  <a:prstClr val="black"/>
                </a:solidFill>
                <a:latin typeface="Meiryo UI"/>
                <a:ea typeface="Meiryo UI"/>
              </a:rPr>
              <a:t>）</a:t>
            </a:r>
            <a:endParaRPr lang="en-US" altLang="ja-JP" sz="800" kern="500" dirty="0">
              <a:solidFill>
                <a:srgbClr val="008080"/>
              </a:solidFill>
              <a:latin typeface="Segoe UI" panose="020B0502040204020203" pitchFamily="34" charset="0"/>
              <a:ea typeface="Meiryo UI" panose="020B0604030504040204" pitchFamily="50" charset="-128"/>
              <a:cs typeface="Segoe UI" panose="020B0502040204020203" pitchFamily="34" charset="0"/>
            </a:endParaRPr>
          </a:p>
          <a:p>
            <a:pPr lvl="0" fontAlgn="base">
              <a:spcBef>
                <a:spcPct val="0"/>
              </a:spcBef>
              <a:spcAft>
                <a:spcPct val="0"/>
              </a:spcAft>
              <a:defRPr/>
            </a:pPr>
            <a:r>
              <a:rPr kumimoji="0" lang="ja-JP" altLang="en-US" sz="800" kern="0" dirty="0">
                <a:solidFill>
                  <a:prstClr val="black"/>
                </a:solidFill>
                <a:latin typeface="Meiryo UI"/>
                <a:ea typeface="Meiryo UI"/>
              </a:rPr>
              <a:t>・外務省　政府貿易機構（</a:t>
            </a:r>
            <a:r>
              <a:rPr kumimoji="0" lang="en-US" altLang="ja-JP" sz="800" kern="0" dirty="0">
                <a:solidFill>
                  <a:prstClr val="black"/>
                </a:solidFill>
                <a:latin typeface="Meiryo UI"/>
                <a:ea typeface="Meiryo UI"/>
              </a:rPr>
              <a:t>WTO</a:t>
            </a:r>
            <a:r>
              <a:rPr kumimoji="0" lang="ja-JP" altLang="en-US" sz="800" kern="0" dirty="0">
                <a:solidFill>
                  <a:prstClr val="black"/>
                </a:solidFill>
                <a:latin typeface="Meiryo UI"/>
                <a:ea typeface="Meiryo UI"/>
              </a:rPr>
              <a:t>）</a:t>
            </a:r>
            <a:r>
              <a:rPr kumimoji="0" lang="en-US" altLang="zh-TW" sz="800" kern="0" dirty="0">
                <a:solidFill>
                  <a:prstClr val="black"/>
                </a:solidFill>
                <a:latin typeface="Meiryo UI"/>
                <a:ea typeface="Meiryo UI"/>
              </a:rPr>
              <a:t>WTO</a:t>
            </a:r>
            <a:r>
              <a:rPr kumimoji="0" lang="zh-TW" altLang="en-US" sz="800" kern="0" dirty="0">
                <a:solidFill>
                  <a:prstClr val="black"/>
                </a:solidFill>
                <a:latin typeface="Meiryo UI"/>
                <a:ea typeface="Meiryo UI"/>
              </a:rPr>
              <a:t>政府調達協定</a:t>
            </a:r>
            <a:r>
              <a:rPr kumimoji="0" lang="ja-JP" altLang="en-US" sz="800" kern="0" dirty="0">
                <a:solidFill>
                  <a:prstClr val="black"/>
                </a:solidFill>
                <a:latin typeface="Meiryo UI"/>
                <a:ea typeface="Meiryo UI"/>
              </a:rPr>
              <a:t>（</a:t>
            </a:r>
            <a:r>
              <a:rPr kumimoji="0" lang="en-US" altLang="ja-JP" sz="800" b="1" kern="0" dirty="0">
                <a:solidFill>
                  <a:prstClr val="black"/>
                </a:solidFill>
                <a:latin typeface="Meiryo UI"/>
                <a:ea typeface="Meiryo UI"/>
                <a:hlinkClick r:id="rId4"/>
              </a:rPr>
              <a:t>Link</a:t>
            </a:r>
            <a:r>
              <a:rPr kumimoji="0" lang="ja-JP" altLang="en-US" sz="800" kern="0" dirty="0">
                <a:solidFill>
                  <a:prstClr val="black"/>
                </a:solidFill>
                <a:latin typeface="Meiryo UI"/>
                <a:ea typeface="Meiryo UI"/>
              </a:rPr>
              <a:t>）</a:t>
            </a:r>
            <a:endParaRPr kumimoji="0" lang="en-US" altLang="ja-JP" sz="800" kern="0" dirty="0">
              <a:solidFill>
                <a:prstClr val="black"/>
              </a:solidFill>
              <a:latin typeface="Meiryo UI"/>
              <a:ea typeface="Meiryo UI"/>
            </a:endParaRPr>
          </a:p>
          <a:p>
            <a:pPr fontAlgn="base">
              <a:spcBef>
                <a:spcPct val="0"/>
              </a:spcBef>
              <a:spcAft>
                <a:spcPct val="0"/>
              </a:spcAft>
              <a:defRPr/>
            </a:pPr>
            <a:r>
              <a:rPr kumimoji="0" lang="ja-JP" altLang="en-US" sz="800" kern="0" dirty="0">
                <a:solidFill>
                  <a:prstClr val="black"/>
                </a:solidFill>
                <a:latin typeface="Meiryo UI"/>
                <a:ea typeface="Meiryo UI"/>
              </a:rPr>
              <a:t>・外務省　政府調達協定及び我が国の自主的措置の定める「基準額」及び「邦貨換算額」（</a:t>
            </a:r>
            <a:r>
              <a:rPr kumimoji="0" lang="en-US" altLang="ja-JP" sz="800" b="1" kern="0" dirty="0">
                <a:solidFill>
                  <a:prstClr val="black"/>
                </a:solidFill>
                <a:latin typeface="Meiryo UI"/>
                <a:ea typeface="Meiryo UI"/>
                <a:hlinkClick r:id="rId5"/>
              </a:rPr>
              <a:t>Link</a:t>
            </a:r>
            <a:r>
              <a:rPr kumimoji="0" lang="ja-JP" altLang="en-US" sz="800" kern="0" dirty="0">
                <a:solidFill>
                  <a:prstClr val="black"/>
                </a:solidFill>
                <a:latin typeface="Meiryo UI"/>
                <a:ea typeface="Meiryo UI"/>
              </a:rPr>
              <a:t>）</a:t>
            </a:r>
            <a:endParaRPr kumimoji="0" lang="en-US" altLang="ja-JP" sz="800" kern="0" dirty="0">
              <a:solidFill>
                <a:prstClr val="black"/>
              </a:solidFill>
              <a:latin typeface="Meiryo UI"/>
              <a:ea typeface="Meiryo UI"/>
            </a:endParaRPr>
          </a:p>
        </p:txBody>
      </p:sp>
      <p:sp>
        <p:nvSpPr>
          <p:cNvPr id="5" name="テキスト ボックス 4">
            <a:extLst>
              <a:ext uri="{FF2B5EF4-FFF2-40B4-BE49-F238E27FC236}">
                <a16:creationId xmlns:a16="http://schemas.microsoft.com/office/drawing/2014/main" id="{47019389-D2C8-AD7F-FBF7-764CE659802A}"/>
              </a:ext>
            </a:extLst>
          </p:cNvPr>
          <p:cNvSpPr txBox="1"/>
          <p:nvPr/>
        </p:nvSpPr>
        <p:spPr>
          <a:xfrm>
            <a:off x="6957138" y="1615401"/>
            <a:ext cx="5400000" cy="201978"/>
          </a:xfrm>
          <a:prstGeom prst="rect">
            <a:avLst/>
          </a:prstGeom>
          <a:noFill/>
        </p:spPr>
        <p:txBody>
          <a:bodyPr wrap="square" lIns="0" tIns="0" rIns="0" bIns="0" rtlCol="0" anchor="ctr">
            <a:spAutoFit/>
          </a:bodyPr>
          <a:lstStyle/>
          <a:p>
            <a:pPr marL="324000" indent="-324000" fontAlgn="base">
              <a:lnSpc>
                <a:spcPct val="110000"/>
              </a:lnSpc>
              <a:buClr>
                <a:srgbClr val="009999"/>
              </a:buClr>
              <a:buFont typeface="Meiryo UI" panose="020B0604030504040204" pitchFamily="50" charset="-128"/>
              <a:buChar char="▐"/>
            </a:pPr>
            <a:r>
              <a:rPr lang="ja-JP" altLang="en-US" sz="1300" kern="500" dirty="0">
                <a:latin typeface="Segoe UI" panose="020B0502040204020203" pitchFamily="34" charset="0"/>
                <a:ea typeface="Meiryo UI" panose="020B0604030504040204" pitchFamily="50" charset="-128"/>
                <a:cs typeface="Segoe UI" panose="020B0502040204020203" pitchFamily="34" charset="0"/>
              </a:rPr>
              <a:t>表．予定価格ごとの調達手続に要する期間</a:t>
            </a:r>
            <a:r>
              <a:rPr lang="en-US" altLang="ja-JP" sz="1300" kern="500" baseline="30000" dirty="0">
                <a:latin typeface="Segoe UI" panose="020B0502040204020203" pitchFamily="34" charset="0"/>
                <a:ea typeface="Meiryo UI" panose="020B0604030504040204" pitchFamily="50" charset="-128"/>
                <a:cs typeface="Segoe UI" panose="020B0502040204020203" pitchFamily="34" charset="0"/>
              </a:rPr>
              <a:t>[1]</a:t>
            </a:r>
          </a:p>
        </p:txBody>
      </p:sp>
      <p:grpSp>
        <p:nvGrpSpPr>
          <p:cNvPr id="2" name="グループ化 1">
            <a:extLst>
              <a:ext uri="{FF2B5EF4-FFF2-40B4-BE49-F238E27FC236}">
                <a16:creationId xmlns:a16="http://schemas.microsoft.com/office/drawing/2014/main" id="{E9C2C42B-D6DA-F4BC-703B-BC557A50124C}"/>
              </a:ext>
            </a:extLst>
          </p:cNvPr>
          <p:cNvGrpSpPr/>
          <p:nvPr/>
        </p:nvGrpSpPr>
        <p:grpSpPr>
          <a:xfrm>
            <a:off x="647616" y="4466856"/>
            <a:ext cx="5977336" cy="1033852"/>
            <a:chOff x="647616" y="4586907"/>
            <a:chExt cx="5977336" cy="1033852"/>
          </a:xfrm>
        </p:grpSpPr>
        <p:sp>
          <p:nvSpPr>
            <p:cNvPr id="3" name="テキスト ボックス 2">
              <a:extLst>
                <a:ext uri="{FF2B5EF4-FFF2-40B4-BE49-F238E27FC236}">
                  <a16:creationId xmlns:a16="http://schemas.microsoft.com/office/drawing/2014/main" id="{F7B7C33A-E333-716C-05E7-3A646216F054}"/>
                </a:ext>
              </a:extLst>
            </p:cNvPr>
            <p:cNvSpPr txBox="1"/>
            <p:nvPr/>
          </p:nvSpPr>
          <p:spPr>
            <a:xfrm>
              <a:off x="647616" y="4586907"/>
              <a:ext cx="5220000" cy="264688"/>
            </a:xfrm>
            <a:prstGeom prst="rect">
              <a:avLst/>
            </a:prstGeom>
            <a:noFill/>
          </p:spPr>
          <p:txBody>
            <a:bodyPr wrap="square" lIns="0" tIns="0" rIns="0" bIns="0" rtlCol="0">
              <a:spAutoFit/>
            </a:bodyPr>
            <a:lstStyle/>
            <a:p>
              <a:pPr fontAlgn="base">
                <a:lnSpc>
                  <a:spcPct val="110000"/>
                </a:lnSpc>
              </a:pPr>
              <a:r>
                <a:rPr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「政府調達に関する協定（</a:t>
              </a:r>
              <a:r>
                <a:rPr lang="en-US" altLang="ja-JP"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GPA</a:t>
              </a:r>
              <a:r>
                <a:rPr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）」に則った対応</a:t>
              </a:r>
              <a:endParaRPr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6" name="テキスト ボックス 5">
              <a:extLst>
                <a:ext uri="{FF2B5EF4-FFF2-40B4-BE49-F238E27FC236}">
                  <a16:creationId xmlns:a16="http://schemas.microsoft.com/office/drawing/2014/main" id="{4FD577B9-2F9C-B553-C65B-115C4E87F7E4}"/>
                </a:ext>
              </a:extLst>
            </p:cNvPr>
            <p:cNvSpPr txBox="1"/>
            <p:nvPr/>
          </p:nvSpPr>
          <p:spPr>
            <a:xfrm>
              <a:off x="684952" y="4866706"/>
              <a:ext cx="5940000" cy="754053"/>
            </a:xfrm>
            <a:prstGeom prst="rect">
              <a:avLst/>
            </a:prstGeom>
            <a:noFill/>
          </p:spPr>
          <p:txBody>
            <a:bodyPr wrap="square" lIns="0" tIns="0" rIns="0" bIns="0" rtlCol="0">
              <a:spAutoFit/>
            </a:bodyPr>
            <a:lstStyle/>
            <a:p>
              <a:pPr fontAlgn="base">
                <a:spcBef>
                  <a:spcPts val="600"/>
                </a:spcBef>
                <a:spcAft>
                  <a:spcPct val="0"/>
                </a:spcAft>
              </a:pPr>
              <a:r>
                <a:rPr lang="ja-JP" altLang="en-US" sz="1100" dirty="0">
                  <a:latin typeface="Meiryo UI"/>
                  <a:ea typeface="Meiryo UI"/>
                </a:rPr>
                <a:t>日本は世界貿易機関（</a:t>
              </a:r>
              <a:r>
                <a:rPr lang="en-US" altLang="ja-JP" sz="1100" dirty="0">
                  <a:latin typeface="Meiryo UI"/>
                  <a:ea typeface="Meiryo UI"/>
                </a:rPr>
                <a:t>WTO</a:t>
              </a:r>
              <a:r>
                <a:rPr lang="ja-JP" altLang="en-US" sz="1100" dirty="0">
                  <a:latin typeface="Meiryo UI"/>
                  <a:ea typeface="Meiryo UI"/>
                </a:rPr>
                <a:t>）に加盟しており、</a:t>
              </a:r>
              <a:r>
                <a:rPr lang="ja-JP" altLang="en-US" sz="1100" b="1" dirty="0">
                  <a:latin typeface="Meiryo UI"/>
                  <a:ea typeface="Meiryo UI"/>
                </a:rPr>
                <a:t>国際的な協定である</a:t>
              </a:r>
              <a:r>
                <a:rPr lang="en-US" altLang="ja-JP" sz="1100" b="1" dirty="0">
                  <a:latin typeface="Meiryo UI"/>
                  <a:ea typeface="Meiryo UI"/>
                </a:rPr>
                <a:t>GPA</a:t>
              </a:r>
              <a:r>
                <a:rPr lang="ja-JP" altLang="en-US" sz="1100" b="1" dirty="0">
                  <a:latin typeface="Meiryo UI"/>
                  <a:ea typeface="Meiryo UI"/>
                </a:rPr>
                <a:t>が適用</a:t>
              </a:r>
              <a:r>
                <a:rPr lang="ja-JP" altLang="en-US" sz="1100" dirty="0">
                  <a:latin typeface="Meiryo UI"/>
                  <a:ea typeface="Meiryo UI"/>
                </a:rPr>
                <a:t>される。</a:t>
              </a:r>
              <a:endParaRPr lang="en-US" altLang="ja-JP" sz="1100" dirty="0">
                <a:latin typeface="Meiryo UI"/>
                <a:ea typeface="Meiryo UI"/>
              </a:endParaRPr>
            </a:p>
            <a:p>
              <a:pPr fontAlgn="base">
                <a:spcBef>
                  <a:spcPts val="600"/>
                </a:spcBef>
                <a:spcAft>
                  <a:spcPct val="0"/>
                </a:spcAft>
              </a:pPr>
              <a:r>
                <a:rPr lang="en-US" altLang="ja-JP" sz="1100" dirty="0">
                  <a:latin typeface="Meiryo UI"/>
                  <a:ea typeface="Meiryo UI"/>
                </a:rPr>
                <a:t>GPA</a:t>
              </a:r>
              <a:r>
                <a:rPr lang="ja-JP" altLang="en-US" sz="1100" dirty="0">
                  <a:latin typeface="Meiryo UI"/>
                  <a:ea typeface="Meiryo UI"/>
                </a:rPr>
                <a:t>では、</a:t>
              </a:r>
              <a:r>
                <a:rPr lang="ja-JP" altLang="en-US" sz="1100" b="1" dirty="0">
                  <a:latin typeface="Meiryo UI"/>
                  <a:ea typeface="Meiryo UI"/>
                </a:rPr>
                <a:t>政府調達は透明性を有し、公平な方法で実施</a:t>
              </a:r>
              <a:r>
                <a:rPr lang="ja-JP" altLang="en-US" sz="1100" dirty="0">
                  <a:latin typeface="Meiryo UI"/>
                  <a:ea typeface="Meiryo UI"/>
                </a:rPr>
                <a:t>することを掲げており、これに則って調達手続や期間が定められている。例えば、意見招請手続は、</a:t>
              </a:r>
              <a:r>
                <a:rPr lang="ja-JP" altLang="en-US" sz="1100" b="1" dirty="0">
                  <a:latin typeface="Meiryo UI"/>
                  <a:ea typeface="Meiryo UI"/>
                </a:rPr>
                <a:t>事業者に十分な情報を提供し、提案や意見を受け付ける機会を確保して公平性を確保することを目的</a:t>
              </a:r>
              <a:r>
                <a:rPr lang="ja-JP" altLang="en-US" sz="1100" dirty="0">
                  <a:latin typeface="Meiryo UI"/>
                  <a:ea typeface="Meiryo UI"/>
                </a:rPr>
                <a:t>としている。</a:t>
              </a:r>
              <a:endParaRPr lang="en-US" altLang="ja-JP" sz="1100" dirty="0">
                <a:latin typeface="Meiryo UI"/>
                <a:ea typeface="Meiryo UI"/>
              </a:endParaRPr>
            </a:p>
          </p:txBody>
        </p:sp>
      </p:grpSp>
      <p:graphicFrame>
        <p:nvGraphicFramePr>
          <p:cNvPr id="7" name="表 6">
            <a:extLst>
              <a:ext uri="{FF2B5EF4-FFF2-40B4-BE49-F238E27FC236}">
                <a16:creationId xmlns:a16="http://schemas.microsoft.com/office/drawing/2014/main" id="{09061167-AF8C-D58A-91F7-068C95DA70E0}"/>
              </a:ext>
            </a:extLst>
          </p:cNvPr>
          <p:cNvGraphicFramePr>
            <a:graphicFrameLocks noGrp="1"/>
          </p:cNvGraphicFramePr>
          <p:nvPr>
            <p:extLst>
              <p:ext uri="{D42A27DB-BD31-4B8C-83A1-F6EECF244321}">
                <p14:modId xmlns:p14="http://schemas.microsoft.com/office/powerpoint/2010/main" val="1453253654"/>
              </p:ext>
            </p:extLst>
          </p:nvPr>
        </p:nvGraphicFramePr>
        <p:xfrm>
          <a:off x="7271657" y="1939401"/>
          <a:ext cx="4590192" cy="2562226"/>
        </p:xfrm>
        <a:graphic>
          <a:graphicData uri="http://schemas.openxmlformats.org/drawingml/2006/table">
            <a:tbl>
              <a:tblPr firstRow="1" bandRow="1">
                <a:tableStyleId>{5C22544A-7EE6-4342-B048-85BDC9FD1C3A}</a:tableStyleId>
              </a:tblPr>
              <a:tblGrid>
                <a:gridCol w="881743">
                  <a:extLst>
                    <a:ext uri="{9D8B030D-6E8A-4147-A177-3AD203B41FA5}">
                      <a16:colId xmlns:a16="http://schemas.microsoft.com/office/drawing/2014/main" val="3136520724"/>
                    </a:ext>
                  </a:extLst>
                </a:gridCol>
                <a:gridCol w="2451100">
                  <a:extLst>
                    <a:ext uri="{9D8B030D-6E8A-4147-A177-3AD203B41FA5}">
                      <a16:colId xmlns:a16="http://schemas.microsoft.com/office/drawing/2014/main" val="3679157883"/>
                    </a:ext>
                  </a:extLst>
                </a:gridCol>
                <a:gridCol w="1257349">
                  <a:extLst>
                    <a:ext uri="{9D8B030D-6E8A-4147-A177-3AD203B41FA5}">
                      <a16:colId xmlns:a16="http://schemas.microsoft.com/office/drawing/2014/main" val="503891746"/>
                    </a:ext>
                  </a:extLst>
                </a:gridCol>
              </a:tblGrid>
              <a:tr h="156982">
                <a:tc>
                  <a:txBody>
                    <a:bodyPr/>
                    <a:lstStyle/>
                    <a:p>
                      <a:pPr algn="ctr"/>
                      <a:r>
                        <a:rPr kumimoji="1" lang="ja-JP" altLang="en-US" sz="900" dirty="0">
                          <a:solidFill>
                            <a:schemeClr val="bg1"/>
                          </a:solidFill>
                          <a:latin typeface="Meiryo UI" panose="020B0604030504040204" pitchFamily="50" charset="-128"/>
                          <a:ea typeface="Meiryo UI" panose="020B0604030504040204" pitchFamily="50" charset="-128"/>
                        </a:rPr>
                        <a:t>予定価格</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009999"/>
                    </a:solidFill>
                  </a:tcPr>
                </a:tc>
                <a:tc>
                  <a:txBody>
                    <a:bodyPr/>
                    <a:lstStyle/>
                    <a:p>
                      <a:pPr algn="ctr"/>
                      <a:r>
                        <a:rPr kumimoji="1" lang="ja-JP" altLang="en-US" sz="900" dirty="0">
                          <a:solidFill>
                            <a:schemeClr val="bg1"/>
                          </a:solidFill>
                          <a:latin typeface="Meiryo UI" panose="020B0604030504040204" pitchFamily="50" charset="-128"/>
                          <a:ea typeface="Meiryo UI" panose="020B0604030504040204" pitchFamily="50" charset="-128"/>
                        </a:rPr>
                        <a:t>随意契約以外</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009999"/>
                    </a:solidFill>
                  </a:tcPr>
                </a:tc>
                <a:tc>
                  <a:txBody>
                    <a:bodyPr/>
                    <a:lstStyle/>
                    <a:p>
                      <a:pPr algn="ctr"/>
                      <a:r>
                        <a:rPr kumimoji="1" lang="ja-JP" altLang="en-US" sz="900" dirty="0">
                          <a:solidFill>
                            <a:schemeClr val="bg1"/>
                          </a:solidFill>
                          <a:latin typeface="Meiryo UI" panose="020B0604030504040204" pitchFamily="50" charset="-128"/>
                          <a:ea typeface="Meiryo UI" panose="020B0604030504040204" pitchFamily="50" charset="-128"/>
                        </a:rPr>
                        <a:t>随意契約</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009999"/>
                    </a:solidFill>
                  </a:tcPr>
                </a:tc>
                <a:extLst>
                  <a:ext uri="{0D108BD9-81ED-4DB2-BD59-A6C34878D82A}">
                    <a16:rowId xmlns:a16="http://schemas.microsoft.com/office/drawing/2014/main" val="511819641"/>
                  </a:ext>
                </a:extLst>
              </a:tr>
              <a:tr h="503873">
                <a:tc>
                  <a:txBody>
                    <a:bodyPr/>
                    <a:lstStyle/>
                    <a:p>
                      <a:r>
                        <a:rPr lang="en-US" altLang="ja-JP" sz="900" dirty="0">
                          <a:latin typeface="Meiryo UI" panose="020B0604030504040204" pitchFamily="50" charset="-128"/>
                          <a:ea typeface="Meiryo UI" panose="020B0604030504040204" pitchFamily="50" charset="-128"/>
                        </a:rPr>
                        <a:t>10</a:t>
                      </a:r>
                      <a:r>
                        <a:rPr lang="ja-JP" altLang="en-US" sz="900" dirty="0">
                          <a:latin typeface="Meiryo UI" panose="020B0604030504040204" pitchFamily="50" charset="-128"/>
                          <a:ea typeface="Meiryo UI" panose="020B0604030504040204" pitchFamily="50" charset="-128"/>
                        </a:rPr>
                        <a:t>万</a:t>
                      </a:r>
                      <a:endParaRPr lang="en-US" altLang="ja-JP" sz="900" dirty="0">
                        <a:latin typeface="Meiryo UI" panose="020B0604030504040204" pitchFamily="50" charset="-128"/>
                        <a:ea typeface="Meiryo UI" panose="020B0604030504040204" pitchFamily="50" charset="-128"/>
                      </a:endParaRPr>
                    </a:p>
                    <a:p>
                      <a:r>
                        <a:rPr lang="en-US" altLang="ja-JP" sz="900" dirty="0">
                          <a:latin typeface="Meiryo UI" panose="020B0604030504040204" pitchFamily="50" charset="-128"/>
                          <a:ea typeface="Meiryo UI" panose="020B0604030504040204" pitchFamily="50" charset="-128"/>
                        </a:rPr>
                        <a:t>SDR</a:t>
                      </a:r>
                      <a:r>
                        <a:rPr lang="ja-JP" altLang="en-US" sz="900" dirty="0">
                          <a:latin typeface="Meiryo UI" panose="020B0604030504040204" pitchFamily="50" charset="-128"/>
                          <a:ea typeface="Meiryo UI" panose="020B0604030504040204" pitchFamily="50" charset="-128"/>
                        </a:rPr>
                        <a:t>未満 </a:t>
                      </a:r>
                      <a:endParaRPr kumimoji="1" lang="ja-JP" altLang="en-US" sz="900" dirty="0">
                        <a:latin typeface="Meiryo UI" panose="020B0604030504040204" pitchFamily="50" charset="-128"/>
                        <a:ea typeface="Meiryo UI" panose="020B0604030504040204" pitchFamily="50" charset="-128"/>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108000" indent="-108000">
                        <a:buFont typeface="Arial" panose="020B0604020202020204" pitchFamily="34" charset="0"/>
                        <a:buChar char="•"/>
                      </a:pPr>
                      <a:r>
                        <a:rPr lang="ja-JP" altLang="en-US" sz="900" dirty="0">
                          <a:latin typeface="Meiryo UI" panose="020B0604030504040204" pitchFamily="50" charset="-128"/>
                          <a:ea typeface="Meiryo UI" panose="020B0604030504040204" pitchFamily="50" charset="-128"/>
                        </a:rPr>
                        <a:t>入札公告の期間は少なくとも</a:t>
                      </a:r>
                      <a:r>
                        <a:rPr lang="en-US" altLang="ja-JP" sz="900" dirty="0">
                          <a:latin typeface="Meiryo UI" panose="020B0604030504040204" pitchFamily="50" charset="-128"/>
                          <a:ea typeface="Meiryo UI" panose="020B0604030504040204" pitchFamily="50" charset="-128"/>
                        </a:rPr>
                        <a:t>10</a:t>
                      </a:r>
                      <a:r>
                        <a:rPr lang="ja-JP" altLang="en-US" sz="900" dirty="0">
                          <a:latin typeface="Meiryo UI" panose="020B0604030504040204" pitchFamily="50" charset="-128"/>
                          <a:ea typeface="Meiryo UI" panose="020B0604030504040204" pitchFamily="50" charset="-128"/>
                        </a:rPr>
                        <a:t>日（土日祝日を除く。急を要する場合においては</a:t>
                      </a:r>
                      <a:r>
                        <a:rPr lang="en-US" altLang="ja-JP" sz="900" dirty="0">
                          <a:latin typeface="Meiryo UI" panose="020B0604030504040204" pitchFamily="50" charset="-128"/>
                          <a:ea typeface="Meiryo UI" panose="020B0604030504040204" pitchFamily="50" charset="-128"/>
                        </a:rPr>
                        <a:t>5</a:t>
                      </a:r>
                      <a:r>
                        <a:rPr lang="ja-JP" altLang="en-US" sz="900" dirty="0">
                          <a:latin typeface="Meiryo UI" panose="020B0604030504040204" pitchFamily="50" charset="-128"/>
                          <a:ea typeface="Meiryo UI" panose="020B0604030504040204" pitchFamily="50" charset="-128"/>
                        </a:rPr>
                        <a:t>日）以上 </a:t>
                      </a:r>
                      <a:endParaRPr kumimoji="1" lang="ja-JP" altLang="en-US" sz="900" dirty="0">
                        <a:latin typeface="Meiryo UI" panose="020B0604030504040204" pitchFamily="50" charset="-128"/>
                        <a:ea typeface="Meiryo UI" panose="020B0604030504040204" pitchFamily="50" charset="-128"/>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108000" indent="-108000">
                        <a:buFont typeface="Arial" panose="020B0604020202020204" pitchFamily="34" charset="0"/>
                        <a:buChar char="•"/>
                      </a:pPr>
                      <a:r>
                        <a:rPr kumimoji="1" lang="en-US" altLang="ja-JP" sz="900" dirty="0">
                          <a:latin typeface="Meiryo UI" panose="020B0604030504040204" pitchFamily="50" charset="-128"/>
                          <a:ea typeface="Meiryo UI" panose="020B0604030504040204" pitchFamily="50" charset="-128"/>
                        </a:rPr>
                        <a:t>-</a:t>
                      </a:r>
                      <a:endParaRPr kumimoji="1" lang="ja-JP" altLang="en-US" sz="900" dirty="0">
                        <a:latin typeface="Meiryo UI" panose="020B0604030504040204" pitchFamily="50" charset="-128"/>
                        <a:ea typeface="Meiryo UI" panose="020B0604030504040204" pitchFamily="50" charset="-128"/>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53206875"/>
                  </a:ext>
                </a:extLst>
              </a:tr>
              <a:tr h="503873">
                <a:tc>
                  <a:txBody>
                    <a:bodyPr/>
                    <a:lstStyle/>
                    <a:p>
                      <a:r>
                        <a:rPr lang="en-US" altLang="ja-JP" sz="900" dirty="0">
                          <a:latin typeface="Meiryo UI" panose="020B0604030504040204" pitchFamily="50" charset="-128"/>
                          <a:ea typeface="Meiryo UI" panose="020B0604030504040204" pitchFamily="50" charset="-128"/>
                        </a:rPr>
                        <a:t>10</a:t>
                      </a:r>
                      <a:r>
                        <a:rPr lang="ja-JP" altLang="en-US" sz="900" dirty="0">
                          <a:latin typeface="Meiryo UI" panose="020B0604030504040204" pitchFamily="50" charset="-128"/>
                          <a:ea typeface="Meiryo UI" panose="020B0604030504040204" pitchFamily="50" charset="-128"/>
                        </a:rPr>
                        <a:t>万</a:t>
                      </a:r>
                      <a:endParaRPr lang="en-US" altLang="ja-JP" sz="900" dirty="0">
                        <a:latin typeface="Meiryo UI" panose="020B0604030504040204" pitchFamily="50" charset="-128"/>
                        <a:ea typeface="Meiryo UI" panose="020B0604030504040204" pitchFamily="50" charset="-128"/>
                      </a:endParaRPr>
                    </a:p>
                    <a:p>
                      <a:r>
                        <a:rPr lang="en-US" altLang="ja-JP" sz="900" dirty="0">
                          <a:latin typeface="Meiryo UI" panose="020B0604030504040204" pitchFamily="50" charset="-128"/>
                          <a:ea typeface="Meiryo UI" panose="020B0604030504040204" pitchFamily="50" charset="-128"/>
                        </a:rPr>
                        <a:t>SDR</a:t>
                      </a:r>
                      <a:r>
                        <a:rPr lang="ja-JP" altLang="en-US" sz="900" dirty="0">
                          <a:latin typeface="Meiryo UI" panose="020B0604030504040204" pitchFamily="50" charset="-128"/>
                          <a:ea typeface="Meiryo UI" panose="020B0604030504040204" pitchFamily="50" charset="-128"/>
                        </a:rPr>
                        <a:t>以上</a:t>
                      </a:r>
                      <a:endParaRPr kumimoji="1" lang="ja-JP" altLang="en-US" sz="900" dirty="0">
                        <a:latin typeface="Meiryo UI" panose="020B0604030504040204" pitchFamily="50" charset="-128"/>
                        <a:ea typeface="Meiryo UI" panose="020B0604030504040204" pitchFamily="50" charset="-128"/>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108000" indent="-108000">
                        <a:buFont typeface="Arial" panose="020B0604020202020204" pitchFamily="34" charset="0"/>
                        <a:buChar char="•"/>
                      </a:pPr>
                      <a:r>
                        <a:rPr lang="ja-JP" altLang="en-US" sz="900" dirty="0">
                          <a:latin typeface="Meiryo UI" panose="020B0604030504040204" pitchFamily="50" charset="-128"/>
                          <a:ea typeface="Meiryo UI" panose="020B0604030504040204" pitchFamily="50" charset="-128"/>
                        </a:rPr>
                        <a:t>入札公告の期間は特別の事情がない限り</a:t>
                      </a:r>
                      <a:r>
                        <a:rPr lang="en-US" altLang="ja-JP" sz="900" dirty="0">
                          <a:latin typeface="Meiryo UI" panose="020B0604030504040204" pitchFamily="50" charset="-128"/>
                          <a:ea typeface="Meiryo UI" panose="020B0604030504040204" pitchFamily="50" charset="-128"/>
                        </a:rPr>
                        <a:t>50</a:t>
                      </a:r>
                      <a:r>
                        <a:rPr lang="ja-JP" altLang="en-US" sz="900" dirty="0">
                          <a:latin typeface="Meiryo UI" panose="020B0604030504040204" pitchFamily="50" charset="-128"/>
                          <a:ea typeface="Meiryo UI" panose="020B0604030504040204" pitchFamily="50" charset="-128"/>
                        </a:rPr>
                        <a:t>日（土日祝日を含む）以上 </a:t>
                      </a:r>
                      <a:endParaRPr kumimoji="1" lang="ja-JP" altLang="en-US" sz="900" dirty="0">
                        <a:latin typeface="Meiryo UI" panose="020B0604030504040204" pitchFamily="50" charset="-128"/>
                        <a:ea typeface="Meiryo UI" panose="020B0604030504040204" pitchFamily="50" charset="-128"/>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108000" indent="-108000">
                        <a:buFont typeface="Arial" panose="020B0604020202020204" pitchFamily="34" charset="0"/>
                        <a:buChar char="•"/>
                      </a:pPr>
                      <a:r>
                        <a:rPr lang="ja-JP" altLang="en-US" sz="900" dirty="0">
                          <a:latin typeface="Meiryo UI" panose="020B0604030504040204" pitchFamily="50" charset="-128"/>
                          <a:ea typeface="Meiryo UI" panose="020B0604030504040204" pitchFamily="50" charset="-128"/>
                        </a:rPr>
                        <a:t>契約予定日の少なくとも</a:t>
                      </a:r>
                      <a:r>
                        <a:rPr lang="en-US" altLang="ja-JP" sz="900" dirty="0">
                          <a:latin typeface="Meiryo UI" panose="020B0604030504040204" pitchFamily="50" charset="-128"/>
                          <a:ea typeface="Meiryo UI" panose="020B0604030504040204" pitchFamily="50" charset="-128"/>
                        </a:rPr>
                        <a:t>20</a:t>
                      </a:r>
                      <a:r>
                        <a:rPr lang="ja-JP" altLang="en-US" sz="900" dirty="0">
                          <a:latin typeface="Meiryo UI" panose="020B0604030504040204" pitchFamily="50" charset="-128"/>
                          <a:ea typeface="Meiryo UI" panose="020B0604030504040204" pitchFamily="50" charset="-128"/>
                        </a:rPr>
                        <a:t>日前に官報公示 を行う </a:t>
                      </a:r>
                      <a:endParaRPr kumimoji="1" lang="ja-JP" altLang="en-US" sz="900" dirty="0">
                        <a:latin typeface="Meiryo UI" panose="020B0604030504040204" pitchFamily="50" charset="-128"/>
                        <a:ea typeface="Meiryo UI" panose="020B0604030504040204" pitchFamily="50" charset="-128"/>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74671351"/>
                  </a:ext>
                </a:extLst>
              </a:tr>
              <a:tr h="811796">
                <a:tc>
                  <a:txBody>
                    <a:bodyPr/>
                    <a:lstStyle/>
                    <a:p>
                      <a:r>
                        <a:rPr lang="en-US" altLang="ja-JP" sz="900" dirty="0">
                          <a:latin typeface="Meiryo UI" panose="020B0604030504040204" pitchFamily="50" charset="-128"/>
                          <a:ea typeface="Meiryo UI" panose="020B0604030504040204" pitchFamily="50" charset="-128"/>
                        </a:rPr>
                        <a:t>80</a:t>
                      </a:r>
                      <a:r>
                        <a:rPr lang="ja-JP" altLang="en-US" sz="900" dirty="0">
                          <a:latin typeface="Meiryo UI" panose="020B0604030504040204" pitchFamily="50" charset="-128"/>
                          <a:ea typeface="Meiryo UI" panose="020B0604030504040204" pitchFamily="50" charset="-128"/>
                        </a:rPr>
                        <a:t>万</a:t>
                      </a:r>
                      <a:endParaRPr lang="en-US" altLang="ja-JP" sz="900" dirty="0">
                        <a:latin typeface="Meiryo UI" panose="020B0604030504040204" pitchFamily="50" charset="-128"/>
                        <a:ea typeface="Meiryo UI" panose="020B0604030504040204" pitchFamily="50" charset="-128"/>
                      </a:endParaRPr>
                    </a:p>
                    <a:p>
                      <a:r>
                        <a:rPr lang="en-US" altLang="ja-JP" sz="900" dirty="0">
                          <a:latin typeface="Meiryo UI" panose="020B0604030504040204" pitchFamily="50" charset="-128"/>
                          <a:ea typeface="Meiryo UI" panose="020B0604030504040204" pitchFamily="50" charset="-128"/>
                        </a:rPr>
                        <a:t>SDR</a:t>
                      </a:r>
                      <a:r>
                        <a:rPr lang="ja-JP" altLang="en-US" sz="900" dirty="0">
                          <a:latin typeface="Meiryo UI" panose="020B0604030504040204" pitchFamily="50" charset="-128"/>
                          <a:ea typeface="Meiryo UI" panose="020B0604030504040204" pitchFamily="50" charset="-128"/>
                        </a:rPr>
                        <a:t>以上 </a:t>
                      </a:r>
                      <a:endParaRPr kumimoji="1" lang="ja-JP" altLang="en-US" sz="900" dirty="0">
                        <a:latin typeface="Meiryo UI" panose="020B0604030504040204" pitchFamily="50" charset="-128"/>
                        <a:ea typeface="Meiryo UI" panose="020B0604030504040204" pitchFamily="50" charset="-128"/>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108000" indent="-108000">
                        <a:buFont typeface="Arial" panose="020B0604020202020204" pitchFamily="34" charset="0"/>
                        <a:buChar char="•"/>
                      </a:pPr>
                      <a:r>
                        <a:rPr lang="ja-JP" altLang="en-US" sz="900" dirty="0">
                          <a:latin typeface="Meiryo UI" panose="020B0604030504040204" pitchFamily="50" charset="-128"/>
                          <a:ea typeface="Meiryo UI" panose="020B0604030504040204" pitchFamily="50" charset="-128"/>
                        </a:rPr>
                        <a:t>資料提供招請</a:t>
                      </a:r>
                      <a:r>
                        <a:rPr kumimoji="1" lang="en-US" altLang="ja-JP" sz="900" b="1" baseline="30000" dirty="0">
                          <a:solidFill>
                            <a:schemeClr val="tx1"/>
                          </a:solidFill>
                          <a:latin typeface="Meiryo UI" panose="020B0604030504040204" pitchFamily="50" charset="-128"/>
                          <a:ea typeface="Meiryo UI" panose="020B0604030504040204" pitchFamily="50" charset="-128"/>
                        </a:rPr>
                        <a:t>[2]</a:t>
                      </a:r>
                      <a:r>
                        <a:rPr lang="ja-JP" altLang="en-US" sz="900" dirty="0">
                          <a:solidFill>
                            <a:schemeClr val="tx1"/>
                          </a:solidFill>
                          <a:latin typeface="Meiryo UI" panose="020B0604030504040204" pitchFamily="50" charset="-128"/>
                          <a:ea typeface="Meiryo UI" panose="020B0604030504040204" pitchFamily="50" charset="-128"/>
                        </a:rPr>
                        <a:t>における</a:t>
                      </a:r>
                      <a:r>
                        <a:rPr lang="ja-JP" altLang="en-US" sz="900" dirty="0">
                          <a:latin typeface="Meiryo UI" panose="020B0604030504040204" pitchFamily="50" charset="-128"/>
                          <a:ea typeface="Meiryo UI" panose="020B0604030504040204" pitchFamily="50" charset="-128"/>
                        </a:rPr>
                        <a:t>資料等の提供期限は公示の翌日から起算して少なくとも</a:t>
                      </a:r>
                      <a:r>
                        <a:rPr lang="en-US" altLang="ja-JP" sz="900" dirty="0">
                          <a:latin typeface="Meiryo UI" panose="020B0604030504040204" pitchFamily="50" charset="-128"/>
                          <a:ea typeface="Meiryo UI" panose="020B0604030504040204" pitchFamily="50" charset="-128"/>
                        </a:rPr>
                        <a:t>30</a:t>
                      </a:r>
                      <a:r>
                        <a:rPr lang="ja-JP" altLang="en-US" sz="900" dirty="0">
                          <a:latin typeface="Meiryo UI" panose="020B0604030504040204" pitchFamily="50" charset="-128"/>
                          <a:ea typeface="Meiryo UI" panose="020B0604030504040204" pitchFamily="50" charset="-128"/>
                        </a:rPr>
                        <a:t>日以降の日</a:t>
                      </a:r>
                      <a:endParaRPr lang="en-US" altLang="ja-JP" sz="900" dirty="0">
                        <a:latin typeface="Meiryo UI" panose="020B0604030504040204" pitchFamily="50" charset="-128"/>
                        <a:ea typeface="Meiryo UI" panose="020B0604030504040204" pitchFamily="50" charset="-128"/>
                      </a:endParaRPr>
                    </a:p>
                    <a:p>
                      <a:pPr marL="108000" indent="-108000">
                        <a:buFont typeface="Arial" panose="020B0604020202020204" pitchFamily="34" charset="0"/>
                        <a:buChar char="•"/>
                      </a:pPr>
                      <a:r>
                        <a:rPr lang="ja-JP" altLang="en-US" sz="900" dirty="0">
                          <a:latin typeface="Meiryo UI" panose="020B0604030504040204" pitchFamily="50" charset="-128"/>
                          <a:ea typeface="Meiryo UI" panose="020B0604030504040204" pitchFamily="50" charset="-128"/>
                        </a:rPr>
                        <a:t>意見招請手続は入札公告予定 日の少なくとも</a:t>
                      </a:r>
                      <a:r>
                        <a:rPr lang="en-US" altLang="ja-JP" sz="900" dirty="0">
                          <a:latin typeface="Meiryo UI" panose="020B0604030504040204" pitchFamily="50" charset="-128"/>
                          <a:ea typeface="Meiryo UI" panose="020B0604030504040204" pitchFamily="50" charset="-128"/>
                        </a:rPr>
                        <a:t>30</a:t>
                      </a:r>
                      <a:r>
                        <a:rPr lang="ja-JP" altLang="en-US" sz="900" dirty="0">
                          <a:latin typeface="Meiryo UI" panose="020B0604030504040204" pitchFamily="50" charset="-128"/>
                          <a:ea typeface="Meiryo UI" panose="020B0604030504040204" pitchFamily="50" charset="-128"/>
                        </a:rPr>
                        <a:t>日前から行う（意見の提出期限は、意見招請公示の翌日から起算して少なくとも</a:t>
                      </a:r>
                      <a:r>
                        <a:rPr lang="en-US" altLang="ja-JP" sz="900" dirty="0">
                          <a:latin typeface="Meiryo UI" panose="020B0604030504040204" pitchFamily="50" charset="-128"/>
                          <a:ea typeface="Meiryo UI" panose="020B0604030504040204" pitchFamily="50" charset="-128"/>
                        </a:rPr>
                        <a:t>20</a:t>
                      </a:r>
                      <a:r>
                        <a:rPr lang="ja-JP" altLang="en-US" sz="900" dirty="0">
                          <a:latin typeface="Meiryo UI" panose="020B0604030504040204" pitchFamily="50" charset="-128"/>
                          <a:ea typeface="Meiryo UI" panose="020B0604030504040204" pitchFamily="50" charset="-128"/>
                        </a:rPr>
                        <a:t>日以後の日） </a:t>
                      </a:r>
                      <a:endParaRPr lang="en-US" altLang="ja-JP" sz="900" dirty="0">
                        <a:latin typeface="Meiryo UI" panose="020B0604030504040204" pitchFamily="50" charset="-128"/>
                        <a:ea typeface="Meiryo UI" panose="020B0604030504040204" pitchFamily="50" charset="-128"/>
                      </a:endParaRPr>
                    </a:p>
                    <a:p>
                      <a:pPr marL="108000" indent="-108000">
                        <a:buFont typeface="Arial" panose="020B0604020202020204" pitchFamily="34" charset="0"/>
                        <a:buChar char="•"/>
                      </a:pPr>
                      <a:r>
                        <a:rPr kumimoji="1" lang="ja-JP" altLang="en-US" sz="900" dirty="0">
                          <a:latin typeface="Meiryo UI" panose="020B0604030504040204" pitchFamily="50" charset="-128"/>
                          <a:ea typeface="Meiryo UI" panose="020B0604030504040204" pitchFamily="50" charset="-128"/>
                        </a:rPr>
                        <a:t>入札公告の期間は特別の事情がない限り</a:t>
                      </a:r>
                      <a:r>
                        <a:rPr kumimoji="1" lang="en-US" altLang="ja-JP" sz="900" dirty="0">
                          <a:latin typeface="Meiryo UI" panose="020B0604030504040204" pitchFamily="50" charset="-128"/>
                          <a:ea typeface="Meiryo UI" panose="020B0604030504040204" pitchFamily="50" charset="-128"/>
                        </a:rPr>
                        <a:t>50</a:t>
                      </a:r>
                      <a:r>
                        <a:rPr kumimoji="1" lang="ja-JP" altLang="en-US" sz="900" dirty="0">
                          <a:latin typeface="Meiryo UI" panose="020B0604030504040204" pitchFamily="50" charset="-128"/>
                          <a:ea typeface="Meiryo UI" panose="020B0604030504040204" pitchFamily="50" charset="-128"/>
                        </a:rPr>
                        <a:t>日以上</a:t>
                      </a: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108000" indent="-108000">
                        <a:buFont typeface="Arial" panose="020B0604020202020204" pitchFamily="34" charset="0"/>
                        <a:buChar char="•"/>
                      </a:pPr>
                      <a:r>
                        <a:rPr kumimoji="1" lang="ja-JP" altLang="en-US" sz="900" dirty="0">
                          <a:latin typeface="Meiryo UI" panose="020B0604030504040204" pitchFamily="50" charset="-128"/>
                          <a:ea typeface="Meiryo UI" panose="020B0604030504040204" pitchFamily="50" charset="-128"/>
                        </a:rPr>
                        <a:t>契約予定日の少なくとも</a:t>
                      </a:r>
                      <a:r>
                        <a:rPr kumimoji="1" lang="en-US" altLang="ja-JP" sz="900" dirty="0">
                          <a:latin typeface="Meiryo UI" panose="020B0604030504040204" pitchFamily="50" charset="-128"/>
                          <a:ea typeface="Meiryo UI" panose="020B0604030504040204" pitchFamily="50" charset="-128"/>
                        </a:rPr>
                        <a:t>20</a:t>
                      </a:r>
                      <a:r>
                        <a:rPr kumimoji="1" lang="ja-JP" altLang="en-US" sz="900" dirty="0">
                          <a:latin typeface="Meiryo UI" panose="020B0604030504040204" pitchFamily="50" charset="-128"/>
                          <a:ea typeface="Meiryo UI" panose="020B0604030504040204" pitchFamily="50" charset="-128"/>
                        </a:rPr>
                        <a:t>日前に官報公示を行う</a:t>
                      </a: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27229020"/>
                  </a:ext>
                </a:extLst>
              </a:tr>
            </a:tbl>
          </a:graphicData>
        </a:graphic>
      </p:graphicFrame>
    </p:spTree>
    <p:extLst>
      <p:ext uri="{BB962C8B-B14F-4D97-AF65-F5344CB8AC3E}">
        <p14:creationId xmlns:p14="http://schemas.microsoft.com/office/powerpoint/2010/main" val="2394628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31A8-1394-5694-D423-EF1E1C8F4994}"/>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D0DECAAF-4FC1-391B-65B0-D2AFF3C0BD00}"/>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一般競争</a:t>
            </a:r>
            <a:r>
              <a:rPr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入札</a:t>
            </a:r>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の原則</a:t>
            </a:r>
            <a:endParaRPr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20" name="正方形/長方形 19">
            <a:extLst>
              <a:ext uri="{FF2B5EF4-FFF2-40B4-BE49-F238E27FC236}">
                <a16:creationId xmlns:a16="http://schemas.microsoft.com/office/drawing/2014/main" id="{1A4736BC-74B9-5BD7-5F95-B638579DE65C}"/>
              </a:ext>
            </a:extLst>
          </p:cNvPr>
          <p:cNvSpPr/>
          <p:nvPr/>
        </p:nvSpPr>
        <p:spPr>
          <a:xfrm>
            <a:off x="0" y="0"/>
            <a:ext cx="468000" cy="1512000"/>
          </a:xfrm>
          <a:prstGeom prst="rect">
            <a:avLst/>
          </a:prstGeom>
          <a:solidFill>
            <a:srgbClr val="D7E4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B04719B3-F279-E372-DCC4-816AB181863C}"/>
              </a:ext>
            </a:extLst>
          </p:cNvPr>
          <p:cNvSpPr txBox="1"/>
          <p:nvPr/>
        </p:nvSpPr>
        <p:spPr>
          <a:xfrm>
            <a:off x="763660" y="983204"/>
            <a:ext cx="10980000" cy="314317"/>
          </a:xfrm>
          <a:prstGeom prst="rect">
            <a:avLst/>
          </a:prstGeom>
          <a:noFill/>
        </p:spPr>
        <p:txBody>
          <a:bodyPr wrap="square" lIns="0" tIns="0" rIns="0" bIns="0" rtlCol="0">
            <a:spAutoFit/>
          </a:bodyPr>
          <a:lstStyle/>
          <a:p>
            <a:pPr marL="342900" indent="-342900" fontAlgn="base">
              <a:lnSpc>
                <a:spcPct val="110000"/>
              </a:lnSpc>
              <a:buClr>
                <a:srgbClr val="009999"/>
              </a:buClr>
              <a:buFont typeface="メイリオ" panose="020B0604030504040204" pitchFamily="50" charset="-128"/>
              <a:buChar char="▶"/>
            </a:pP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調達時の契約方式は、一般競争</a:t>
            </a:r>
            <a:r>
              <a:rPr lang="ja-JP" altLang="en-US" sz="1900" kern="500" dirty="0">
                <a:latin typeface="Segoe UI" panose="020B0502040204020203" pitchFamily="34" charset="0"/>
                <a:ea typeface="メイリオ" panose="020B0604030504040204" pitchFamily="50" charset="-128"/>
                <a:cs typeface="Segoe UI" panose="020B0502040204020203" pitchFamily="34" charset="0"/>
              </a:rPr>
              <a:t>入札</a:t>
            </a: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を原則とする。</a:t>
            </a:r>
          </a:p>
        </p:txBody>
      </p:sp>
      <p:sp>
        <p:nvSpPr>
          <p:cNvPr id="97" name="フリーフォーム: 図形 96">
            <a:extLst>
              <a:ext uri="{FF2B5EF4-FFF2-40B4-BE49-F238E27FC236}">
                <a16:creationId xmlns:a16="http://schemas.microsoft.com/office/drawing/2014/main" id="{35F9F35A-26DD-88BE-6BBE-A54FC31A0051}"/>
              </a:ext>
            </a:extLst>
          </p:cNvPr>
          <p:cNvSpPr/>
          <p:nvPr/>
        </p:nvSpPr>
        <p:spPr>
          <a:xfrm>
            <a:off x="0" y="1615401"/>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説明</a:t>
            </a:r>
          </a:p>
        </p:txBody>
      </p:sp>
      <p:cxnSp>
        <p:nvCxnSpPr>
          <p:cNvPr id="98" name="直線コネクタ 97">
            <a:extLst>
              <a:ext uri="{FF2B5EF4-FFF2-40B4-BE49-F238E27FC236}">
                <a16:creationId xmlns:a16="http://schemas.microsoft.com/office/drawing/2014/main" id="{378AFD03-DD2E-8B81-39B2-A030DC8AB81B}"/>
              </a:ext>
            </a:extLst>
          </p:cNvPr>
          <p:cNvCxnSpPr>
            <a:cxnSpLocks/>
          </p:cNvCxnSpPr>
          <p:nvPr/>
        </p:nvCxnSpPr>
        <p:spPr>
          <a:xfrm>
            <a:off x="2392680" y="1777401"/>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sp>
        <p:nvSpPr>
          <p:cNvPr id="105" name="フリーフォーム: 図形 104">
            <a:extLst>
              <a:ext uri="{FF2B5EF4-FFF2-40B4-BE49-F238E27FC236}">
                <a16:creationId xmlns:a16="http://schemas.microsoft.com/office/drawing/2014/main" id="{5DE0AC40-A3F2-D072-9222-0F366882F785}"/>
              </a:ext>
            </a:extLst>
          </p:cNvPr>
          <p:cNvSpPr/>
          <p:nvPr/>
        </p:nvSpPr>
        <p:spPr>
          <a:xfrm>
            <a:off x="0" y="3971556"/>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背景・経緯</a:t>
            </a:r>
          </a:p>
        </p:txBody>
      </p:sp>
      <p:grpSp>
        <p:nvGrpSpPr>
          <p:cNvPr id="30" name="グループ化 29">
            <a:extLst>
              <a:ext uri="{FF2B5EF4-FFF2-40B4-BE49-F238E27FC236}">
                <a16:creationId xmlns:a16="http://schemas.microsoft.com/office/drawing/2014/main" id="{1E074F12-36E0-2C78-E7F7-3D11BBD2CEED}"/>
              </a:ext>
            </a:extLst>
          </p:cNvPr>
          <p:cNvGrpSpPr/>
          <p:nvPr/>
        </p:nvGrpSpPr>
        <p:grpSpPr>
          <a:xfrm>
            <a:off x="593054" y="2087685"/>
            <a:ext cx="6819250" cy="1858822"/>
            <a:chOff x="647616" y="2108832"/>
            <a:chExt cx="6819250" cy="1858822"/>
          </a:xfrm>
        </p:grpSpPr>
        <p:sp>
          <p:nvSpPr>
            <p:cNvPr id="95" name="テキスト ボックス 94">
              <a:extLst>
                <a:ext uri="{FF2B5EF4-FFF2-40B4-BE49-F238E27FC236}">
                  <a16:creationId xmlns:a16="http://schemas.microsoft.com/office/drawing/2014/main" id="{CA536E33-E16B-BA68-C96F-664669F13377}"/>
                </a:ext>
              </a:extLst>
            </p:cNvPr>
            <p:cNvSpPr txBox="1"/>
            <p:nvPr/>
          </p:nvSpPr>
          <p:spPr>
            <a:xfrm>
              <a:off x="647616" y="2108832"/>
              <a:ext cx="6819250" cy="264688"/>
            </a:xfrm>
            <a:prstGeom prst="rect">
              <a:avLst/>
            </a:prstGeom>
            <a:noFill/>
          </p:spPr>
          <p:txBody>
            <a:bodyPr wrap="square" lIns="0" tIns="0" rIns="0" bIns="0" rtlCol="0">
              <a:spAutoFit/>
            </a:bodyPr>
            <a:lstStyle/>
            <a:p>
              <a:pPr fontAlgn="base">
                <a:lnSpc>
                  <a:spcPct val="110000"/>
                </a:lnSpc>
              </a:pPr>
              <a:r>
                <a:rPr lang="ja-JP" altLang="en-US" sz="1600" kern="500">
                  <a:solidFill>
                    <a:srgbClr val="008080"/>
                  </a:solidFill>
                  <a:latin typeface="Segoe UI" panose="020B0502040204020203" pitchFamily="34" charset="0"/>
                  <a:ea typeface="メイリオ" panose="020B0604030504040204" pitchFamily="50" charset="-128"/>
                  <a:cs typeface="Segoe UI" panose="020B0502040204020203" pitchFamily="34" charset="0"/>
                </a:rPr>
                <a:t>資格</a:t>
              </a:r>
              <a:r>
                <a:rPr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を有する希望者による入札を行い、落札者を決定</a:t>
              </a:r>
              <a:endPar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96" name="テキスト ボックス 95">
              <a:extLst>
                <a:ext uri="{FF2B5EF4-FFF2-40B4-BE49-F238E27FC236}">
                  <a16:creationId xmlns:a16="http://schemas.microsoft.com/office/drawing/2014/main" id="{DC479583-6BC2-2DC7-28B3-A8400224F488}"/>
                </a:ext>
              </a:extLst>
            </p:cNvPr>
            <p:cNvSpPr txBox="1"/>
            <p:nvPr/>
          </p:nvSpPr>
          <p:spPr>
            <a:xfrm>
              <a:off x="684953" y="2359521"/>
              <a:ext cx="5940000" cy="1608133"/>
            </a:xfrm>
            <a:prstGeom prst="rect">
              <a:avLst/>
            </a:prstGeom>
            <a:noFill/>
          </p:spPr>
          <p:txBody>
            <a:bodyPr wrap="square" lIns="0" tIns="0" rIns="0" bIns="0" rtlCol="0">
              <a:spAutoFit/>
            </a:bodyPr>
            <a:lstStyle/>
            <a:p>
              <a:pPr fontAlgn="base">
                <a:spcBef>
                  <a:spcPts val="300"/>
                </a:spcBef>
                <a:spcAft>
                  <a:spcPct val="0"/>
                </a:spcAft>
              </a:pPr>
              <a:r>
                <a:rPr lang="ja-JP" altLang="en-US" sz="1100" dirty="0">
                  <a:latin typeface="Meiryo UI"/>
                  <a:ea typeface="Meiryo UI"/>
                </a:rPr>
                <a:t>一般競争入札とは、発注者が公告をし、一定の資格を有する不特定多数の希望者による入札を行うことで落札者を決定し、その者と契約を締結する方式。</a:t>
              </a:r>
              <a:r>
                <a:rPr lang="en-US" altLang="ja-JP" sz="1100" baseline="30000" dirty="0">
                  <a:latin typeface="Meiryo UI"/>
                  <a:ea typeface="Meiryo UI"/>
                </a:rPr>
                <a:t>[1]</a:t>
              </a:r>
              <a:endParaRPr lang="en-US" altLang="ja-JP" sz="1100" b="1" dirty="0">
                <a:latin typeface="Meiryo UI"/>
                <a:ea typeface="Meiryo UI"/>
              </a:endParaRPr>
            </a:p>
            <a:p>
              <a:pPr fontAlgn="base">
                <a:spcBef>
                  <a:spcPts val="300"/>
                </a:spcBef>
                <a:spcAft>
                  <a:spcPct val="0"/>
                </a:spcAft>
              </a:pPr>
              <a:r>
                <a:rPr lang="ja-JP" altLang="en-US" sz="1100" b="1" dirty="0">
                  <a:latin typeface="Meiryo UI"/>
                  <a:ea typeface="Meiryo UI"/>
                </a:rPr>
                <a:t>政府情報システムの調達では、一般競争入札が原則。</a:t>
              </a:r>
              <a:r>
                <a:rPr lang="ja-JP" altLang="en-US" sz="1100" dirty="0">
                  <a:latin typeface="Meiryo UI"/>
                  <a:ea typeface="Meiryo UI"/>
                </a:rPr>
                <a:t>ただし、以下のいずれかの条件を満たし、かつ、</a:t>
              </a:r>
              <a:r>
                <a:rPr lang="en-US" altLang="ja-JP" sz="1100" dirty="0">
                  <a:latin typeface="Meiryo UI"/>
                  <a:ea typeface="Meiryo UI"/>
                </a:rPr>
                <a:t>PJMO</a:t>
              </a:r>
              <a:r>
                <a:rPr lang="ja-JP" altLang="en-US" sz="1100" dirty="0">
                  <a:latin typeface="Meiryo UI"/>
                  <a:ea typeface="Meiryo UI"/>
                </a:rPr>
                <a:t>が対象事業者と調達内容の実現方法等について十分に交渉を行える場合に、例外的に随意契約の選択が認められる。</a:t>
              </a:r>
              <a:r>
                <a:rPr lang="en-US" altLang="ja-JP" sz="1100" baseline="30000" dirty="0">
                  <a:latin typeface="Meiryo UI"/>
                  <a:ea typeface="Meiryo UI"/>
                </a:rPr>
                <a:t>[2]</a:t>
              </a:r>
            </a:p>
            <a:p>
              <a:pPr marL="108000" indent="-108000" fontAlgn="base">
                <a:spcBef>
                  <a:spcPts val="300"/>
                </a:spcBef>
                <a:spcAft>
                  <a:spcPct val="0"/>
                </a:spcAft>
                <a:buFont typeface="Arial" panose="020B0604020202020204" pitchFamily="34" charset="0"/>
                <a:buChar char="•"/>
              </a:pPr>
              <a:r>
                <a:rPr lang="ja-JP" altLang="en-US" sz="1050" dirty="0">
                  <a:latin typeface="Meiryo UI"/>
                  <a:ea typeface="Meiryo UI"/>
                </a:rPr>
                <a:t>随意契約の対象となる事業者以外に調達対象が存在せず、かつ、サービス・業務を遂行するに当たり、当該調達が必要不可欠である場合</a:t>
              </a:r>
              <a:r>
                <a:rPr lang="en-US" altLang="ja-JP" sz="1050" baseline="30000" dirty="0">
                  <a:latin typeface="Meiryo UI"/>
                  <a:ea typeface="Meiryo UI"/>
                </a:rPr>
                <a:t>[2]</a:t>
              </a:r>
              <a:endParaRPr lang="ja-JP" altLang="en-US" sz="1050" dirty="0">
                <a:latin typeface="Meiryo UI"/>
                <a:ea typeface="Meiryo UI"/>
              </a:endParaRPr>
            </a:p>
            <a:p>
              <a:pPr marL="108000" indent="-108000" fontAlgn="base">
                <a:spcBef>
                  <a:spcPts val="300"/>
                </a:spcBef>
                <a:spcAft>
                  <a:spcPct val="0"/>
                </a:spcAft>
                <a:buFont typeface="Arial" panose="020B0604020202020204" pitchFamily="34" charset="0"/>
                <a:buChar char="•"/>
              </a:pPr>
              <a:r>
                <a:rPr lang="ja-JP" altLang="en-US" sz="1050" dirty="0">
                  <a:latin typeface="Meiryo UI"/>
                  <a:ea typeface="Meiryo UI"/>
                </a:rPr>
                <a:t>契約の対象となる事業者との随意契約を行う方が、一般競争入札を行うより、コストを下げられることが合理的に説明できる場合</a:t>
              </a:r>
              <a:r>
                <a:rPr lang="en-US" altLang="ja-JP" sz="1050" baseline="30000" dirty="0">
                  <a:latin typeface="Meiryo UI"/>
                  <a:ea typeface="Meiryo UI"/>
                </a:rPr>
                <a:t>[2]</a:t>
              </a:r>
              <a:endParaRPr lang="en-US" altLang="ja-JP" sz="1050" baseline="30000" dirty="0">
                <a:highlight>
                  <a:srgbClr val="00FFFF"/>
                </a:highlight>
                <a:latin typeface="Meiryo UI"/>
                <a:ea typeface="Meiryo UI"/>
              </a:endParaRPr>
            </a:p>
          </p:txBody>
        </p:sp>
      </p:grpSp>
      <p:sp>
        <p:nvSpPr>
          <p:cNvPr id="6" name="テキスト ボックス 5">
            <a:extLst>
              <a:ext uri="{FF2B5EF4-FFF2-40B4-BE49-F238E27FC236}">
                <a16:creationId xmlns:a16="http://schemas.microsoft.com/office/drawing/2014/main" id="{734A2BCD-D822-9106-0A12-AAA914FDCFA9}"/>
              </a:ext>
            </a:extLst>
          </p:cNvPr>
          <p:cNvSpPr txBox="1"/>
          <p:nvPr/>
        </p:nvSpPr>
        <p:spPr>
          <a:xfrm>
            <a:off x="7095980" y="5400000"/>
            <a:ext cx="4680000" cy="935449"/>
          </a:xfrm>
          <a:prstGeom prst="rect">
            <a:avLst/>
          </a:prstGeom>
          <a:noFill/>
        </p:spPr>
        <p:txBody>
          <a:bodyPr wrap="square" lIns="0" tIns="0" rIns="0" bIns="0" rtlCol="0">
            <a:spAutoFit/>
          </a:bodyPr>
          <a:lstStyle/>
          <a:p>
            <a:pPr fontAlgn="base">
              <a:lnSpc>
                <a:spcPct val="110000"/>
              </a:lnSpc>
              <a:spcBef>
                <a:spcPts val="200"/>
              </a:spcBef>
              <a:spcAft>
                <a:spcPct val="0"/>
              </a:spcAft>
              <a:defRPr/>
            </a:pPr>
            <a:r>
              <a:rPr lang="ja-JP" altLang="en-US" sz="800" kern="500" dirty="0">
                <a:solidFill>
                  <a:srgbClr val="009999"/>
                </a:solidFill>
                <a:latin typeface="Meiryo UI" panose="020B0604030504040204" pitchFamily="50" charset="-128"/>
                <a:ea typeface="Meiryo UI" panose="020B0604030504040204" pitchFamily="50" charset="-128"/>
                <a:cs typeface="Segoe UI" panose="020B0502040204020203" pitchFamily="34" charset="0"/>
              </a:rPr>
              <a:t>脚注</a:t>
            </a:r>
            <a:endParaRPr lang="en-US" altLang="ja-JP" sz="800" kern="500" dirty="0">
              <a:solidFill>
                <a:srgbClr val="009999"/>
              </a:solidFill>
              <a:latin typeface="Meiryo UI" panose="020B0604030504040204" pitchFamily="50" charset="-128"/>
              <a:ea typeface="Meiryo UI" panose="020B0604030504040204" pitchFamily="50" charset="-128"/>
              <a:cs typeface="Segoe UI" panose="020B0502040204020203" pitchFamily="34" charset="0"/>
            </a:endParaRPr>
          </a:p>
          <a:p>
            <a:pPr fontAlgn="base">
              <a:spcAft>
                <a:spcPct val="0"/>
              </a:spcAft>
              <a:defRPr/>
            </a:pP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1</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会計法（昭和二十二年法律第三十五号）第二十九条の三（</a:t>
            </a:r>
            <a:r>
              <a:rPr lang="en-US" altLang="ja-JP" sz="800" b="1" kern="500" dirty="0">
                <a:latin typeface="Meiryo UI" panose="020B0604030504040204" pitchFamily="50" charset="-128"/>
                <a:ea typeface="Meiryo UI" panose="020B0604030504040204" pitchFamily="50" charset="-128"/>
                <a:cs typeface="Segoe UI" panose="020B0502040204020203" pitchFamily="34" charset="0"/>
                <a:hlinkClick r:id="rId3"/>
              </a:rPr>
              <a:t>Link</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）を基に作成</a:t>
            </a:r>
            <a:endParaRPr lang="en-US" altLang="ja-JP" sz="800" kern="500" dirty="0">
              <a:latin typeface="Meiryo UI" panose="020B0604030504040204" pitchFamily="50" charset="-128"/>
              <a:ea typeface="Meiryo UI" panose="020B0604030504040204" pitchFamily="50" charset="-128"/>
              <a:cs typeface="Segoe UI" panose="020B0502040204020203" pitchFamily="34" charset="0"/>
            </a:endParaRPr>
          </a:p>
          <a:p>
            <a:pPr fontAlgn="base">
              <a:spcAft>
                <a:spcPct val="0"/>
              </a:spcAft>
              <a:defRPr/>
            </a:pP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 DS-110</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デジタル・ガバメント推進標準ガイドライン解説書第６章 調達 １</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調達の計画を基に作成</a:t>
            </a:r>
            <a:endPar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endParaRPr>
          </a:p>
          <a:p>
            <a:pPr lvl="0" fontAlgn="base">
              <a:lnSpc>
                <a:spcPct val="110000"/>
              </a:lnSpc>
              <a:spcBef>
                <a:spcPts val="200"/>
              </a:spcBef>
              <a:spcAft>
                <a:spcPct val="0"/>
              </a:spcAft>
              <a:defRPr/>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参考情報</a:t>
            </a:r>
            <a:br>
              <a:rPr kumimoji="0" lang="en-US" altLang="ja-JP" sz="800" b="1" kern="0" dirty="0">
                <a:solidFill>
                  <a:prstClr val="black"/>
                </a:solidFill>
                <a:latin typeface="Meiryo UI" panose="020B0604030504040204" pitchFamily="50" charset="-128"/>
                <a:ea typeface="Meiryo UI" panose="020B0604030504040204" pitchFamily="50" charset="-128"/>
              </a:rPr>
            </a:br>
            <a:r>
              <a:rPr kumimoji="0" lang="ja-JP" altLang="en-US" sz="800" b="1"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DS-100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　第３篇</a:t>
            </a:r>
            <a:r>
              <a:rPr kumimoji="0" lang="en-US" altLang="ja-JP" sz="800" kern="0" dirty="0">
                <a:solidFill>
                  <a:prstClr val="black"/>
                </a:solidFill>
                <a:latin typeface="Meiryo UI" panose="020B0604030504040204" pitchFamily="50" charset="-128"/>
                <a:ea typeface="Meiryo UI" panose="020B0604030504040204" pitchFamily="50" charset="-128"/>
              </a:rPr>
              <a:t>IT</a:t>
            </a:r>
            <a:r>
              <a:rPr kumimoji="0" lang="ja-JP" altLang="en-US" sz="800" kern="0" dirty="0">
                <a:solidFill>
                  <a:prstClr val="black"/>
                </a:solidFill>
                <a:latin typeface="Meiryo UI" panose="020B0604030504040204" pitchFamily="50" charset="-128"/>
                <a:ea typeface="Meiryo UI" panose="020B0604030504040204" pitchFamily="50" charset="-128"/>
              </a:rPr>
              <a:t>マネジメント　第</a:t>
            </a:r>
            <a:r>
              <a:rPr kumimoji="0" lang="en-US" altLang="ja-JP" sz="800" kern="0" dirty="0">
                <a:solidFill>
                  <a:prstClr val="black"/>
                </a:solidFill>
                <a:latin typeface="Meiryo UI" panose="020B0604030504040204" pitchFamily="50" charset="-128"/>
                <a:ea typeface="Meiryo UI" panose="020B0604030504040204" pitchFamily="50" charset="-128"/>
              </a:rPr>
              <a:t>6</a:t>
            </a:r>
            <a:r>
              <a:rPr kumimoji="0" lang="ja-JP" altLang="en-US" sz="800" kern="0" dirty="0">
                <a:solidFill>
                  <a:prstClr val="black"/>
                </a:solidFill>
                <a:latin typeface="Meiryo UI" panose="020B0604030504040204" pitchFamily="50" charset="-128"/>
                <a:ea typeface="Meiryo UI" panose="020B0604030504040204" pitchFamily="50" charset="-128"/>
              </a:rPr>
              <a:t>章調達</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DS-110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デジタル・ガバメント推進標準ガイドライン解説書　第６章 調達 １</a:t>
            </a:r>
            <a:r>
              <a:rPr kumimoji="0" lang="en-US" altLang="ja-JP" sz="800" kern="0" dirty="0">
                <a:solidFill>
                  <a:prstClr val="black"/>
                </a:solidFill>
                <a:latin typeface="Meiryo UI" panose="020B0604030504040204" pitchFamily="50" charset="-128"/>
                <a:ea typeface="Meiryo UI" panose="020B0604030504040204" pitchFamily="50" charset="-128"/>
              </a:rPr>
              <a:t>. </a:t>
            </a:r>
            <a:r>
              <a:rPr kumimoji="0" lang="ja-JP" altLang="en-US" sz="800" kern="0" dirty="0">
                <a:solidFill>
                  <a:prstClr val="black"/>
                </a:solidFill>
                <a:latin typeface="Meiryo UI" panose="020B0604030504040204" pitchFamily="50" charset="-128"/>
                <a:ea typeface="Meiryo UI" panose="020B0604030504040204" pitchFamily="50" charset="-128"/>
              </a:rPr>
              <a:t>調達の計画</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DS-120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デジタル・ガバメント推進標準ガイドライン実践ガイドブック　</a:t>
            </a:r>
            <a:r>
              <a:rPr kumimoji="0" lang="zh-TW" altLang="en-US" sz="800" kern="0" dirty="0">
                <a:solidFill>
                  <a:prstClr val="black"/>
                </a:solidFill>
                <a:latin typeface="Meiryo UI" panose="020B0604030504040204" pitchFamily="50" charset="-128"/>
                <a:ea typeface="Meiryo UI" panose="020B0604030504040204" pitchFamily="50" charset="-128"/>
              </a:rPr>
              <a:t>第３編第６章 調達</a:t>
            </a:r>
            <a:endParaRPr kumimoji="0" lang="en-US" altLang="ja-JP" sz="800" kern="0" dirty="0">
              <a:solidFill>
                <a:prstClr val="black"/>
              </a:solidFill>
              <a:latin typeface="Meiryo UI" panose="020B0604030504040204" pitchFamily="50" charset="-128"/>
              <a:ea typeface="Meiryo UI" panose="020B0604030504040204" pitchFamily="50" charset="-128"/>
            </a:endParaRPr>
          </a:p>
        </p:txBody>
      </p:sp>
      <p:grpSp>
        <p:nvGrpSpPr>
          <p:cNvPr id="4" name="グループ化 3">
            <a:extLst>
              <a:ext uri="{FF2B5EF4-FFF2-40B4-BE49-F238E27FC236}">
                <a16:creationId xmlns:a16="http://schemas.microsoft.com/office/drawing/2014/main" id="{A26131D4-07B0-5B43-14A0-FBA2C8B04FB2}"/>
              </a:ext>
            </a:extLst>
          </p:cNvPr>
          <p:cNvGrpSpPr/>
          <p:nvPr/>
        </p:nvGrpSpPr>
        <p:grpSpPr>
          <a:xfrm>
            <a:off x="647616" y="4466856"/>
            <a:ext cx="5958286" cy="758520"/>
            <a:chOff x="647616" y="4586907"/>
            <a:chExt cx="5958286" cy="758520"/>
          </a:xfrm>
        </p:grpSpPr>
        <p:sp>
          <p:nvSpPr>
            <p:cNvPr id="5" name="テキスト ボックス 4">
              <a:extLst>
                <a:ext uri="{FF2B5EF4-FFF2-40B4-BE49-F238E27FC236}">
                  <a16:creationId xmlns:a16="http://schemas.microsoft.com/office/drawing/2014/main" id="{E3B2EE5C-FA12-EFC4-BD7D-2CEC712044DD}"/>
                </a:ext>
              </a:extLst>
            </p:cNvPr>
            <p:cNvSpPr txBox="1"/>
            <p:nvPr/>
          </p:nvSpPr>
          <p:spPr>
            <a:xfrm>
              <a:off x="647616" y="4586907"/>
              <a:ext cx="5220000" cy="246221"/>
            </a:xfrm>
            <a:prstGeom prst="rect">
              <a:avLst/>
            </a:prstGeom>
            <a:noFill/>
          </p:spPr>
          <p:txBody>
            <a:bodyPr wrap="square" lIns="0" tIns="0" rIns="0" bIns="0" rtlCol="0">
              <a:spAutoFit/>
            </a:bodyPr>
            <a:lstStyle/>
            <a:p>
              <a:pPr fontAlgn="base">
                <a:spcBef>
                  <a:spcPts val="600"/>
                </a:spcBef>
                <a:spcAft>
                  <a:spcPct val="0"/>
                </a:spcAft>
              </a:pPr>
              <a:r>
                <a:rPr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透明性と競争性の実現</a:t>
              </a:r>
            </a:p>
          </p:txBody>
        </p:sp>
        <p:sp>
          <p:nvSpPr>
            <p:cNvPr id="7" name="テキスト ボックス 6">
              <a:extLst>
                <a:ext uri="{FF2B5EF4-FFF2-40B4-BE49-F238E27FC236}">
                  <a16:creationId xmlns:a16="http://schemas.microsoft.com/office/drawing/2014/main" id="{F519B035-0752-A000-F80D-E92947C68C64}"/>
                </a:ext>
              </a:extLst>
            </p:cNvPr>
            <p:cNvSpPr txBox="1"/>
            <p:nvPr/>
          </p:nvSpPr>
          <p:spPr>
            <a:xfrm>
              <a:off x="665902" y="4837596"/>
              <a:ext cx="5940000" cy="507831"/>
            </a:xfrm>
            <a:prstGeom prst="rect">
              <a:avLst/>
            </a:prstGeom>
            <a:noFill/>
          </p:spPr>
          <p:txBody>
            <a:bodyPr wrap="square" lIns="0" tIns="0" rIns="0" bIns="0" rtlCol="0">
              <a:spAutoFit/>
            </a:bodyPr>
            <a:lstStyle/>
            <a:p>
              <a:pPr fontAlgn="base">
                <a:spcBef>
                  <a:spcPts val="600"/>
                </a:spcBef>
                <a:spcAft>
                  <a:spcPct val="0"/>
                </a:spcAft>
              </a:pPr>
              <a:r>
                <a:rPr lang="ja-JP" altLang="en-US" sz="1100" dirty="0">
                  <a:latin typeface="Meiryo UI"/>
                  <a:ea typeface="Meiryo UI"/>
                </a:rPr>
                <a:t>公共調達は、国の財源を用いて行われることから、</a:t>
              </a:r>
              <a:r>
                <a:rPr lang="ja-JP" altLang="en-US" sz="1100" b="1" dirty="0">
                  <a:latin typeface="Meiryo UI"/>
                  <a:ea typeface="Meiryo UI"/>
                </a:rPr>
                <a:t>その過程や内容を広く公開し、誰でも確認できる透明性と、複数の事業者が平等に参加・提案できる競争性を確保する必要があるため、一般競争入札を行うことが原則</a:t>
              </a:r>
              <a:r>
                <a:rPr lang="ja-JP" altLang="en-US" sz="1100" dirty="0">
                  <a:latin typeface="Meiryo UI"/>
                  <a:ea typeface="Meiryo UI"/>
                </a:rPr>
                <a:t>とされている。</a:t>
              </a:r>
              <a:endParaRPr lang="en-US" altLang="ja-JP" sz="1100" dirty="0">
                <a:latin typeface="Meiryo UI"/>
                <a:ea typeface="Meiryo UI"/>
              </a:endParaRPr>
            </a:p>
          </p:txBody>
        </p:sp>
      </p:grpSp>
      <p:cxnSp>
        <p:nvCxnSpPr>
          <p:cNvPr id="9" name="直線コネクタ 8">
            <a:extLst>
              <a:ext uri="{FF2B5EF4-FFF2-40B4-BE49-F238E27FC236}">
                <a16:creationId xmlns:a16="http://schemas.microsoft.com/office/drawing/2014/main" id="{AA6FFED4-4F6F-C0B2-66B9-B8B60337E02F}"/>
              </a:ext>
            </a:extLst>
          </p:cNvPr>
          <p:cNvCxnSpPr>
            <a:cxnSpLocks/>
          </p:cNvCxnSpPr>
          <p:nvPr/>
        </p:nvCxnSpPr>
        <p:spPr>
          <a:xfrm>
            <a:off x="2392680" y="4133556"/>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5858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78EB0-0B00-19B4-72C8-53013192984F}"/>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F46447A9-DCEA-2696-71BE-58CC48A405F4}"/>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入札制限への配慮</a:t>
            </a:r>
            <a:endParaRPr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20" name="正方形/長方形 19">
            <a:extLst>
              <a:ext uri="{FF2B5EF4-FFF2-40B4-BE49-F238E27FC236}">
                <a16:creationId xmlns:a16="http://schemas.microsoft.com/office/drawing/2014/main" id="{6513672A-B14C-558B-7C78-5FEEED23E4A2}"/>
              </a:ext>
            </a:extLst>
          </p:cNvPr>
          <p:cNvSpPr/>
          <p:nvPr/>
        </p:nvSpPr>
        <p:spPr>
          <a:xfrm>
            <a:off x="0" y="0"/>
            <a:ext cx="468000" cy="1512000"/>
          </a:xfrm>
          <a:prstGeom prst="rect">
            <a:avLst/>
          </a:prstGeom>
          <a:solidFill>
            <a:srgbClr val="D7E4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D8FBDE03-2BBA-7F61-F59C-9154FFFE53F9}"/>
              </a:ext>
            </a:extLst>
          </p:cNvPr>
          <p:cNvSpPr txBox="1"/>
          <p:nvPr/>
        </p:nvSpPr>
        <p:spPr>
          <a:xfrm>
            <a:off x="763660" y="983204"/>
            <a:ext cx="10980000" cy="314317"/>
          </a:xfrm>
          <a:prstGeom prst="rect">
            <a:avLst/>
          </a:prstGeom>
          <a:noFill/>
        </p:spPr>
        <p:txBody>
          <a:bodyPr wrap="square" lIns="0" tIns="0" rIns="0" bIns="0" rtlCol="0">
            <a:spAutoFit/>
          </a:bodyPr>
          <a:lstStyle/>
          <a:p>
            <a:pPr marL="342900" indent="-342900" fontAlgn="base">
              <a:lnSpc>
                <a:spcPct val="110000"/>
              </a:lnSpc>
              <a:buClr>
                <a:srgbClr val="009999"/>
              </a:buClr>
              <a:buFont typeface="メイリオ" panose="020B0604030504040204" pitchFamily="50" charset="-128"/>
              <a:buChar char="▶"/>
            </a:pP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政府の調達には、すべての事業者が自由に入札できるわけではなく、制限がある</a:t>
            </a:r>
          </a:p>
        </p:txBody>
      </p:sp>
      <p:sp>
        <p:nvSpPr>
          <p:cNvPr id="97" name="フリーフォーム: 図形 96">
            <a:extLst>
              <a:ext uri="{FF2B5EF4-FFF2-40B4-BE49-F238E27FC236}">
                <a16:creationId xmlns:a16="http://schemas.microsoft.com/office/drawing/2014/main" id="{4D90B395-D728-E181-3952-3D0F5187AF73}"/>
              </a:ext>
            </a:extLst>
          </p:cNvPr>
          <p:cNvSpPr/>
          <p:nvPr/>
        </p:nvSpPr>
        <p:spPr>
          <a:xfrm>
            <a:off x="0" y="1615401"/>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説明</a:t>
            </a:r>
          </a:p>
        </p:txBody>
      </p:sp>
      <p:cxnSp>
        <p:nvCxnSpPr>
          <p:cNvPr id="98" name="直線コネクタ 97">
            <a:extLst>
              <a:ext uri="{FF2B5EF4-FFF2-40B4-BE49-F238E27FC236}">
                <a16:creationId xmlns:a16="http://schemas.microsoft.com/office/drawing/2014/main" id="{70A57F0F-0945-7AB2-9B82-CFC2A10A61E8}"/>
              </a:ext>
            </a:extLst>
          </p:cNvPr>
          <p:cNvCxnSpPr>
            <a:cxnSpLocks/>
          </p:cNvCxnSpPr>
          <p:nvPr/>
        </p:nvCxnSpPr>
        <p:spPr>
          <a:xfrm>
            <a:off x="2392680" y="1777401"/>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sp>
        <p:nvSpPr>
          <p:cNvPr id="105" name="フリーフォーム: 図形 104">
            <a:extLst>
              <a:ext uri="{FF2B5EF4-FFF2-40B4-BE49-F238E27FC236}">
                <a16:creationId xmlns:a16="http://schemas.microsoft.com/office/drawing/2014/main" id="{2B0B79CD-FCB0-D55B-D70F-5CE0EBF4D582}"/>
              </a:ext>
            </a:extLst>
          </p:cNvPr>
          <p:cNvSpPr/>
          <p:nvPr/>
        </p:nvSpPr>
        <p:spPr>
          <a:xfrm>
            <a:off x="0" y="3971556"/>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背景・経緯</a:t>
            </a:r>
          </a:p>
        </p:txBody>
      </p:sp>
      <p:cxnSp>
        <p:nvCxnSpPr>
          <p:cNvPr id="106" name="直線コネクタ 105">
            <a:extLst>
              <a:ext uri="{FF2B5EF4-FFF2-40B4-BE49-F238E27FC236}">
                <a16:creationId xmlns:a16="http://schemas.microsoft.com/office/drawing/2014/main" id="{6B0C50CF-8E99-5056-9CD0-31D6A1E71C7D}"/>
              </a:ext>
            </a:extLst>
          </p:cNvPr>
          <p:cNvCxnSpPr>
            <a:cxnSpLocks/>
          </p:cNvCxnSpPr>
          <p:nvPr/>
        </p:nvCxnSpPr>
        <p:spPr>
          <a:xfrm>
            <a:off x="2392680" y="4133556"/>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grpSp>
        <p:nvGrpSpPr>
          <p:cNvPr id="30" name="グループ化 29">
            <a:extLst>
              <a:ext uri="{FF2B5EF4-FFF2-40B4-BE49-F238E27FC236}">
                <a16:creationId xmlns:a16="http://schemas.microsoft.com/office/drawing/2014/main" id="{70E339BC-6390-EC7B-BAC0-615D137CC883}"/>
              </a:ext>
            </a:extLst>
          </p:cNvPr>
          <p:cNvGrpSpPr/>
          <p:nvPr/>
        </p:nvGrpSpPr>
        <p:grpSpPr>
          <a:xfrm>
            <a:off x="593054" y="2087685"/>
            <a:ext cx="5958287" cy="1874210"/>
            <a:chOff x="647616" y="2108832"/>
            <a:chExt cx="5958287" cy="1874210"/>
          </a:xfrm>
        </p:grpSpPr>
        <p:sp>
          <p:nvSpPr>
            <p:cNvPr id="95" name="テキスト ボックス 94">
              <a:extLst>
                <a:ext uri="{FF2B5EF4-FFF2-40B4-BE49-F238E27FC236}">
                  <a16:creationId xmlns:a16="http://schemas.microsoft.com/office/drawing/2014/main" id="{36802CD9-2759-E4E0-6DA9-60D9FBBF2254}"/>
                </a:ext>
              </a:extLst>
            </p:cNvPr>
            <p:cNvSpPr txBox="1"/>
            <p:nvPr/>
          </p:nvSpPr>
          <p:spPr>
            <a:xfrm>
              <a:off x="647616" y="2108832"/>
              <a:ext cx="5220000" cy="264688"/>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特定の事業者を調達に参加させないための制限</a:t>
              </a:r>
            </a:p>
          </p:txBody>
        </p:sp>
        <p:sp>
          <p:nvSpPr>
            <p:cNvPr id="96" name="テキスト ボックス 95">
              <a:extLst>
                <a:ext uri="{FF2B5EF4-FFF2-40B4-BE49-F238E27FC236}">
                  <a16:creationId xmlns:a16="http://schemas.microsoft.com/office/drawing/2014/main" id="{B40A9FAD-23E3-CA93-F95C-487C0637B548}"/>
                </a:ext>
              </a:extLst>
            </p:cNvPr>
            <p:cNvSpPr txBox="1"/>
            <p:nvPr/>
          </p:nvSpPr>
          <p:spPr>
            <a:xfrm>
              <a:off x="665903" y="2359521"/>
              <a:ext cx="5940000" cy="1623521"/>
            </a:xfrm>
            <a:prstGeom prst="rect">
              <a:avLst/>
            </a:prstGeom>
            <a:noFill/>
          </p:spPr>
          <p:txBody>
            <a:bodyPr wrap="square" lIns="0" tIns="0" rIns="0" bIns="0" rtlCol="0">
              <a:spAutoFit/>
            </a:bodyPr>
            <a:lstStyle/>
            <a:p>
              <a:pPr fontAlgn="base">
                <a:spcBef>
                  <a:spcPts val="300"/>
                </a:spcBef>
                <a:spcAft>
                  <a:spcPct val="0"/>
                </a:spcAft>
              </a:pPr>
              <a:r>
                <a:rPr lang="ja-JP" altLang="en-US" sz="1100" dirty="0">
                  <a:latin typeface="Meiryo UI"/>
                  <a:ea typeface="Meiryo UI"/>
                </a:rPr>
                <a:t>入札制限とは、調達に参加できる事業者ついて、以下に例示するような制限を設けることである。</a:t>
              </a:r>
              <a:br>
                <a:rPr lang="en-US" altLang="ja-JP" sz="1100" dirty="0">
                  <a:latin typeface="Meiryo UI"/>
                  <a:ea typeface="Meiryo UI"/>
                </a:rPr>
              </a:br>
              <a:r>
                <a:rPr lang="ja-JP" altLang="en-US" sz="1100" dirty="0">
                  <a:latin typeface="Meiryo UI"/>
                  <a:ea typeface="Meiryo UI"/>
                </a:rPr>
                <a:t>（④はデジタル庁における規定）</a:t>
              </a:r>
            </a:p>
            <a:p>
              <a:pPr marL="342900" indent="-342900" fontAlgn="base">
                <a:spcBef>
                  <a:spcPts val="300"/>
                </a:spcBef>
                <a:spcAft>
                  <a:spcPct val="0"/>
                </a:spcAft>
                <a:buFont typeface="+mj-ea"/>
                <a:buAutoNum type="circleNumDbPlain"/>
                <a:tabLst>
                  <a:tab pos="2159000" algn="l"/>
                </a:tabLst>
              </a:pPr>
              <a:r>
                <a:rPr lang="ja-JP" altLang="en-US" sz="1050" b="1" dirty="0">
                  <a:latin typeface="Meiryo UI"/>
                  <a:ea typeface="Meiryo UI"/>
                </a:rPr>
                <a:t>各工程の調達仕様書の作成に直接関与した事業者</a:t>
              </a:r>
              <a:r>
                <a:rPr lang="ja-JP" altLang="en-US" sz="1050" dirty="0">
                  <a:latin typeface="Meiryo UI"/>
                  <a:ea typeface="Meiryo UI"/>
                </a:rPr>
                <a:t>は、当該調達案件の入札に参加させない</a:t>
              </a:r>
              <a:r>
                <a:rPr lang="en-US" altLang="ja-JP" sz="1050" baseline="30000" dirty="0">
                  <a:latin typeface="Meiryo UI"/>
                  <a:ea typeface="Meiryo UI"/>
                </a:rPr>
                <a:t>[1]</a:t>
              </a:r>
              <a:endParaRPr lang="ja-JP" altLang="en-US" sz="1050" baseline="30000" dirty="0">
                <a:latin typeface="Meiryo UI"/>
                <a:ea typeface="Meiryo UI"/>
              </a:endParaRPr>
            </a:p>
            <a:p>
              <a:pPr marL="342900" indent="-342900" fontAlgn="base">
                <a:spcBef>
                  <a:spcPts val="300"/>
                </a:spcBef>
                <a:spcAft>
                  <a:spcPct val="0"/>
                </a:spcAft>
                <a:buFont typeface="+mj-ea"/>
                <a:buAutoNum type="circleNumDbPlain"/>
                <a:tabLst>
                  <a:tab pos="2159000" algn="l"/>
                </a:tabLst>
              </a:pPr>
              <a:r>
                <a:rPr lang="ja-JP" altLang="en-US" sz="1050" b="1" dirty="0">
                  <a:latin typeface="Meiryo UI"/>
                  <a:ea typeface="Meiryo UI"/>
                </a:rPr>
                <a:t>設計・開発等のプロジェクト管理支援事業者</a:t>
              </a:r>
              <a:r>
                <a:rPr lang="ja-JP" altLang="en-US" sz="1050" dirty="0">
                  <a:latin typeface="Meiryo UI"/>
                  <a:ea typeface="Meiryo UI"/>
                </a:rPr>
                <a:t>は、その管理の対象となる情報システムの設計・開発の作業に関する内容を含む調達案件の入札に参加させない</a:t>
              </a:r>
              <a:r>
                <a:rPr lang="en-US" altLang="ja-JP" sz="1050" baseline="30000" dirty="0">
                  <a:latin typeface="Meiryo UI"/>
                  <a:ea typeface="Meiryo UI"/>
                </a:rPr>
                <a:t>[1]</a:t>
              </a:r>
              <a:endParaRPr lang="ja-JP" altLang="en-US" sz="1050" dirty="0">
                <a:latin typeface="Meiryo UI"/>
                <a:ea typeface="Meiryo UI"/>
              </a:endParaRPr>
            </a:p>
            <a:p>
              <a:pPr marL="342900" indent="-342900" fontAlgn="base">
                <a:spcBef>
                  <a:spcPts val="300"/>
                </a:spcBef>
                <a:spcAft>
                  <a:spcPct val="0"/>
                </a:spcAft>
                <a:buFont typeface="+mj-ea"/>
                <a:buAutoNum type="circleNumDbPlain"/>
                <a:tabLst>
                  <a:tab pos="2159000" algn="l"/>
                </a:tabLst>
              </a:pPr>
              <a:r>
                <a:rPr lang="ja-JP" altLang="en-US" sz="1050" b="1" dirty="0">
                  <a:latin typeface="Meiryo UI"/>
                  <a:ea typeface="Meiryo UI"/>
                </a:rPr>
                <a:t>監査対象である情報システムに関与した事業者</a:t>
              </a:r>
              <a:r>
                <a:rPr lang="ja-JP" altLang="en-US" sz="1050" dirty="0">
                  <a:latin typeface="Meiryo UI"/>
                  <a:ea typeface="Meiryo UI"/>
                </a:rPr>
                <a:t>は、当該情報システムの監査業務に関する調達案件の入札に参加させない</a:t>
              </a:r>
              <a:r>
                <a:rPr lang="en-US" altLang="ja-JP" sz="1050" baseline="30000" dirty="0">
                  <a:latin typeface="Meiryo UI"/>
                  <a:ea typeface="Meiryo UI"/>
                </a:rPr>
                <a:t>[1]</a:t>
              </a:r>
              <a:endParaRPr lang="en-US" altLang="ja-JP" sz="1050" dirty="0">
                <a:latin typeface="Meiryo UI"/>
                <a:ea typeface="Meiryo UI"/>
              </a:endParaRPr>
            </a:p>
            <a:p>
              <a:pPr marL="342900" indent="-342900" fontAlgn="base">
                <a:spcBef>
                  <a:spcPts val="300"/>
                </a:spcBef>
                <a:spcAft>
                  <a:spcPct val="0"/>
                </a:spcAft>
                <a:buFont typeface="+mj-ea"/>
                <a:buAutoNum type="circleNumDbPlain"/>
                <a:tabLst>
                  <a:tab pos="2159000" algn="l"/>
                </a:tabLst>
              </a:pPr>
              <a:r>
                <a:rPr lang="ja-JP" altLang="en-US" sz="1050" b="1" dirty="0">
                  <a:latin typeface="Meiryo UI"/>
                  <a:ea typeface="Meiryo UI"/>
                </a:rPr>
                <a:t>調達仕様書を作成する職員が兼業している企業、またはその企業の親会社や子会社は、</a:t>
              </a:r>
              <a:r>
                <a:rPr lang="ja-JP" altLang="en-US" sz="1050" dirty="0">
                  <a:latin typeface="Meiryo UI"/>
                  <a:ea typeface="Meiryo UI"/>
                </a:rPr>
                <a:t>入札に参加させない</a:t>
              </a:r>
              <a:r>
                <a:rPr lang="en-US" altLang="ja-JP" sz="1050" baseline="30000" dirty="0">
                  <a:latin typeface="Meiryo UI"/>
                  <a:ea typeface="Meiryo UI"/>
                </a:rPr>
                <a:t>[2]</a:t>
              </a:r>
              <a:endParaRPr lang="ja-JP" altLang="en-US" sz="1050" dirty="0">
                <a:latin typeface="Meiryo UI"/>
                <a:ea typeface="Meiryo UI"/>
              </a:endParaRPr>
            </a:p>
          </p:txBody>
        </p:sp>
      </p:grpSp>
      <p:sp>
        <p:nvSpPr>
          <p:cNvPr id="6" name="テキスト ボックス 5">
            <a:extLst>
              <a:ext uri="{FF2B5EF4-FFF2-40B4-BE49-F238E27FC236}">
                <a16:creationId xmlns:a16="http://schemas.microsoft.com/office/drawing/2014/main" id="{567271FE-9DAA-DD5D-1FC6-025A5549EDD7}"/>
              </a:ext>
            </a:extLst>
          </p:cNvPr>
          <p:cNvSpPr txBox="1"/>
          <p:nvPr/>
        </p:nvSpPr>
        <p:spPr>
          <a:xfrm>
            <a:off x="7095980" y="5400000"/>
            <a:ext cx="4680000" cy="1316066"/>
          </a:xfrm>
          <a:prstGeom prst="rect">
            <a:avLst/>
          </a:prstGeom>
          <a:noFill/>
        </p:spPr>
        <p:txBody>
          <a:bodyPr wrap="square" lIns="0" tIns="0" rIns="0" bIns="0" rtlCol="0">
            <a:spAutoFit/>
          </a:bodyPr>
          <a:lstStyle/>
          <a:p>
            <a:pPr fontAlgn="base">
              <a:lnSpc>
                <a:spcPct val="110000"/>
              </a:lnSpc>
              <a:spcBef>
                <a:spcPts val="200"/>
              </a:spcBef>
              <a:spcAft>
                <a:spcPct val="0"/>
              </a:spcAft>
              <a:defRPr/>
            </a:pPr>
            <a:r>
              <a:rPr lang="ja-JP" altLang="en-US" sz="800" kern="500" dirty="0">
                <a:solidFill>
                  <a:srgbClr val="009999"/>
                </a:solidFill>
                <a:latin typeface="Meiryo UI" panose="020B0604030504040204" pitchFamily="50" charset="-128"/>
                <a:ea typeface="Meiryo UI" panose="020B0604030504040204" pitchFamily="50" charset="-128"/>
                <a:cs typeface="Segoe UI" panose="020B0502040204020203" pitchFamily="34" charset="0"/>
              </a:rPr>
              <a:t>脚注</a:t>
            </a:r>
            <a:endParaRPr lang="en-US" altLang="ja-JP" sz="800" kern="500" dirty="0">
              <a:solidFill>
                <a:srgbClr val="009999"/>
              </a:solidFill>
              <a:latin typeface="Meiryo UI" panose="020B0604030504040204" pitchFamily="50" charset="-128"/>
              <a:ea typeface="Meiryo UI" panose="020B0604030504040204" pitchFamily="50" charset="-128"/>
              <a:cs typeface="Segoe UI" panose="020B0502040204020203" pitchFamily="34" charset="0"/>
            </a:endParaRPr>
          </a:p>
          <a:p>
            <a:pPr fontAlgn="base">
              <a:spcAft>
                <a:spcPct val="0"/>
              </a:spcAft>
              <a:defRPr/>
            </a:pP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1</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 DS-110</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デジタル・ガバメント推進標準ガイドライン解説書第６章 調達 ２</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 </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調達仕様書の作成等を基に作成</a:t>
            </a:r>
            <a:endPar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endParaRPr>
          </a:p>
          <a:p>
            <a:pPr lvl="0" fontAlgn="base">
              <a:lnSpc>
                <a:spcPct val="110000"/>
              </a:lnSpc>
              <a:spcAft>
                <a:spcPct val="0"/>
              </a:spcAft>
              <a:defRPr/>
            </a:pP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2</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kumimoji="0" lang="ja-JP" altLang="en-US" sz="800" kern="0" dirty="0">
                <a:solidFill>
                  <a:prstClr val="black"/>
                </a:solidFill>
                <a:latin typeface="Meiryo UI" panose="020B0604030504040204" pitchFamily="50" charset="-128"/>
                <a:ea typeface="Meiryo UI" panose="020B0604030504040204" pitchFamily="50" charset="-128"/>
              </a:rPr>
              <a:t>デジタル庁における入札制限等に関する規程（</a:t>
            </a:r>
            <a:r>
              <a:rPr kumimoji="0" lang="en-US" altLang="ja-JP" sz="800" b="1" kern="0" dirty="0">
                <a:solidFill>
                  <a:prstClr val="black"/>
                </a:solidFill>
                <a:latin typeface="Meiryo UI" panose="020B0604030504040204" pitchFamily="50" charset="-128"/>
                <a:ea typeface="Meiryo UI" panose="020B0604030504040204" pitchFamily="50" charset="-128"/>
                <a:hlinkClick r:id="rId3"/>
              </a:rPr>
              <a:t>Link</a:t>
            </a:r>
            <a:r>
              <a:rPr kumimoji="0" lang="ja-JP" altLang="en-US" sz="800" kern="0" dirty="0">
                <a:solidFill>
                  <a:prstClr val="black"/>
                </a:solidFill>
                <a:latin typeface="Meiryo UI" panose="020B0604030504040204" pitchFamily="50" charset="-128"/>
                <a:ea typeface="Meiryo UI" panose="020B0604030504040204" pitchFamily="50" charset="-128"/>
              </a:rPr>
              <a:t>）を基に作成</a:t>
            </a:r>
            <a:endParaRPr kumimoji="0" lang="en-US" altLang="ja-JP" sz="800" kern="0" dirty="0">
              <a:solidFill>
                <a:prstClr val="black"/>
              </a:solidFill>
              <a:latin typeface="Meiryo UI" panose="020B0604030504040204" pitchFamily="50" charset="-128"/>
              <a:ea typeface="Meiryo UI" panose="020B0604030504040204" pitchFamily="50" charset="-128"/>
            </a:endParaRPr>
          </a:p>
          <a:p>
            <a:pPr lvl="0" fontAlgn="base">
              <a:lnSpc>
                <a:spcPct val="110000"/>
              </a:lnSpc>
              <a:spcAft>
                <a:spcPct val="0"/>
              </a:spcAft>
              <a:defRPr/>
            </a:pPr>
            <a:r>
              <a:rPr kumimoji="0" lang="ja-JP" altLang="en-US" sz="800" kern="0" dirty="0">
                <a:solidFill>
                  <a:prstClr val="black"/>
                </a:solidFill>
                <a:latin typeface="Meiryo UI" panose="020B0604030504040204" pitchFamily="50" charset="-128"/>
                <a:ea typeface="Meiryo UI" panose="020B0604030504040204" pitchFamily="50" charset="-128"/>
                <a:cs typeface="Segoe UI" panose="020B0502040204020203" pitchFamily="34" charset="0"/>
              </a:rPr>
              <a:t>［</a:t>
            </a:r>
            <a:r>
              <a:rPr kumimoji="0" lang="en-US" altLang="ja-JP" sz="800" kern="0" dirty="0">
                <a:solidFill>
                  <a:prstClr val="black"/>
                </a:solidFill>
                <a:latin typeface="Meiryo UI" panose="020B0604030504040204" pitchFamily="50" charset="-128"/>
                <a:ea typeface="Meiryo UI" panose="020B0604030504040204" pitchFamily="50" charset="-128"/>
                <a:cs typeface="Segoe UI" panose="020B0502040204020203" pitchFamily="34" charset="0"/>
              </a:rPr>
              <a:t>3</a:t>
            </a:r>
            <a:r>
              <a:rPr kumimoji="0" lang="ja-JP" altLang="en-US" sz="800" kern="0" dirty="0">
                <a:solidFill>
                  <a:prstClr val="black"/>
                </a:solidFill>
                <a:latin typeface="Meiryo UI" panose="020B0604030504040204" pitchFamily="50" charset="-128"/>
                <a:ea typeface="Meiryo UI" panose="020B0604030504040204" pitchFamily="50" charset="-128"/>
                <a:cs typeface="Segoe UI" panose="020B0502040204020203" pitchFamily="34" charset="0"/>
              </a:rPr>
              <a:t>］出典：</a:t>
            </a:r>
            <a:r>
              <a:rPr kumimoji="0" lang="en-US" altLang="ja-JP" sz="800" kern="0" dirty="0">
                <a:solidFill>
                  <a:prstClr val="black"/>
                </a:solidFill>
                <a:latin typeface="Meiryo UI" panose="020B0604030504040204" pitchFamily="50" charset="-128"/>
                <a:ea typeface="Meiryo UI" panose="020B0604030504040204" pitchFamily="50" charset="-128"/>
              </a:rPr>
              <a:t> DS-100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　第３篇</a:t>
            </a:r>
            <a:r>
              <a:rPr kumimoji="0" lang="en-US" altLang="ja-JP" sz="800" kern="0" dirty="0">
                <a:solidFill>
                  <a:prstClr val="black"/>
                </a:solidFill>
                <a:latin typeface="Meiryo UI" panose="020B0604030504040204" pitchFamily="50" charset="-128"/>
                <a:ea typeface="Meiryo UI" panose="020B0604030504040204" pitchFamily="50" charset="-128"/>
              </a:rPr>
              <a:t>IT</a:t>
            </a:r>
            <a:r>
              <a:rPr kumimoji="0" lang="ja-JP" altLang="en-US" sz="800" kern="0" dirty="0">
                <a:solidFill>
                  <a:prstClr val="black"/>
                </a:solidFill>
                <a:latin typeface="Meiryo UI" panose="020B0604030504040204" pitchFamily="50" charset="-128"/>
                <a:ea typeface="Meiryo UI" panose="020B0604030504040204" pitchFamily="50" charset="-128"/>
              </a:rPr>
              <a:t>マネジメント　第</a:t>
            </a:r>
            <a:r>
              <a:rPr kumimoji="0" lang="en-US" altLang="ja-JP" sz="800" kern="0" dirty="0">
                <a:solidFill>
                  <a:prstClr val="black"/>
                </a:solidFill>
                <a:latin typeface="Meiryo UI" panose="020B0604030504040204" pitchFamily="50" charset="-128"/>
                <a:ea typeface="Meiryo UI" panose="020B0604030504040204" pitchFamily="50" charset="-128"/>
              </a:rPr>
              <a:t>6</a:t>
            </a:r>
            <a:r>
              <a:rPr kumimoji="0" lang="ja-JP" altLang="en-US" sz="800" kern="0" dirty="0">
                <a:solidFill>
                  <a:prstClr val="black"/>
                </a:solidFill>
                <a:latin typeface="Meiryo UI" panose="020B0604030504040204" pitchFamily="50" charset="-128"/>
                <a:ea typeface="Meiryo UI" panose="020B0604030504040204" pitchFamily="50" charset="-128"/>
              </a:rPr>
              <a:t>章調達を基に作成</a:t>
            </a:r>
            <a:endPar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endParaRPr>
          </a:p>
          <a:p>
            <a:pPr lvl="0" fontAlgn="base">
              <a:lnSpc>
                <a:spcPct val="110000"/>
              </a:lnSpc>
              <a:spcAft>
                <a:spcPct val="0"/>
              </a:spcAft>
              <a:defRPr/>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参考情報</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DS-100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　第３篇</a:t>
            </a:r>
            <a:r>
              <a:rPr kumimoji="0" lang="en-US" altLang="ja-JP" sz="800" kern="0" dirty="0">
                <a:solidFill>
                  <a:prstClr val="black"/>
                </a:solidFill>
                <a:latin typeface="Meiryo UI" panose="020B0604030504040204" pitchFamily="50" charset="-128"/>
                <a:ea typeface="Meiryo UI" panose="020B0604030504040204" pitchFamily="50" charset="-128"/>
              </a:rPr>
              <a:t>IT</a:t>
            </a:r>
            <a:r>
              <a:rPr kumimoji="0" lang="ja-JP" altLang="en-US" sz="800" kern="0" dirty="0">
                <a:solidFill>
                  <a:prstClr val="black"/>
                </a:solidFill>
                <a:latin typeface="Meiryo UI" panose="020B0604030504040204" pitchFamily="50" charset="-128"/>
                <a:ea typeface="Meiryo UI" panose="020B0604030504040204" pitchFamily="50" charset="-128"/>
              </a:rPr>
              <a:t>マネジメント　第</a:t>
            </a:r>
            <a:r>
              <a:rPr kumimoji="0" lang="en-US" altLang="ja-JP" sz="800" kern="0" dirty="0">
                <a:solidFill>
                  <a:prstClr val="black"/>
                </a:solidFill>
                <a:latin typeface="Meiryo UI" panose="020B0604030504040204" pitchFamily="50" charset="-128"/>
                <a:ea typeface="Meiryo UI" panose="020B0604030504040204" pitchFamily="50" charset="-128"/>
              </a:rPr>
              <a:t>6</a:t>
            </a:r>
            <a:r>
              <a:rPr kumimoji="0" lang="ja-JP" altLang="en-US" sz="800" kern="0" dirty="0">
                <a:solidFill>
                  <a:prstClr val="black"/>
                </a:solidFill>
                <a:latin typeface="Meiryo UI" panose="020B0604030504040204" pitchFamily="50" charset="-128"/>
                <a:ea typeface="Meiryo UI" panose="020B0604030504040204" pitchFamily="50" charset="-128"/>
              </a:rPr>
              <a:t>章調達</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DS-110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デジタル・ガバメント推進標準ガイドライン解説書　第６章 調達 １</a:t>
            </a:r>
            <a:r>
              <a:rPr kumimoji="0" lang="en-US" altLang="ja-JP" sz="800" kern="0" dirty="0">
                <a:solidFill>
                  <a:prstClr val="black"/>
                </a:solidFill>
                <a:latin typeface="Meiryo UI" panose="020B0604030504040204" pitchFamily="50" charset="-128"/>
                <a:ea typeface="Meiryo UI" panose="020B0604030504040204" pitchFamily="50" charset="-128"/>
              </a:rPr>
              <a:t>. </a:t>
            </a:r>
            <a:r>
              <a:rPr kumimoji="0" lang="ja-JP" altLang="en-US" sz="800" kern="0" dirty="0">
                <a:solidFill>
                  <a:prstClr val="black"/>
                </a:solidFill>
                <a:latin typeface="Meiryo UI" panose="020B0604030504040204" pitchFamily="50" charset="-128"/>
                <a:ea typeface="Meiryo UI" panose="020B0604030504040204" pitchFamily="50" charset="-128"/>
              </a:rPr>
              <a:t>調達の計画</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DS-120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デジタル・ガバメント推進標準ガイドライン実践ガイドブック　</a:t>
            </a:r>
            <a:r>
              <a:rPr kumimoji="0" lang="zh-TW" altLang="en-US" sz="800" kern="0" dirty="0">
                <a:solidFill>
                  <a:prstClr val="black"/>
                </a:solidFill>
                <a:latin typeface="Meiryo UI" panose="020B0604030504040204" pitchFamily="50" charset="-128"/>
                <a:ea typeface="Meiryo UI" panose="020B0604030504040204" pitchFamily="50" charset="-128"/>
              </a:rPr>
              <a:t>第３編第６章 調達</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・デジタル庁における入札制限等に関する規程（</a:t>
            </a:r>
            <a:r>
              <a:rPr kumimoji="0" lang="en-US" altLang="ja-JP" sz="800" b="1" kern="0" dirty="0">
                <a:solidFill>
                  <a:prstClr val="black"/>
                </a:solidFill>
                <a:latin typeface="Meiryo UI" panose="020B0604030504040204" pitchFamily="50" charset="-128"/>
                <a:ea typeface="Meiryo UI" panose="020B0604030504040204" pitchFamily="50" charset="-128"/>
                <a:hlinkClick r:id="rId3"/>
              </a:rPr>
              <a:t>Link</a:t>
            </a:r>
            <a:r>
              <a:rPr kumimoji="0" lang="ja-JP" altLang="en-US" sz="800" kern="0" dirty="0">
                <a:solidFill>
                  <a:prstClr val="black"/>
                </a:solidFill>
                <a:latin typeface="Meiryo UI" panose="020B0604030504040204" pitchFamily="50" charset="-128"/>
                <a:ea typeface="Meiryo UI" panose="020B0604030504040204" pitchFamily="50" charset="-128"/>
              </a:rPr>
              <a:t>）</a:t>
            </a:r>
            <a:endParaRPr kumimoji="0" lang="en-US" altLang="ja-JP" sz="800" kern="0" dirty="0">
              <a:solidFill>
                <a:prstClr val="black"/>
              </a:solidFill>
              <a:latin typeface="Meiryo UI" panose="020B0604030504040204" pitchFamily="50" charset="-128"/>
              <a:ea typeface="Meiryo UI" panose="020B0604030504040204" pitchFamily="50" charset="-128"/>
            </a:endParaRPr>
          </a:p>
        </p:txBody>
      </p:sp>
      <p:grpSp>
        <p:nvGrpSpPr>
          <p:cNvPr id="2" name="グループ化 1">
            <a:extLst>
              <a:ext uri="{FF2B5EF4-FFF2-40B4-BE49-F238E27FC236}">
                <a16:creationId xmlns:a16="http://schemas.microsoft.com/office/drawing/2014/main" id="{B68E2BB4-20EE-074E-10D9-9AC3627A10FA}"/>
              </a:ext>
            </a:extLst>
          </p:cNvPr>
          <p:cNvGrpSpPr/>
          <p:nvPr/>
        </p:nvGrpSpPr>
        <p:grpSpPr>
          <a:xfrm>
            <a:off x="647616" y="4466856"/>
            <a:ext cx="5958286" cy="1751100"/>
            <a:chOff x="647616" y="4586907"/>
            <a:chExt cx="5958286" cy="1751100"/>
          </a:xfrm>
        </p:grpSpPr>
        <p:sp>
          <p:nvSpPr>
            <p:cNvPr id="3" name="テキスト ボックス 2">
              <a:extLst>
                <a:ext uri="{FF2B5EF4-FFF2-40B4-BE49-F238E27FC236}">
                  <a16:creationId xmlns:a16="http://schemas.microsoft.com/office/drawing/2014/main" id="{496261ED-49F1-85E5-AA49-46998C2A1F31}"/>
                </a:ext>
              </a:extLst>
            </p:cNvPr>
            <p:cNvSpPr txBox="1"/>
            <p:nvPr/>
          </p:nvSpPr>
          <p:spPr>
            <a:xfrm>
              <a:off x="647616" y="4586907"/>
              <a:ext cx="5220000" cy="270843"/>
            </a:xfrm>
            <a:prstGeom prst="rect">
              <a:avLst/>
            </a:prstGeom>
            <a:noFill/>
          </p:spPr>
          <p:txBody>
            <a:bodyPr wrap="square" lIns="0" tIns="0" rIns="0" bIns="0" rtlCol="0">
              <a:spAutoFit/>
            </a:bodyPr>
            <a:lstStyle/>
            <a:p>
              <a:pPr fontAlgn="base">
                <a:lnSpc>
                  <a:spcPct val="110000"/>
                </a:lnSpc>
              </a:pPr>
              <a:r>
                <a:rPr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透明性・公平性、確実な契約履行を確保</a:t>
              </a:r>
              <a:endParaRPr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8" name="テキスト ボックス 7">
              <a:extLst>
                <a:ext uri="{FF2B5EF4-FFF2-40B4-BE49-F238E27FC236}">
                  <a16:creationId xmlns:a16="http://schemas.microsoft.com/office/drawing/2014/main" id="{0E564D8F-FABD-464F-0F44-0E3AC3C43E7A}"/>
                </a:ext>
              </a:extLst>
            </p:cNvPr>
            <p:cNvSpPr txBox="1"/>
            <p:nvPr/>
          </p:nvSpPr>
          <p:spPr>
            <a:xfrm>
              <a:off x="665902" y="4837596"/>
              <a:ext cx="5940000" cy="1500411"/>
            </a:xfrm>
            <a:prstGeom prst="rect">
              <a:avLst/>
            </a:prstGeom>
            <a:noFill/>
          </p:spPr>
          <p:txBody>
            <a:bodyPr wrap="square" lIns="0" tIns="0" rIns="0" bIns="0" rtlCol="0">
              <a:spAutoFit/>
            </a:bodyPr>
            <a:lstStyle/>
            <a:p>
              <a:pPr fontAlgn="base">
                <a:spcBef>
                  <a:spcPts val="600"/>
                </a:spcBef>
                <a:spcAft>
                  <a:spcPct val="0"/>
                </a:spcAft>
              </a:pPr>
              <a:r>
                <a:rPr lang="ja-JP" altLang="en-US" sz="1100" dirty="0">
                  <a:latin typeface="Meiryo UI" panose="020B0604030504040204" pitchFamily="50" charset="-128"/>
                  <a:ea typeface="Meiryo UI" panose="020B0604030504040204" pitchFamily="50" charset="-128"/>
                </a:rPr>
                <a:t>公共調達における</a:t>
              </a:r>
              <a:r>
                <a:rPr lang="ja-JP" altLang="en-US" sz="1100" b="1" dirty="0">
                  <a:latin typeface="Meiryo UI" panose="020B0604030504040204" pitchFamily="50" charset="-128"/>
                  <a:ea typeface="Meiryo UI" panose="020B0604030504040204" pitchFamily="50" charset="-128"/>
                </a:rPr>
                <a:t>透明性及び公正性並びに確実な契約履行等を確保するため</a:t>
              </a:r>
              <a:r>
                <a:rPr lang="ja-JP" altLang="en-US" sz="1100" dirty="0">
                  <a:latin typeface="Meiryo UI" panose="020B0604030504040204" pitchFamily="50" charset="-128"/>
                  <a:ea typeface="Meiryo UI" panose="020B0604030504040204" pitchFamily="50" charset="-128"/>
                </a:rPr>
                <a:t>。</a:t>
              </a:r>
              <a:br>
                <a:rPr lang="en-US" altLang="ja-JP"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（以下の①～④の番号は上記の「説明」の番号と対応）</a:t>
              </a:r>
              <a:endParaRPr lang="en-US" altLang="ja-JP" sz="1100" dirty="0">
                <a:latin typeface="Meiryo UI" panose="020B0604030504040204" pitchFamily="50" charset="-128"/>
                <a:ea typeface="Meiryo UI" panose="020B0604030504040204" pitchFamily="50" charset="-128"/>
              </a:endParaRPr>
            </a:p>
            <a:p>
              <a:pPr marL="342900" indent="-342900" fontAlgn="base">
                <a:spcBef>
                  <a:spcPts val="600"/>
                </a:spcBef>
                <a:spcAft>
                  <a:spcPct val="0"/>
                </a:spcAft>
                <a:buFont typeface="+mj-ea"/>
                <a:buAutoNum type="circleNumDbPlain"/>
              </a:pPr>
              <a:r>
                <a:rPr lang="ja-JP" altLang="en-US" sz="1050" dirty="0">
                  <a:latin typeface="Meiryo UI" panose="020B0604030504040204" pitchFamily="50" charset="-128"/>
                  <a:ea typeface="Meiryo UI" panose="020B0604030504040204" pitchFamily="50" charset="-128"/>
                </a:rPr>
                <a:t>一部の事業者が有利にならないようにし、</a:t>
              </a:r>
              <a:r>
                <a:rPr lang="ja-JP" altLang="en-US" sz="1050" b="1" dirty="0">
                  <a:latin typeface="Meiryo UI" panose="020B0604030504040204" pitchFamily="50" charset="-128"/>
                  <a:ea typeface="Meiryo UI" panose="020B0604030504040204" pitchFamily="50" charset="-128"/>
                </a:rPr>
                <a:t>透明性と公正性を確保する必要があるため</a:t>
              </a:r>
              <a:r>
                <a:rPr lang="en-US" altLang="ja-JP" sz="1050" baseline="30000" dirty="0">
                  <a:latin typeface="Meiryo UI"/>
                  <a:ea typeface="Meiryo UI"/>
                </a:rPr>
                <a:t>[3]</a:t>
              </a:r>
              <a:endParaRPr lang="en-US" altLang="ja-JP" sz="1050" b="1" dirty="0">
                <a:latin typeface="Meiryo UI" panose="020B0604030504040204" pitchFamily="50" charset="-128"/>
                <a:ea typeface="Meiryo UI" panose="020B0604030504040204" pitchFamily="50" charset="-128"/>
              </a:endParaRPr>
            </a:p>
            <a:p>
              <a:pPr marL="342900" indent="-342900" fontAlgn="base">
                <a:spcBef>
                  <a:spcPts val="300"/>
                </a:spcBef>
                <a:spcAft>
                  <a:spcPct val="0"/>
                </a:spcAft>
                <a:buFont typeface="+mj-ea"/>
                <a:buAutoNum type="circleNumDbPlain"/>
              </a:pPr>
              <a:r>
                <a:rPr lang="ja-JP" altLang="en-US" sz="1050" dirty="0">
                  <a:latin typeface="Meiryo UI" panose="020B0604030504040204" pitchFamily="50" charset="-128"/>
                  <a:ea typeface="Meiryo UI" panose="020B0604030504040204" pitchFamily="50" charset="-128"/>
                </a:rPr>
                <a:t>プロジェクト管理支援事業者が、設計・開発事業者と同事業者となり、</a:t>
              </a:r>
              <a:r>
                <a:rPr lang="ja-JP" altLang="en-US" sz="1050" b="1" dirty="0">
                  <a:latin typeface="Meiryo UI" panose="020B0604030504040204" pitchFamily="50" charset="-128"/>
                  <a:ea typeface="Meiryo UI" panose="020B0604030504040204" pitchFamily="50" charset="-128"/>
                </a:rPr>
                <a:t>対応が不十分となる事態を防ぎ、相互けん制を働かせるため</a:t>
              </a:r>
              <a:r>
                <a:rPr lang="en-US" altLang="ja-JP" sz="1050" baseline="30000" dirty="0">
                  <a:latin typeface="Meiryo UI"/>
                  <a:ea typeface="Meiryo UI"/>
                </a:rPr>
                <a:t>[3]</a:t>
              </a:r>
              <a:endParaRPr lang="ja-JP" altLang="en-US" sz="1050" b="1" dirty="0">
                <a:latin typeface="Meiryo UI" panose="020B0604030504040204" pitchFamily="50" charset="-128"/>
                <a:ea typeface="Meiryo UI" panose="020B0604030504040204" pitchFamily="50" charset="-128"/>
              </a:endParaRPr>
            </a:p>
            <a:p>
              <a:pPr marL="342900" indent="-342900" fontAlgn="base">
                <a:spcBef>
                  <a:spcPts val="300"/>
                </a:spcBef>
                <a:spcAft>
                  <a:spcPct val="0"/>
                </a:spcAft>
                <a:buFont typeface="+mj-ea"/>
                <a:buAutoNum type="circleNumDbPlain"/>
              </a:pPr>
              <a:r>
                <a:rPr lang="ja-JP" altLang="en-US" sz="1050" dirty="0">
                  <a:latin typeface="Meiryo UI" panose="020B0604030504040204" pitchFamily="50" charset="-128"/>
                  <a:ea typeface="Meiryo UI" panose="020B0604030504040204" pitchFamily="50" charset="-128"/>
                </a:rPr>
                <a:t>監査対象である情報システムに関与した事業者が監査を行うと、</a:t>
              </a:r>
              <a:r>
                <a:rPr lang="ja-JP" altLang="en-US" sz="1050" b="1" dirty="0">
                  <a:latin typeface="Meiryo UI" panose="020B0604030504040204" pitchFamily="50" charset="-128"/>
                  <a:ea typeface="Meiryo UI" panose="020B0604030504040204" pitchFamily="50" charset="-128"/>
                </a:rPr>
                <a:t>監査の独立性及び客観性が損なわれるため</a:t>
              </a:r>
              <a:r>
                <a:rPr lang="en-US" altLang="ja-JP" sz="1050" baseline="30000" dirty="0">
                  <a:latin typeface="Meiryo UI"/>
                  <a:ea typeface="Meiryo UI"/>
                </a:rPr>
                <a:t>[3]</a:t>
              </a:r>
              <a:endParaRPr lang="en-US" altLang="ja-JP" sz="1050" b="1" dirty="0">
                <a:latin typeface="Meiryo UI" panose="020B0604030504040204" pitchFamily="50" charset="-128"/>
                <a:ea typeface="Meiryo UI" panose="020B0604030504040204" pitchFamily="50" charset="-128"/>
              </a:endParaRPr>
            </a:p>
            <a:p>
              <a:pPr marL="342900" indent="-342900" fontAlgn="base">
                <a:spcBef>
                  <a:spcPts val="300"/>
                </a:spcBef>
                <a:spcAft>
                  <a:spcPct val="0"/>
                </a:spcAft>
                <a:buFont typeface="+mj-ea"/>
                <a:buAutoNum type="circleNumDbPlain"/>
              </a:pPr>
              <a:r>
                <a:rPr lang="ja-JP" altLang="en-US" sz="1050" dirty="0">
                  <a:latin typeface="Meiryo UI" panose="020B0604030504040204" pitchFamily="50" charset="-128"/>
                  <a:ea typeface="Meiryo UI" panose="020B0604030504040204" pitchFamily="50" charset="-128"/>
                </a:rPr>
                <a:t>兼業先企業等に対する調達情報の提供等、</a:t>
              </a:r>
              <a:r>
                <a:rPr lang="ja-JP" altLang="en-US" sz="1050" b="1" dirty="0">
                  <a:latin typeface="Meiryo UI" panose="020B0604030504040204" pitchFamily="50" charset="-128"/>
                  <a:ea typeface="Meiryo UI" panose="020B0604030504040204" pitchFamily="50" charset="-128"/>
                </a:rPr>
                <a:t>便宜供与を行うなどの利益相反行為を発生させないため</a:t>
              </a:r>
              <a:r>
                <a:rPr lang="en-US" altLang="ja-JP" sz="1050" baseline="30000" dirty="0">
                  <a:latin typeface="Meiryo UI"/>
                  <a:ea typeface="Meiryo UI"/>
                </a:rPr>
                <a:t>[2]</a:t>
              </a:r>
              <a:endParaRPr lang="ja-JP" altLang="en-US" sz="1050" b="1" dirty="0">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3628820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3CB9F-EC2E-5C0C-67C0-03AB41E00988}"/>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6D474893-4386-3945-4128-EA376BEC372F}"/>
              </a:ext>
            </a:extLst>
          </p:cNvPr>
          <p:cNvSpPr txBox="1"/>
          <p:nvPr/>
        </p:nvSpPr>
        <p:spPr>
          <a:xfrm>
            <a:off x="763660" y="430310"/>
            <a:ext cx="10980000" cy="461665"/>
          </a:xfrm>
          <a:prstGeom prst="rect">
            <a:avLst/>
          </a:prstGeom>
          <a:noFill/>
        </p:spPr>
        <p:txBody>
          <a:bodyPr wrap="square" lIns="0" tIns="0" rIns="0" bIns="0" rtlCol="0">
            <a:spAutoFit/>
          </a:bodyPr>
          <a:lstStyle/>
          <a:p>
            <a:pPr fontAlgn="base"/>
            <a:r>
              <a:rPr kumimoji="1" lang="ja-JP" altLang="en-US"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要件定義の内容の調整及び確定のプロセス</a:t>
            </a:r>
            <a:endParaRPr lang="en-US" altLang="ja-JP" sz="3000" kern="500" spc="1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20" name="正方形/長方形 19">
            <a:extLst>
              <a:ext uri="{FF2B5EF4-FFF2-40B4-BE49-F238E27FC236}">
                <a16:creationId xmlns:a16="http://schemas.microsoft.com/office/drawing/2014/main" id="{CEA9A71F-8F8B-7817-7BAE-09988753F78C}"/>
              </a:ext>
            </a:extLst>
          </p:cNvPr>
          <p:cNvSpPr/>
          <p:nvPr/>
        </p:nvSpPr>
        <p:spPr>
          <a:xfrm>
            <a:off x="0" y="0"/>
            <a:ext cx="468000" cy="1512000"/>
          </a:xfrm>
          <a:prstGeom prst="rect">
            <a:avLst/>
          </a:prstGeom>
          <a:solidFill>
            <a:srgbClr val="D7E4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F801EE35-3D0D-49FC-8C0C-0AB0BCF8BBBD}"/>
              </a:ext>
            </a:extLst>
          </p:cNvPr>
          <p:cNvSpPr txBox="1"/>
          <p:nvPr/>
        </p:nvSpPr>
        <p:spPr>
          <a:xfrm>
            <a:off x="763660" y="983204"/>
            <a:ext cx="10980000" cy="314317"/>
          </a:xfrm>
          <a:prstGeom prst="rect">
            <a:avLst/>
          </a:prstGeom>
          <a:noFill/>
        </p:spPr>
        <p:txBody>
          <a:bodyPr wrap="square" lIns="0" tIns="0" rIns="0" bIns="0" rtlCol="0">
            <a:spAutoFit/>
          </a:bodyPr>
          <a:lstStyle/>
          <a:p>
            <a:pPr marL="342900" indent="-342900" fontAlgn="base">
              <a:lnSpc>
                <a:spcPct val="110000"/>
              </a:lnSpc>
              <a:buClr>
                <a:srgbClr val="009999"/>
              </a:buClr>
              <a:buFont typeface="メイリオ" panose="020B0604030504040204" pitchFamily="50" charset="-128"/>
              <a:buChar char="▶"/>
            </a:pPr>
            <a:r>
              <a:rPr kumimoji="1" lang="ja-JP" altLang="en-US" sz="1900" kern="500" dirty="0">
                <a:latin typeface="Segoe UI" panose="020B0502040204020203" pitchFamily="34" charset="0"/>
                <a:ea typeface="メイリオ" panose="020B0604030504040204" pitchFamily="50" charset="-128"/>
                <a:cs typeface="Segoe UI" panose="020B0502040204020203" pitchFamily="34" charset="0"/>
              </a:rPr>
              <a:t>設計・開発工程に入る前に、要件定義の内容を調整・確定する</a:t>
            </a:r>
          </a:p>
        </p:txBody>
      </p:sp>
      <p:sp>
        <p:nvSpPr>
          <p:cNvPr id="97" name="フリーフォーム: 図形 96">
            <a:extLst>
              <a:ext uri="{FF2B5EF4-FFF2-40B4-BE49-F238E27FC236}">
                <a16:creationId xmlns:a16="http://schemas.microsoft.com/office/drawing/2014/main" id="{3BEE8DC3-8C4B-4C00-9682-0C58E4F6D638}"/>
              </a:ext>
            </a:extLst>
          </p:cNvPr>
          <p:cNvSpPr/>
          <p:nvPr/>
        </p:nvSpPr>
        <p:spPr>
          <a:xfrm>
            <a:off x="0" y="1615401"/>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説明</a:t>
            </a:r>
          </a:p>
        </p:txBody>
      </p:sp>
      <p:cxnSp>
        <p:nvCxnSpPr>
          <p:cNvPr id="98" name="直線コネクタ 97">
            <a:extLst>
              <a:ext uri="{FF2B5EF4-FFF2-40B4-BE49-F238E27FC236}">
                <a16:creationId xmlns:a16="http://schemas.microsoft.com/office/drawing/2014/main" id="{29AB5551-DC6C-7E21-236D-167321042CF9}"/>
              </a:ext>
            </a:extLst>
          </p:cNvPr>
          <p:cNvCxnSpPr>
            <a:cxnSpLocks/>
          </p:cNvCxnSpPr>
          <p:nvPr/>
        </p:nvCxnSpPr>
        <p:spPr>
          <a:xfrm>
            <a:off x="2392680" y="1777401"/>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sp>
        <p:nvSpPr>
          <p:cNvPr id="105" name="フリーフォーム: 図形 104">
            <a:extLst>
              <a:ext uri="{FF2B5EF4-FFF2-40B4-BE49-F238E27FC236}">
                <a16:creationId xmlns:a16="http://schemas.microsoft.com/office/drawing/2014/main" id="{B9F54501-4CE8-B1F2-0343-FD5AAA8A360C}"/>
              </a:ext>
            </a:extLst>
          </p:cNvPr>
          <p:cNvSpPr/>
          <p:nvPr/>
        </p:nvSpPr>
        <p:spPr>
          <a:xfrm>
            <a:off x="0" y="3971556"/>
            <a:ext cx="2310672" cy="324000"/>
          </a:xfrm>
          <a:custGeom>
            <a:avLst/>
            <a:gdLst>
              <a:gd name="connsiteX0" fmla="*/ 0 w 2310672"/>
              <a:gd name="connsiteY0" fmla="*/ 0 h 324000"/>
              <a:gd name="connsiteX1" fmla="*/ 2148672 w 2310672"/>
              <a:gd name="connsiteY1" fmla="*/ 0 h 324000"/>
              <a:gd name="connsiteX2" fmla="*/ 2310672 w 2310672"/>
              <a:gd name="connsiteY2" fmla="*/ 162000 h 324000"/>
              <a:gd name="connsiteX3" fmla="*/ 2148672 w 2310672"/>
              <a:gd name="connsiteY3" fmla="*/ 324000 h 324000"/>
              <a:gd name="connsiteX4" fmla="*/ 0 w 2310672"/>
              <a:gd name="connsiteY4" fmla="*/ 324000 h 3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72" h="324000">
                <a:moveTo>
                  <a:pt x="0" y="0"/>
                </a:moveTo>
                <a:lnTo>
                  <a:pt x="2148672" y="0"/>
                </a:lnTo>
                <a:cubicBezTo>
                  <a:pt x="2238142" y="0"/>
                  <a:pt x="2310672" y="72530"/>
                  <a:pt x="2310672" y="162000"/>
                </a:cubicBezTo>
                <a:cubicBezTo>
                  <a:pt x="2310672" y="251470"/>
                  <a:pt x="2238142" y="324000"/>
                  <a:pt x="2148672" y="324000"/>
                </a:cubicBezTo>
                <a:lnTo>
                  <a:pt x="0" y="324000"/>
                </a:lnTo>
                <a:close/>
              </a:path>
            </a:pathLst>
          </a:custGeom>
          <a:solidFill>
            <a:srgbClr val="0099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8000" tIns="36000" rIns="0" bIns="0" rtlCol="0" anchor="ctr">
            <a:noAutofit/>
          </a:bodyPr>
          <a:lstStyle/>
          <a:p>
            <a:r>
              <a:rPr kumimoji="1" lang="ja-JP" altLang="en-US" sz="1400" dirty="0">
                <a:solidFill>
                  <a:schemeClr val="bg1"/>
                </a:solidFill>
                <a:latin typeface="Segoe UI" panose="020B0502040204020203" pitchFamily="34" charset="0"/>
                <a:ea typeface="メイリオ" panose="020B0604030504040204" pitchFamily="50" charset="-128"/>
                <a:cs typeface="Segoe UI" panose="020B0502040204020203" pitchFamily="34" charset="0"/>
              </a:rPr>
              <a:t>背景・経緯</a:t>
            </a:r>
          </a:p>
        </p:txBody>
      </p:sp>
      <p:cxnSp>
        <p:nvCxnSpPr>
          <p:cNvPr id="106" name="直線コネクタ 105">
            <a:extLst>
              <a:ext uri="{FF2B5EF4-FFF2-40B4-BE49-F238E27FC236}">
                <a16:creationId xmlns:a16="http://schemas.microsoft.com/office/drawing/2014/main" id="{0DD2C9C6-9D45-9753-A18B-359409AB9607}"/>
              </a:ext>
            </a:extLst>
          </p:cNvPr>
          <p:cNvCxnSpPr>
            <a:cxnSpLocks/>
          </p:cNvCxnSpPr>
          <p:nvPr/>
        </p:nvCxnSpPr>
        <p:spPr>
          <a:xfrm>
            <a:off x="2392680" y="4133556"/>
            <a:ext cx="4320000" cy="0"/>
          </a:xfrm>
          <a:prstGeom prst="line">
            <a:avLst/>
          </a:prstGeom>
          <a:ln w="12700">
            <a:solidFill>
              <a:srgbClr val="009999"/>
            </a:solidFill>
          </a:ln>
        </p:spPr>
        <p:style>
          <a:lnRef idx="1">
            <a:schemeClr val="accent1"/>
          </a:lnRef>
          <a:fillRef idx="0">
            <a:schemeClr val="accent1"/>
          </a:fillRef>
          <a:effectRef idx="0">
            <a:schemeClr val="accent1"/>
          </a:effectRef>
          <a:fontRef idx="minor">
            <a:schemeClr val="tx1"/>
          </a:fontRef>
        </p:style>
      </p:cxnSp>
      <p:grpSp>
        <p:nvGrpSpPr>
          <p:cNvPr id="30" name="グループ化 29">
            <a:extLst>
              <a:ext uri="{FF2B5EF4-FFF2-40B4-BE49-F238E27FC236}">
                <a16:creationId xmlns:a16="http://schemas.microsoft.com/office/drawing/2014/main" id="{2A7BE76B-B3F6-2741-6B24-FCF70EA8265F}"/>
              </a:ext>
            </a:extLst>
          </p:cNvPr>
          <p:cNvGrpSpPr/>
          <p:nvPr/>
        </p:nvGrpSpPr>
        <p:grpSpPr>
          <a:xfrm>
            <a:off x="593054" y="2087685"/>
            <a:ext cx="5958287" cy="1174019"/>
            <a:chOff x="647616" y="2108832"/>
            <a:chExt cx="5958287" cy="1174019"/>
          </a:xfrm>
        </p:grpSpPr>
        <p:sp>
          <p:nvSpPr>
            <p:cNvPr id="95" name="テキスト ボックス 94">
              <a:extLst>
                <a:ext uri="{FF2B5EF4-FFF2-40B4-BE49-F238E27FC236}">
                  <a16:creationId xmlns:a16="http://schemas.microsoft.com/office/drawing/2014/main" id="{AD79B033-7B8D-E870-A0AA-D5878AFCACD0}"/>
                </a:ext>
              </a:extLst>
            </p:cNvPr>
            <p:cNvSpPr txBox="1"/>
            <p:nvPr/>
          </p:nvSpPr>
          <p:spPr>
            <a:xfrm>
              <a:off x="647616" y="2108832"/>
              <a:ext cx="5220000" cy="264688"/>
            </a:xfrm>
            <a:prstGeom prst="rect">
              <a:avLst/>
            </a:prstGeom>
            <a:noFill/>
          </p:spPr>
          <p:txBody>
            <a:bodyPr wrap="square" lIns="0" tIns="0" rIns="0" bIns="0" rtlCol="0">
              <a:spAutoFit/>
            </a:bodyPr>
            <a:lstStyle/>
            <a:p>
              <a:pPr fontAlgn="base">
                <a:lnSpc>
                  <a:spcPct val="110000"/>
                </a:lnSpc>
              </a:pPr>
              <a:r>
                <a:rPr kumimoji="1"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調達後の確定で対応方針を明確化</a:t>
              </a:r>
            </a:p>
          </p:txBody>
        </p:sp>
        <p:sp>
          <p:nvSpPr>
            <p:cNvPr id="96" name="テキスト ボックス 95">
              <a:extLst>
                <a:ext uri="{FF2B5EF4-FFF2-40B4-BE49-F238E27FC236}">
                  <a16:creationId xmlns:a16="http://schemas.microsoft.com/office/drawing/2014/main" id="{06567895-E467-4D13-9245-9BB7B80D7359}"/>
                </a:ext>
              </a:extLst>
            </p:cNvPr>
            <p:cNvSpPr txBox="1"/>
            <p:nvPr/>
          </p:nvSpPr>
          <p:spPr>
            <a:xfrm>
              <a:off x="665903" y="2359521"/>
              <a:ext cx="5940000" cy="923330"/>
            </a:xfrm>
            <a:prstGeom prst="rect">
              <a:avLst/>
            </a:prstGeom>
            <a:noFill/>
          </p:spPr>
          <p:txBody>
            <a:bodyPr wrap="square" lIns="0" tIns="0" rIns="0" bIns="0" rtlCol="0">
              <a:spAutoFit/>
            </a:bodyPr>
            <a:lstStyle/>
            <a:p>
              <a:pPr fontAlgn="base">
                <a:spcBef>
                  <a:spcPts val="600"/>
                </a:spcBef>
                <a:spcAft>
                  <a:spcPct val="0"/>
                </a:spcAft>
              </a:pPr>
              <a:r>
                <a:rPr lang="ja-JP" altLang="en-US" sz="1100" dirty="0">
                  <a:latin typeface="Meiryo UI" panose="020B0604030504040204" pitchFamily="50" charset="-128"/>
                  <a:ea typeface="Meiryo UI" panose="020B0604030504040204" pitchFamily="50" charset="-128"/>
                </a:rPr>
                <a:t>要件に不確定事項がある場合や、調達仕様書で示した要件に対して受注者に提案又は代替案を求めている場合には、調達後、設計・開発工程に入る前に、関係機関や利用者、事業者間で要件定義の内容を調整・確定。これによって、</a:t>
              </a:r>
              <a:r>
                <a:rPr lang="ja-JP" altLang="en-US" sz="1100" b="1" dirty="0">
                  <a:latin typeface="Meiryo UI"/>
                  <a:ea typeface="Meiryo UI"/>
                </a:rPr>
                <a:t>認識齟齬の防止及び不確定事項への対応方針を明確化。</a:t>
              </a:r>
              <a:r>
                <a:rPr lang="en-US" altLang="ja-JP" sz="1100" baseline="30000" dirty="0">
                  <a:latin typeface="Meiryo UI"/>
                  <a:ea typeface="Meiryo UI"/>
                </a:rPr>
                <a:t>[1]</a:t>
              </a:r>
            </a:p>
            <a:p>
              <a:pPr fontAlgn="base">
                <a:spcBef>
                  <a:spcPts val="600"/>
                </a:spcBef>
                <a:spcAft>
                  <a:spcPct val="0"/>
                </a:spcAft>
              </a:pPr>
              <a:r>
                <a:rPr lang="ja-JP" altLang="en-US" sz="1100" dirty="0">
                  <a:highlight>
                    <a:srgbClr val="FFFFFF"/>
                  </a:highlight>
                  <a:latin typeface="Meiryo UI"/>
                  <a:ea typeface="Meiryo UI"/>
                </a:rPr>
                <a:t>要件定義書は、設計・開発業務を調達する時点で完成するのではなく、</a:t>
              </a:r>
              <a:r>
                <a:rPr lang="ja-JP" altLang="en-US" sz="1100" b="1" dirty="0">
                  <a:latin typeface="Meiryo UI"/>
                  <a:ea typeface="Meiryo UI"/>
                </a:rPr>
                <a:t>設計・開発工程の事業者が決定した段階で修正して、確定させるものと考えるのが望ましい。</a:t>
              </a:r>
              <a:endParaRPr lang="en-US" altLang="ja-JP" sz="1100" b="1" dirty="0">
                <a:latin typeface="Meiryo UI"/>
                <a:ea typeface="Meiryo UI"/>
              </a:endParaRPr>
            </a:p>
          </p:txBody>
        </p:sp>
      </p:grpSp>
      <p:sp>
        <p:nvSpPr>
          <p:cNvPr id="6" name="テキスト ボックス 5">
            <a:extLst>
              <a:ext uri="{FF2B5EF4-FFF2-40B4-BE49-F238E27FC236}">
                <a16:creationId xmlns:a16="http://schemas.microsoft.com/office/drawing/2014/main" id="{45136C02-5C7E-3AB8-F947-5876BBA2A041}"/>
              </a:ext>
            </a:extLst>
          </p:cNvPr>
          <p:cNvSpPr txBox="1"/>
          <p:nvPr/>
        </p:nvSpPr>
        <p:spPr>
          <a:xfrm>
            <a:off x="7095980" y="5400000"/>
            <a:ext cx="4680000" cy="800027"/>
          </a:xfrm>
          <a:prstGeom prst="rect">
            <a:avLst/>
          </a:prstGeom>
          <a:noFill/>
        </p:spPr>
        <p:txBody>
          <a:bodyPr wrap="square" lIns="0" tIns="0" rIns="0" bIns="0" rtlCol="0">
            <a:spAutoFit/>
          </a:bodyPr>
          <a:lstStyle/>
          <a:p>
            <a:pPr lvl="0" fontAlgn="base">
              <a:lnSpc>
                <a:spcPct val="110000"/>
              </a:lnSpc>
              <a:spcBef>
                <a:spcPts val="200"/>
              </a:spcBef>
              <a:spcAft>
                <a:spcPct val="0"/>
              </a:spcAft>
              <a:defRPr/>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脚注</a:t>
            </a:r>
            <a:endPar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endParaRPr>
          </a:p>
          <a:p>
            <a:pPr lvl="0" fontAlgn="base">
              <a:spcAft>
                <a:spcPct val="0"/>
              </a:spcAft>
              <a:defRPr/>
            </a:pP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a:t>
            </a:r>
            <a:r>
              <a:rPr lang="en-US" altLang="ja-JP" sz="800" kern="500" dirty="0">
                <a:latin typeface="Meiryo UI" panose="020B0604030504040204" pitchFamily="50" charset="-128"/>
                <a:ea typeface="Meiryo UI" panose="020B0604030504040204" pitchFamily="50" charset="-128"/>
                <a:cs typeface="Segoe UI" panose="020B0502040204020203" pitchFamily="34" charset="0"/>
              </a:rPr>
              <a:t>1</a:t>
            </a:r>
            <a:r>
              <a:rPr lang="ja-JP" altLang="en-US" sz="800" kern="500" dirty="0">
                <a:latin typeface="Meiryo UI" panose="020B0604030504040204" pitchFamily="50" charset="-128"/>
                <a:ea typeface="Meiryo UI" panose="020B0604030504040204" pitchFamily="50" charset="-128"/>
                <a:cs typeface="Segoe UI" panose="020B0502040204020203" pitchFamily="34" charset="0"/>
              </a:rPr>
              <a:t>］出典：</a:t>
            </a:r>
            <a:r>
              <a:rPr kumimoji="0" lang="en-US" altLang="ja-JP" sz="800" kern="0" dirty="0">
                <a:latin typeface="Meiryo UI" panose="020B0604030504040204" pitchFamily="50" charset="-128"/>
                <a:ea typeface="Meiryo UI" panose="020B0604030504040204" pitchFamily="50" charset="-128"/>
              </a:rPr>
              <a:t> </a:t>
            </a:r>
            <a:r>
              <a:rPr kumimoji="0" lang="en-US" altLang="ja-JP" sz="800" kern="0" dirty="0">
                <a:solidFill>
                  <a:prstClr val="black"/>
                </a:solidFill>
                <a:latin typeface="Meiryo UI" panose="020B0604030504040204" pitchFamily="50" charset="-128"/>
                <a:ea typeface="Meiryo UI" panose="020B0604030504040204" pitchFamily="50" charset="-128"/>
              </a:rPr>
              <a:t>DS-110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デジタル・ガバメント推進標準ガイドライン解説書第７章 設計・開発 ２</a:t>
            </a:r>
            <a:r>
              <a:rPr kumimoji="0" lang="en-US" altLang="ja-JP" sz="800" kern="0" dirty="0">
                <a:solidFill>
                  <a:prstClr val="black"/>
                </a:solidFill>
                <a:latin typeface="Meiryo UI" panose="020B0604030504040204" pitchFamily="50" charset="-128"/>
                <a:ea typeface="Meiryo UI" panose="020B0604030504040204" pitchFamily="50" charset="-128"/>
              </a:rPr>
              <a:t>. </a:t>
            </a:r>
            <a:r>
              <a:rPr kumimoji="0" lang="ja-JP" altLang="en-US" sz="800" kern="0" dirty="0">
                <a:solidFill>
                  <a:prstClr val="black"/>
                </a:solidFill>
                <a:latin typeface="Meiryo UI" panose="020B0604030504040204" pitchFamily="50" charset="-128"/>
                <a:ea typeface="Meiryo UI" panose="020B0604030504040204" pitchFamily="50" charset="-128"/>
              </a:rPr>
              <a:t>設計・開発工程に入る前の要件定義の内容の調整・確定を基に作成</a:t>
            </a:r>
            <a:endParaRPr lang="en-US" altLang="ja-JP"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endParaRPr>
          </a:p>
          <a:p>
            <a:pPr lvl="0" fontAlgn="base">
              <a:lnSpc>
                <a:spcPct val="110000"/>
              </a:lnSpc>
              <a:spcBef>
                <a:spcPts val="200"/>
              </a:spcBef>
              <a:spcAft>
                <a:spcPct val="0"/>
              </a:spcAft>
              <a:defRPr/>
            </a:pPr>
            <a:r>
              <a:rPr lang="ja-JP" altLang="en-US" sz="800" kern="500" dirty="0">
                <a:solidFill>
                  <a:srgbClr val="008080"/>
                </a:solidFill>
                <a:latin typeface="Meiryo UI" panose="020B0604030504040204" pitchFamily="50" charset="-128"/>
                <a:ea typeface="Meiryo UI" panose="020B0604030504040204" pitchFamily="50" charset="-128"/>
                <a:cs typeface="Segoe UI" panose="020B0502040204020203" pitchFamily="34" charset="0"/>
              </a:rPr>
              <a:t>参考情報</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DS-110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デジタル・ガバメント推進標準ガイドライン解説書</a:t>
            </a:r>
            <a:br>
              <a:rPr kumimoji="0" lang="en-US" altLang="ja-JP" sz="800" kern="0" dirty="0">
                <a:solidFill>
                  <a:prstClr val="black"/>
                </a:solidFill>
                <a:latin typeface="Meiryo UI" panose="020B0604030504040204" pitchFamily="50" charset="-128"/>
                <a:ea typeface="Meiryo UI" panose="020B0604030504040204" pitchFamily="50" charset="-128"/>
              </a:rPr>
            </a:br>
            <a:r>
              <a:rPr kumimoji="0" lang="ja-JP" altLang="en-US" sz="800" kern="0" dirty="0">
                <a:solidFill>
                  <a:prstClr val="black"/>
                </a:solidFill>
                <a:latin typeface="Meiryo UI" panose="020B0604030504040204" pitchFamily="50" charset="-128"/>
                <a:ea typeface="Meiryo UI" panose="020B0604030504040204" pitchFamily="50" charset="-128"/>
              </a:rPr>
              <a:t>・</a:t>
            </a:r>
            <a:r>
              <a:rPr kumimoji="0" lang="en-US" altLang="ja-JP" sz="800" kern="0" dirty="0">
                <a:solidFill>
                  <a:prstClr val="black"/>
                </a:solidFill>
                <a:latin typeface="Meiryo UI" panose="020B0604030504040204" pitchFamily="50" charset="-128"/>
                <a:ea typeface="Meiryo UI" panose="020B0604030504040204" pitchFamily="50" charset="-128"/>
              </a:rPr>
              <a:t>DS-120 </a:t>
            </a:r>
            <a:r>
              <a:rPr kumimoji="0" lang="ja-JP" altLang="en-US" sz="800" kern="0" dirty="0">
                <a:solidFill>
                  <a:prstClr val="black"/>
                </a:solidFill>
                <a:latin typeface="Meiryo UI" panose="020B0604030504040204" pitchFamily="50" charset="-128"/>
                <a:ea typeface="Meiryo UI" panose="020B0604030504040204" pitchFamily="50" charset="-128"/>
              </a:rPr>
              <a:t>デジタル・ガバメント推進標準ガイドライン実践ガイドブック　</a:t>
            </a:r>
            <a:r>
              <a:rPr kumimoji="0" lang="zh-TW" altLang="en-US" sz="800" kern="0" dirty="0">
                <a:solidFill>
                  <a:prstClr val="black"/>
                </a:solidFill>
                <a:latin typeface="Meiryo UI" panose="020B0604030504040204" pitchFamily="50" charset="-128"/>
                <a:ea typeface="Meiryo UI" panose="020B0604030504040204" pitchFamily="50" charset="-128"/>
              </a:rPr>
              <a:t>第３編第６章 調達</a:t>
            </a:r>
            <a:endParaRPr kumimoji="0" lang="en-US" altLang="ja-JP" sz="800" kern="0" dirty="0">
              <a:solidFill>
                <a:prstClr val="black"/>
              </a:solidFill>
              <a:latin typeface="Meiryo UI" panose="020B0604030504040204" pitchFamily="50" charset="-128"/>
              <a:ea typeface="Meiryo UI" panose="020B0604030504040204" pitchFamily="50" charset="-128"/>
            </a:endParaRPr>
          </a:p>
        </p:txBody>
      </p:sp>
      <p:grpSp>
        <p:nvGrpSpPr>
          <p:cNvPr id="4" name="グループ化 3">
            <a:extLst>
              <a:ext uri="{FF2B5EF4-FFF2-40B4-BE49-F238E27FC236}">
                <a16:creationId xmlns:a16="http://schemas.microsoft.com/office/drawing/2014/main" id="{EF305390-144B-D6F9-C047-A05BCB1A8660}"/>
              </a:ext>
            </a:extLst>
          </p:cNvPr>
          <p:cNvGrpSpPr/>
          <p:nvPr/>
        </p:nvGrpSpPr>
        <p:grpSpPr>
          <a:xfrm>
            <a:off x="647615" y="4466856"/>
            <a:ext cx="6215197" cy="1004742"/>
            <a:chOff x="647615" y="4586907"/>
            <a:chExt cx="6215197" cy="1004742"/>
          </a:xfrm>
        </p:grpSpPr>
        <p:sp>
          <p:nvSpPr>
            <p:cNvPr id="5" name="テキスト ボックス 4">
              <a:extLst>
                <a:ext uri="{FF2B5EF4-FFF2-40B4-BE49-F238E27FC236}">
                  <a16:creationId xmlns:a16="http://schemas.microsoft.com/office/drawing/2014/main" id="{739F4D0D-21FF-0396-E5F9-5022C1D1670F}"/>
                </a:ext>
              </a:extLst>
            </p:cNvPr>
            <p:cNvSpPr txBox="1"/>
            <p:nvPr/>
          </p:nvSpPr>
          <p:spPr>
            <a:xfrm>
              <a:off x="647615" y="4586907"/>
              <a:ext cx="6215197" cy="270843"/>
            </a:xfrm>
            <a:prstGeom prst="rect">
              <a:avLst/>
            </a:prstGeom>
            <a:noFill/>
          </p:spPr>
          <p:txBody>
            <a:bodyPr wrap="square" lIns="0" tIns="0" rIns="0" bIns="0" rtlCol="0">
              <a:spAutoFit/>
            </a:bodyPr>
            <a:lstStyle/>
            <a:p>
              <a:pPr fontAlgn="base">
                <a:lnSpc>
                  <a:spcPct val="110000"/>
                </a:lnSpc>
              </a:pPr>
              <a:r>
                <a:rPr lang="ja-JP" altLang="en-US" sz="1600" kern="500" dirty="0">
                  <a:solidFill>
                    <a:srgbClr val="008080"/>
                  </a:solidFill>
                  <a:latin typeface="Segoe UI" panose="020B0502040204020203" pitchFamily="34" charset="0"/>
                  <a:ea typeface="メイリオ" panose="020B0604030504040204" pitchFamily="50" charset="-128"/>
                  <a:cs typeface="Segoe UI" panose="020B0502040204020203" pitchFamily="34" charset="0"/>
                </a:rPr>
                <a:t>入札制限による事業者の変更、受注者の提案を踏まえた要件の確定</a:t>
              </a:r>
              <a:endParaRPr lang="ja-JP" altLang="en-US" sz="1600" kern="500" baseline="30000" dirty="0">
                <a:solidFill>
                  <a:srgbClr val="008080"/>
                </a:solidFill>
                <a:latin typeface="Segoe UI" panose="020B0502040204020203" pitchFamily="34" charset="0"/>
                <a:ea typeface="メイリオ" panose="020B0604030504040204" pitchFamily="50" charset="-128"/>
                <a:cs typeface="Segoe UI" panose="020B0502040204020203" pitchFamily="34" charset="0"/>
              </a:endParaRPr>
            </a:p>
          </p:txBody>
        </p:sp>
        <p:sp>
          <p:nvSpPr>
            <p:cNvPr id="7" name="テキスト ボックス 6">
              <a:extLst>
                <a:ext uri="{FF2B5EF4-FFF2-40B4-BE49-F238E27FC236}">
                  <a16:creationId xmlns:a16="http://schemas.microsoft.com/office/drawing/2014/main" id="{87DF2529-EC32-8F54-076C-D4BD2678B758}"/>
                </a:ext>
              </a:extLst>
            </p:cNvPr>
            <p:cNvSpPr txBox="1"/>
            <p:nvPr/>
          </p:nvSpPr>
          <p:spPr>
            <a:xfrm>
              <a:off x="665902" y="4837596"/>
              <a:ext cx="5940000" cy="754053"/>
            </a:xfrm>
            <a:prstGeom prst="rect">
              <a:avLst/>
            </a:prstGeom>
            <a:noFill/>
          </p:spPr>
          <p:txBody>
            <a:bodyPr wrap="square" lIns="0" tIns="0" rIns="0" bIns="0" rtlCol="0">
              <a:spAutoFit/>
            </a:bodyPr>
            <a:lstStyle/>
            <a:p>
              <a:pPr fontAlgn="base">
                <a:spcBef>
                  <a:spcPts val="600"/>
                </a:spcBef>
                <a:spcAft>
                  <a:spcPct val="0"/>
                </a:spcAft>
              </a:pPr>
              <a:r>
                <a:rPr lang="ja-JP" altLang="en-US" sz="1100" dirty="0">
                  <a:latin typeface="Meiryo UI"/>
                  <a:ea typeface="Meiryo UI"/>
                </a:rPr>
                <a:t>民間では、要件定義後に同一の事業者が、引き続き設計・開発工程を担当することも多い。一方、</a:t>
              </a:r>
              <a:r>
                <a:rPr lang="ja-JP" altLang="en-US" sz="1100" b="1" dirty="0">
                  <a:latin typeface="Meiryo UI"/>
                  <a:ea typeface="Meiryo UI"/>
                </a:rPr>
                <a:t>行政機関では前ページの入札制限により、要件定義と設計・開発を異なる事業者が担当するケースが多い</a:t>
              </a:r>
              <a:r>
                <a:rPr lang="ja-JP" altLang="en-US" sz="1100" dirty="0">
                  <a:latin typeface="Meiryo UI"/>
                  <a:ea typeface="Meiryo UI"/>
                </a:rPr>
                <a:t>ため。</a:t>
              </a:r>
              <a:endParaRPr lang="en-US" altLang="ja-JP" sz="1100" dirty="0">
                <a:latin typeface="Meiryo UI"/>
                <a:ea typeface="Meiryo UI"/>
              </a:endParaRPr>
            </a:p>
            <a:p>
              <a:pPr fontAlgn="base">
                <a:spcBef>
                  <a:spcPts val="600"/>
                </a:spcBef>
                <a:spcAft>
                  <a:spcPct val="0"/>
                </a:spcAft>
              </a:pPr>
              <a:r>
                <a:rPr lang="ja-JP" altLang="en-US" sz="1100" dirty="0">
                  <a:latin typeface="Meiryo UI"/>
                  <a:ea typeface="Meiryo UI"/>
                </a:rPr>
                <a:t>また、行政機関では、</a:t>
              </a:r>
              <a:r>
                <a:rPr lang="ja-JP" altLang="en-US" sz="1100" b="1" dirty="0">
                  <a:latin typeface="Meiryo UI"/>
                  <a:ea typeface="Meiryo UI"/>
                </a:rPr>
                <a:t>調達時点で具体的な製品・サービスを指定できず、設計・開発事業者の提案を踏まえて要件が確定するケースが多い</a:t>
              </a:r>
              <a:r>
                <a:rPr lang="ja-JP" altLang="en-US" sz="1100" dirty="0">
                  <a:latin typeface="Meiryo UI"/>
                  <a:ea typeface="Meiryo UI"/>
                </a:rPr>
                <a:t>ため。</a:t>
              </a:r>
              <a:endParaRPr lang="en-US" altLang="ja-JP" sz="1100" dirty="0">
                <a:latin typeface="Meiryo UI"/>
                <a:ea typeface="Meiryo UI"/>
              </a:endParaRPr>
            </a:p>
          </p:txBody>
        </p:sp>
      </p:grpSp>
    </p:spTree>
    <p:extLst>
      <p:ext uri="{BB962C8B-B14F-4D97-AF65-F5344CB8AC3E}">
        <p14:creationId xmlns:p14="http://schemas.microsoft.com/office/powerpoint/2010/main" val="3855278597"/>
      </p:ext>
    </p:extLst>
  </p:cSld>
  <p:clrMapOvr>
    <a:masterClrMapping/>
  </p:clrMapOvr>
</p:sld>
</file>

<file path=ppt/theme/theme1.xml><?xml version="1.0" encoding="utf-8"?>
<a:theme xmlns:a="http://schemas.openxmlformats.org/drawingml/2006/main" name="デジタル庁_20210907">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DigitalAgencyCustomized">
      <a:majorFont>
        <a:latin typeface="Roboto"/>
        <a:ea typeface="游ゴシック Medium"/>
        <a:cs typeface=""/>
      </a:majorFont>
      <a:minorFont>
        <a:latin typeface="游ゴシック"/>
        <a:ea typeface="游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gital_Agency_Powerpoint_Template_JA_Wide" id="{BBEB91CB-58E1-4C2D-80C2-2798298F4F4C}" vid="{1D442F1E-F6D9-4C84-BE32-6A75489F6BA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36fffe2-e74d-4f21-833f-6f054a10cb50}" enabled="1" method="Privileged" siteId="{a4dd5294-24e4-4102-8420-cb86d0baae1e}" contentBits="0" removed="0"/>
</clbl:labelList>
</file>

<file path=docProps/app.xml><?xml version="1.0" encoding="utf-8"?>
<Properties xmlns="http://schemas.openxmlformats.org/officeDocument/2006/extended-properties" xmlns:vt="http://schemas.openxmlformats.org/officeDocument/2006/docPropsVTypes">
  <Template>Facet</Template>
  <TotalTime>0</TotalTime>
  <Words>5280</Words>
  <Application>Microsoft Office PowerPoint</Application>
  <PresentationFormat>ワイド画面</PresentationFormat>
  <Paragraphs>259</Paragraphs>
  <Slides>14</Slides>
  <Notes>11</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14</vt:i4>
      </vt:variant>
    </vt:vector>
  </HeadingPairs>
  <TitlesOfParts>
    <vt:vector size="23" baseType="lpstr">
      <vt:lpstr>Meiryo UI</vt:lpstr>
      <vt:lpstr>メイリオ</vt:lpstr>
      <vt:lpstr>游ゴシック</vt:lpstr>
      <vt:lpstr>Yu Gothic Medium</vt:lpstr>
      <vt:lpstr>Arial</vt:lpstr>
      <vt:lpstr>Roboto</vt:lpstr>
      <vt:lpstr>Segoe UI</vt:lpstr>
      <vt:lpstr>Wingdings</vt:lpstr>
      <vt:lpstr>デジタル庁_20210907</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2026-07-09T08:27:01Z</dcterms:created>
  <dcterms:modified xsi:type="dcterms:W3CDTF">2026-07-09T08:27:09Z</dcterms:modified>
</cp:coreProperties>
</file>