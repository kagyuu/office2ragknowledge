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147470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BFBFBF"/>
    <a:srgbClr val="1E50B5"/>
    <a:srgbClr val="F4F4F4"/>
    <a:srgbClr val="E9EDF4"/>
    <a:srgbClr val="3E5C2A"/>
    <a:srgbClr val="6A8459"/>
    <a:srgbClr val="E2F0D9"/>
    <a:srgbClr val="FFFFFF"/>
    <a:srgbClr val="D6E3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03447BB-5D67-496B-8E87-E561075AD55C}" styleName="濃色スタイル 1 - アクセント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57" autoAdjust="0"/>
    <p:restoredTop sz="96093" autoAdjust="0"/>
  </p:normalViewPr>
  <p:slideViewPr>
    <p:cSldViewPr snapToGrid="0">
      <p:cViewPr varScale="1">
        <p:scale>
          <a:sx n="84" d="100"/>
          <a:sy n="84" d="100"/>
        </p:scale>
        <p:origin x="108" y="9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CE066A2-80AD-43A2-A219-2EA363DE0E2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1F566-E206-4497-A045-9748E4E54D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FB63DF-E160-42EB-8E2B-592BF8341029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3837DE8-A473-4AF9-9810-C1A1D9F4FF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60060F2-222F-4090-A141-4BD7E4E554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3E8D4-4D9A-4767-B4A8-F306926D80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9707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14164F-1AF4-4168-B424-02521B930000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969D58-0200-4E0D-8C47-F0B8749FCF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95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842E95-3220-42D0-ADBD-4DD722CDA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932" y="1378947"/>
            <a:ext cx="8708136" cy="1938992"/>
          </a:xfrm>
        </p:spPr>
        <p:txBody>
          <a:bodyPr anchor="b"/>
          <a:lstStyle>
            <a:lvl1pPr algn="l">
              <a:lnSpc>
                <a:spcPct val="100000"/>
              </a:lnSpc>
              <a:defRPr sz="6000" b="1">
                <a:latin typeface="Yu Gothic Medium" panose="020B0500000000000000" pitchFamily="34" charset="-128"/>
                <a:ea typeface="Yu Gothic Medium" panose="020B05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6AC1769-CAF8-471C-80F2-350AEAEA5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4982" y="3571614"/>
            <a:ext cx="8575086" cy="885299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 b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en-US" altLang="ja-JP"/>
          </a:p>
          <a:p>
            <a:r>
              <a:rPr kumimoji="1" lang="ja-JP" altLang="en-US"/>
              <a:t>サブタイトルサブ</a:t>
            </a:r>
          </a:p>
        </p:txBody>
      </p:sp>
      <p:pic>
        <p:nvPicPr>
          <p:cNvPr id="15" name="図 14" descr="デジタル庁ロゴ&#10;">
            <a:extLst>
              <a:ext uri="{FF2B5EF4-FFF2-40B4-BE49-F238E27FC236}">
                <a16:creationId xmlns:a16="http://schemas.microsoft.com/office/drawing/2014/main" id="{5C512B69-CD07-4175-A3E8-70BF55D7DD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391" y="4840084"/>
            <a:ext cx="3286944" cy="10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98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セクションタイトル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7">
            <a:extLst>
              <a:ext uri="{FF2B5EF4-FFF2-40B4-BE49-F238E27FC236}">
                <a16:creationId xmlns:a16="http://schemas.microsoft.com/office/drawing/2014/main" id="{FB4E48A9-D590-461B-8F64-59900B1D64CD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BB1C74-900B-433F-890C-085C1B5A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98" y="3607309"/>
            <a:ext cx="10386751" cy="70256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3627A73-0747-4D72-B2BD-4AAA11DE0439}"/>
              </a:ext>
            </a:extLst>
          </p:cNvPr>
          <p:cNvSpPr/>
          <p:nvPr userDrawn="1"/>
        </p:nvSpPr>
        <p:spPr>
          <a:xfrm flipH="1" flipV="1">
            <a:off x="-88553" y="2999808"/>
            <a:ext cx="432000" cy="72000"/>
          </a:xfrm>
          <a:prstGeom prst="roundRect">
            <a:avLst>
              <a:gd name="adj" fmla="val 50000"/>
            </a:avLst>
          </a:prstGeom>
          <a:solidFill>
            <a:srgbClr val="11A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61A0D176-8CFC-4AF5-8C87-029AD308E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4525"/>
            <a:ext cx="10515600" cy="70256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22077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セクションタイトル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BB1C74-900B-433F-890C-085C1B5A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98" y="3607309"/>
            <a:ext cx="10386751" cy="70256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3627A73-0747-4D72-B2BD-4AAA11DE0439}"/>
              </a:ext>
            </a:extLst>
          </p:cNvPr>
          <p:cNvSpPr/>
          <p:nvPr userDrawn="1"/>
        </p:nvSpPr>
        <p:spPr>
          <a:xfrm flipH="1" flipV="1">
            <a:off x="-88553" y="2999808"/>
            <a:ext cx="432000" cy="72000"/>
          </a:xfrm>
          <a:prstGeom prst="roundRect">
            <a:avLst>
              <a:gd name="adj" fmla="val 50000"/>
            </a:avLst>
          </a:prstGeom>
          <a:solidFill>
            <a:srgbClr val="1E50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61A0D176-8CFC-4AF5-8C87-029AD308E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4525"/>
            <a:ext cx="10515600" cy="702565"/>
          </a:xfrm>
        </p:spPr>
        <p:txBody>
          <a:bodyPr/>
          <a:lstStyle/>
          <a:p>
            <a:r>
              <a:rPr kumimoji="1" lang="ja-JP" altLang="en-US"/>
              <a:t>デジタルブルー</a:t>
            </a:r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8DDD4E5B-9CED-4198-B634-4431C8A64A65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6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セクションタイトル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BB1C74-900B-433F-890C-085C1B5AD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698" y="3607309"/>
            <a:ext cx="10386751" cy="70256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3627A73-0747-4D72-B2BD-4AAA11DE0439}"/>
              </a:ext>
            </a:extLst>
          </p:cNvPr>
          <p:cNvSpPr/>
          <p:nvPr userDrawn="1"/>
        </p:nvSpPr>
        <p:spPr>
          <a:xfrm flipH="1" flipV="1">
            <a:off x="-88553" y="2999808"/>
            <a:ext cx="432000" cy="72000"/>
          </a:xfrm>
          <a:prstGeom prst="roundRect">
            <a:avLst>
              <a:gd name="adj" fmla="val 50000"/>
            </a:avLst>
          </a:prstGeom>
          <a:solidFill>
            <a:srgbClr val="E6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タイトル 13">
            <a:extLst>
              <a:ext uri="{FF2B5EF4-FFF2-40B4-BE49-F238E27FC236}">
                <a16:creationId xmlns:a16="http://schemas.microsoft.com/office/drawing/2014/main" id="{61A0D176-8CFC-4AF5-8C87-029AD308E1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4525"/>
            <a:ext cx="10515600" cy="702565"/>
          </a:xfrm>
        </p:spPr>
        <p:txBody>
          <a:bodyPr/>
          <a:lstStyle/>
          <a:p>
            <a:r>
              <a:rPr kumimoji="1" lang="ja-JP" altLang="en-US"/>
              <a:t>デジタルレッド</a:t>
            </a:r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940027AC-B58D-4BD7-9D7F-AA5E91E04E6F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42174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732648-477B-4A43-9D46-DAE921093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241"/>
            <a:ext cx="10515600" cy="4815996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380D5B96-5C60-4A67-AFCD-B21CB4FAE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229"/>
            <a:ext cx="10515600" cy="535788"/>
          </a:xfrm>
        </p:spPr>
        <p:txBody>
          <a:bodyPr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スライド番号プレースホルダー 7">
            <a:extLst>
              <a:ext uri="{FF2B5EF4-FFF2-40B4-BE49-F238E27FC236}">
                <a16:creationId xmlns:a16="http://schemas.microsoft.com/office/drawing/2014/main" id="{42F948A6-C7DA-4BC1-919D-DE580ED31601}"/>
              </a:ext>
            </a:extLst>
          </p:cNvPr>
          <p:cNvSpPr txBox="1">
            <a:spLocks/>
          </p:cNvSpPr>
          <p:nvPr userDrawn="1"/>
        </p:nvSpPr>
        <p:spPr>
          <a:xfrm>
            <a:off x="9387329" y="64754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6171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サマリ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C7E0D-74A9-4B86-AB69-599D176FF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206B1B8-1AF3-434B-8280-C730336733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1" y="1333178"/>
            <a:ext cx="10515600" cy="2191186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360000" tIns="216000" rIns="360000" bIns="216000" anchor="t" anchorCtr="0">
            <a:sp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79A32D3-134A-4CE3-A056-4DF21D27B0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648074"/>
            <a:ext cx="10515600" cy="25033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C5074BC-E1F6-41F5-AA0E-167124EC1255}"/>
              </a:ext>
            </a:extLst>
          </p:cNvPr>
          <p:cNvSpPr/>
          <p:nvPr userDrawn="1"/>
        </p:nvSpPr>
        <p:spPr>
          <a:xfrm flipH="1" flipV="1">
            <a:off x="-88553" y="779126"/>
            <a:ext cx="432000" cy="72000"/>
          </a:xfrm>
          <a:prstGeom prst="roundRect">
            <a:avLst>
              <a:gd name="adj" fmla="val 50000"/>
            </a:avLst>
          </a:prstGeom>
          <a:solidFill>
            <a:srgbClr val="1E50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53E927DE-A765-4E88-BB59-3BA56940226C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942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サマリ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C7E0D-74A9-4B86-AB69-599D176FF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デジタルグリーン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206B1B8-1AF3-434B-8280-C730336733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1" y="1333178"/>
            <a:ext cx="10515600" cy="2191186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360000" tIns="216000" rIns="360000" bIns="216000" anchor="t" anchorCtr="0">
            <a:sp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79A32D3-134A-4CE3-A056-4DF21D27B0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648074"/>
            <a:ext cx="10515600" cy="25033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C5074BC-E1F6-41F5-AA0E-167124EC1255}"/>
              </a:ext>
            </a:extLst>
          </p:cNvPr>
          <p:cNvSpPr/>
          <p:nvPr userDrawn="1"/>
        </p:nvSpPr>
        <p:spPr>
          <a:xfrm flipH="1" flipV="1">
            <a:off x="-88553" y="779126"/>
            <a:ext cx="432000" cy="72000"/>
          </a:xfrm>
          <a:prstGeom prst="roundRect">
            <a:avLst>
              <a:gd name="adj" fmla="val 50000"/>
            </a:avLst>
          </a:prstGeom>
          <a:solidFill>
            <a:srgbClr val="11AC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61DBAEDA-5117-404D-AB7F-7B3DE64FE4FC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1456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とサマリ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4C7E0D-74A9-4B86-AB69-599D176FF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デジタルレッド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206B1B8-1AF3-434B-8280-C730336733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1" y="1333178"/>
            <a:ext cx="10515600" cy="2191186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 lIns="360000" tIns="216000" rIns="360000" bIns="216000" anchor="t" anchorCtr="0">
            <a:sp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79A32D3-134A-4CE3-A056-4DF21D27B0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3648074"/>
            <a:ext cx="10515600" cy="250334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2C5074BC-E1F6-41F5-AA0E-167124EC1255}"/>
              </a:ext>
            </a:extLst>
          </p:cNvPr>
          <p:cNvSpPr/>
          <p:nvPr userDrawn="1"/>
        </p:nvSpPr>
        <p:spPr>
          <a:xfrm flipH="1" flipV="1">
            <a:off x="-88553" y="779126"/>
            <a:ext cx="432000" cy="72000"/>
          </a:xfrm>
          <a:prstGeom prst="roundRect">
            <a:avLst>
              <a:gd name="adj" fmla="val 50000"/>
            </a:avLst>
          </a:prstGeom>
          <a:solidFill>
            <a:srgbClr val="E600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465FF78C-CCAD-4BC0-A9B0-59D31A78D0AC}"/>
              </a:ext>
            </a:extLst>
          </p:cNvPr>
          <p:cNvSpPr txBox="1">
            <a:spLocks/>
          </p:cNvSpPr>
          <p:nvPr userDrawn="1"/>
        </p:nvSpPr>
        <p:spPr>
          <a:xfrm>
            <a:off x="8972463" y="63212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1746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ロゴ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デジタル庁ロゴ">
            <a:extLst>
              <a:ext uri="{FF2B5EF4-FFF2-40B4-BE49-F238E27FC236}">
                <a16:creationId xmlns:a16="http://schemas.microsoft.com/office/drawing/2014/main" id="{EA198951-577B-4ABC-81D8-F2E3F6468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6161" y="2712273"/>
            <a:ext cx="4619677" cy="14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70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7">
            <a:extLst>
              <a:ext uri="{FF2B5EF4-FFF2-40B4-BE49-F238E27FC236}">
                <a16:creationId xmlns:a16="http://schemas.microsoft.com/office/drawing/2014/main" id="{6C32DF7F-F7C7-4E4A-A796-AEA568A01522}"/>
              </a:ext>
            </a:extLst>
          </p:cNvPr>
          <p:cNvSpPr txBox="1">
            <a:spLocks/>
          </p:cNvSpPr>
          <p:nvPr userDrawn="1"/>
        </p:nvSpPr>
        <p:spPr>
          <a:xfrm>
            <a:off x="9378863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400" b="0" kern="120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FD4F317-19D0-4848-B5EB-5B174DBE8CF9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2174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397C095-A7F2-4984-ACC5-C9562C92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3841"/>
            <a:ext cx="10515600" cy="702565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BA1709-158A-4617-99E8-415D5F793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62076"/>
            <a:ext cx="10515600" cy="4814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84516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63" r:id="rId4"/>
    <p:sldLayoutId id="2147483650" r:id="rId5"/>
    <p:sldLayoutId id="2147483659" r:id="rId6"/>
    <p:sldLayoutId id="2147483660" r:id="rId7"/>
    <p:sldLayoutId id="2147483661" r:id="rId8"/>
    <p:sldLayoutId id="2147483658" r:id="rId9"/>
    <p:sldLayoutId id="214748366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プロジェクト背景（NEXT）">
            <a:extLst>
              <a:ext uri="{FF2B5EF4-FFF2-40B4-BE49-F238E27FC236}">
                <a16:creationId xmlns:a16="http://schemas.microsoft.com/office/drawing/2014/main" id="{F1A9DA2D-49BC-647A-4FDD-2718F39C4E2C}"/>
              </a:ext>
            </a:extLst>
          </p:cNvPr>
          <p:cNvSpPr/>
          <p:nvPr/>
        </p:nvSpPr>
        <p:spPr>
          <a:xfrm>
            <a:off x="5765211" y="5904734"/>
            <a:ext cx="692515" cy="597600"/>
          </a:xfrm>
          <a:prstGeom prst="rect">
            <a:avLst/>
          </a:prstGeom>
          <a:solidFill>
            <a:srgbClr val="E9EFF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20000"/>
              </a:lnSpc>
            </a:pPr>
            <a:endParaRPr lang="ja-JP" altLang="en-US" sz="6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プロジェクト背景（当該）">
            <a:extLst>
              <a:ext uri="{FF2B5EF4-FFF2-40B4-BE49-F238E27FC236}">
                <a16:creationId xmlns:a16="http://schemas.microsoft.com/office/drawing/2014/main" id="{A9B38442-EE0E-F12A-68EC-1926BF69581F}"/>
              </a:ext>
            </a:extLst>
          </p:cNvPr>
          <p:cNvSpPr/>
          <p:nvPr/>
        </p:nvSpPr>
        <p:spPr>
          <a:xfrm>
            <a:off x="3211606" y="2004774"/>
            <a:ext cx="2546496" cy="3896532"/>
          </a:xfrm>
          <a:prstGeom prst="rect">
            <a:avLst/>
          </a:prstGeom>
          <a:solidFill>
            <a:srgbClr val="E9EFF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20000"/>
              </a:lnSpc>
            </a:pPr>
            <a:endParaRPr lang="ja-JP" altLang="en-US" sz="6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BBB9C45-D200-52A3-27A1-6EDCFFA1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61"/>
            <a:ext cx="10515600" cy="702565"/>
          </a:xfrm>
        </p:spPr>
        <p:txBody>
          <a:bodyPr>
            <a:normAutofit/>
          </a:bodyPr>
          <a:lstStyle/>
          <a:p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IT</a:t>
            </a:r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マネジメントの全体像</a:t>
            </a:r>
          </a:p>
        </p:txBody>
      </p:sp>
      <p:graphicFrame>
        <p:nvGraphicFramePr>
          <p:cNvPr id="6" name="表（年度）">
            <a:extLst>
              <a:ext uri="{FF2B5EF4-FFF2-40B4-BE49-F238E27FC236}">
                <a16:creationId xmlns:a16="http://schemas.microsoft.com/office/drawing/2014/main" id="{90BA8357-63A5-E82B-910A-4D6E59781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310990"/>
              </p:ext>
            </p:extLst>
          </p:nvPr>
        </p:nvGraphicFramePr>
        <p:xfrm>
          <a:off x="658732" y="1008118"/>
          <a:ext cx="5738157" cy="549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7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757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695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N-4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N-3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N-2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N-1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/>
                        <a:t>N</a:t>
                      </a:r>
                      <a:r>
                        <a:rPr kumimoji="1" lang="ja-JP" altLang="en-US" sz="900" b="1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N+1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N+2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/>
                        <a:t>N+3</a:t>
                      </a:r>
                      <a:r>
                        <a:rPr kumimoji="1" lang="ja-JP" altLang="en-US" sz="900" dirty="0"/>
                        <a:t>年度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N+4</a:t>
                      </a:r>
                      <a:r>
                        <a:rPr kumimoji="1" lang="ja-JP" altLang="en-US" sz="800" dirty="0"/>
                        <a:t>年度</a:t>
                      </a:r>
                      <a:br>
                        <a:rPr kumimoji="1" lang="en-US" altLang="ja-JP" sz="800" dirty="0"/>
                      </a:br>
                      <a:r>
                        <a:rPr kumimoji="1" lang="ja-JP" altLang="en-US" sz="800" dirty="0"/>
                        <a:t>以降</a:t>
                      </a:r>
                    </a:p>
                  </a:txBody>
                  <a:tcPr marL="54430" marR="54430" marT="27215" marB="2721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0290"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510"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400" dirty="0"/>
                    </a:p>
                  </a:txBody>
                  <a:tcPr marL="54430" marR="54430" marT="27215" marB="2721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２章">
            <a:extLst>
              <a:ext uri="{FF2B5EF4-FFF2-40B4-BE49-F238E27FC236}">
                <a16:creationId xmlns:a16="http://schemas.microsoft.com/office/drawing/2014/main" id="{A0A33858-A027-2C70-A90C-4CCE9A1CB68D}"/>
              </a:ext>
            </a:extLst>
          </p:cNvPr>
          <p:cNvSpPr/>
          <p:nvPr/>
        </p:nvSpPr>
        <p:spPr>
          <a:xfrm rot="16200000" flipV="1">
            <a:off x="3738885" y="-272023"/>
            <a:ext cx="325273" cy="5097173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2741"/>
              <a:gd name="connsiteY0" fmla="*/ 0 h 21944"/>
              <a:gd name="connsiteX1" fmla="*/ 21600 w 22741"/>
              <a:gd name="connsiteY1" fmla="*/ 0 h 21944"/>
              <a:gd name="connsiteX2" fmla="*/ 22741 w 22741"/>
              <a:gd name="connsiteY2" fmla="*/ 20556 h 21944"/>
              <a:gd name="connsiteX3" fmla="*/ 0 w 22741"/>
              <a:gd name="connsiteY3" fmla="*/ 20172 h 21944"/>
              <a:gd name="connsiteX4" fmla="*/ 0 w 22741"/>
              <a:gd name="connsiteY4" fmla="*/ 0 h 21944"/>
              <a:gd name="connsiteX0" fmla="*/ 0 w 22741"/>
              <a:gd name="connsiteY0" fmla="*/ 0 h 22585"/>
              <a:gd name="connsiteX1" fmla="*/ 21600 w 22741"/>
              <a:gd name="connsiteY1" fmla="*/ 0 h 22585"/>
              <a:gd name="connsiteX2" fmla="*/ 22741 w 22741"/>
              <a:gd name="connsiteY2" fmla="*/ 20556 h 22585"/>
              <a:gd name="connsiteX3" fmla="*/ 0 w 22741"/>
              <a:gd name="connsiteY3" fmla="*/ 21034 h 22585"/>
              <a:gd name="connsiteX4" fmla="*/ 0 w 22741"/>
              <a:gd name="connsiteY4" fmla="*/ 0 h 22585"/>
              <a:gd name="connsiteX0" fmla="*/ 0 w 22741"/>
              <a:gd name="connsiteY0" fmla="*/ 0 h 21599"/>
              <a:gd name="connsiteX1" fmla="*/ 21600 w 22741"/>
              <a:gd name="connsiteY1" fmla="*/ 0 h 21599"/>
              <a:gd name="connsiteX2" fmla="*/ 22741 w 22741"/>
              <a:gd name="connsiteY2" fmla="*/ 20556 h 21599"/>
              <a:gd name="connsiteX3" fmla="*/ 0 w 22741"/>
              <a:gd name="connsiteY3" fmla="*/ 21034 h 21599"/>
              <a:gd name="connsiteX4" fmla="*/ 0 w 22741"/>
              <a:gd name="connsiteY4" fmla="*/ 0 h 21599"/>
              <a:gd name="connsiteX0" fmla="*/ 0 w 22171"/>
              <a:gd name="connsiteY0" fmla="*/ 0 h 21661"/>
              <a:gd name="connsiteX1" fmla="*/ 21600 w 22171"/>
              <a:gd name="connsiteY1" fmla="*/ 0 h 21661"/>
              <a:gd name="connsiteX2" fmla="*/ 22171 w 22171"/>
              <a:gd name="connsiteY2" fmla="*/ 20858 h 21661"/>
              <a:gd name="connsiteX3" fmla="*/ 0 w 22171"/>
              <a:gd name="connsiteY3" fmla="*/ 21034 h 21661"/>
              <a:gd name="connsiteX4" fmla="*/ 0 w 22171"/>
              <a:gd name="connsiteY4" fmla="*/ 0 h 21661"/>
              <a:gd name="connsiteX0" fmla="*/ 0 w 22171"/>
              <a:gd name="connsiteY0" fmla="*/ 0 h 21936"/>
              <a:gd name="connsiteX1" fmla="*/ 21600 w 22171"/>
              <a:gd name="connsiteY1" fmla="*/ 0 h 21936"/>
              <a:gd name="connsiteX2" fmla="*/ 22171 w 22171"/>
              <a:gd name="connsiteY2" fmla="*/ 20858 h 21936"/>
              <a:gd name="connsiteX3" fmla="*/ 0 w 22171"/>
              <a:gd name="connsiteY3" fmla="*/ 21379 h 21936"/>
              <a:gd name="connsiteX4" fmla="*/ 0 w 22171"/>
              <a:gd name="connsiteY4" fmla="*/ 0 h 21936"/>
              <a:gd name="connsiteX0" fmla="*/ 0 w 22171"/>
              <a:gd name="connsiteY0" fmla="*/ 0 h 21556"/>
              <a:gd name="connsiteX1" fmla="*/ 21600 w 22171"/>
              <a:gd name="connsiteY1" fmla="*/ 0 h 21556"/>
              <a:gd name="connsiteX2" fmla="*/ 22171 w 22171"/>
              <a:gd name="connsiteY2" fmla="*/ 20858 h 21556"/>
              <a:gd name="connsiteX3" fmla="*/ 0 w 22171"/>
              <a:gd name="connsiteY3" fmla="*/ 21379 h 21556"/>
              <a:gd name="connsiteX4" fmla="*/ 0 w 22171"/>
              <a:gd name="connsiteY4" fmla="*/ 0 h 21556"/>
              <a:gd name="connsiteX0" fmla="*/ 0 w 22171"/>
              <a:gd name="connsiteY0" fmla="*/ 0 h 21578"/>
              <a:gd name="connsiteX1" fmla="*/ 21600 w 22171"/>
              <a:gd name="connsiteY1" fmla="*/ 0 h 21578"/>
              <a:gd name="connsiteX2" fmla="*/ 22171 w 22171"/>
              <a:gd name="connsiteY2" fmla="*/ 21030 h 21578"/>
              <a:gd name="connsiteX3" fmla="*/ 0 w 22171"/>
              <a:gd name="connsiteY3" fmla="*/ 21379 h 21578"/>
              <a:gd name="connsiteX4" fmla="*/ 0 w 22171"/>
              <a:gd name="connsiteY4" fmla="*/ 0 h 21578"/>
              <a:gd name="connsiteX0" fmla="*/ 0 w 21644"/>
              <a:gd name="connsiteY0" fmla="*/ 0 h 21578"/>
              <a:gd name="connsiteX1" fmla="*/ 21600 w 21644"/>
              <a:gd name="connsiteY1" fmla="*/ 0 h 21578"/>
              <a:gd name="connsiteX2" fmla="*/ 21644 w 21644"/>
              <a:gd name="connsiteY2" fmla="*/ 21030 h 21578"/>
              <a:gd name="connsiteX3" fmla="*/ 0 w 21644"/>
              <a:gd name="connsiteY3" fmla="*/ 21379 h 21578"/>
              <a:gd name="connsiteX4" fmla="*/ 0 w 21644"/>
              <a:gd name="connsiteY4" fmla="*/ 0 h 21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4" h="21578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4" y="15256"/>
                  <a:pt x="21644" y="21030"/>
                </a:cubicBezTo>
                <a:cubicBezTo>
                  <a:pt x="10844" y="21030"/>
                  <a:pt x="17643" y="21981"/>
                  <a:pt x="0" y="213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0" tIns="36000" rIns="36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8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　　　プロジェクトの管理</a:t>
            </a:r>
          </a:p>
        </p:txBody>
      </p:sp>
      <p:sp>
        <p:nvSpPr>
          <p:cNvPr id="25" name="委託（開発）">
            <a:extLst>
              <a:ext uri="{FF2B5EF4-FFF2-40B4-BE49-F238E27FC236}">
                <a16:creationId xmlns:a16="http://schemas.microsoft.com/office/drawing/2014/main" id="{2DE5CF5F-BC93-C69D-DB91-4337E6C334FB}"/>
              </a:ext>
            </a:extLst>
          </p:cNvPr>
          <p:cNvSpPr/>
          <p:nvPr/>
        </p:nvSpPr>
        <p:spPr>
          <a:xfrm>
            <a:off x="2591603" y="3199770"/>
            <a:ext cx="614288" cy="38786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設計・開発</a:t>
            </a:r>
            <a:br>
              <a:rPr lang="en-US" altLang="ja-JP" sz="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sz="7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委託</a:t>
            </a:r>
          </a:p>
        </p:txBody>
      </p:sp>
      <p:sp>
        <p:nvSpPr>
          <p:cNvPr id="26" name="調達（開発）">
            <a:extLst>
              <a:ext uri="{FF2B5EF4-FFF2-40B4-BE49-F238E27FC236}">
                <a16:creationId xmlns:a16="http://schemas.microsoft.com/office/drawing/2014/main" id="{BD9C503E-56FF-66A1-FBB3-52AFF707CC91}"/>
              </a:ext>
            </a:extLst>
          </p:cNvPr>
          <p:cNvSpPr/>
          <p:nvPr/>
        </p:nvSpPr>
        <p:spPr>
          <a:xfrm>
            <a:off x="2429598" y="3199770"/>
            <a:ext cx="179194" cy="811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調達</a:t>
            </a:r>
          </a:p>
        </p:txBody>
      </p:sp>
      <p:sp>
        <p:nvSpPr>
          <p:cNvPr id="27" name="予算要求（開発）">
            <a:extLst>
              <a:ext uri="{FF2B5EF4-FFF2-40B4-BE49-F238E27FC236}">
                <a16:creationId xmlns:a16="http://schemas.microsoft.com/office/drawing/2014/main" id="{AF965BDA-16AE-FF12-56DB-DFD619085DD7}"/>
              </a:ext>
            </a:extLst>
          </p:cNvPr>
          <p:cNvSpPr/>
          <p:nvPr/>
        </p:nvSpPr>
        <p:spPr>
          <a:xfrm>
            <a:off x="1981181" y="3199770"/>
            <a:ext cx="277340" cy="8118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4290" rIns="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予算</a:t>
            </a:r>
            <a:br>
              <a:rPr lang="en-US" altLang="ja-JP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要求</a:t>
            </a:r>
          </a:p>
        </p:txBody>
      </p:sp>
      <p:cxnSp>
        <p:nvCxnSpPr>
          <p:cNvPr id="28" name="コネクタ（開発）">
            <a:extLst>
              <a:ext uri="{FF2B5EF4-FFF2-40B4-BE49-F238E27FC236}">
                <a16:creationId xmlns:a16="http://schemas.microsoft.com/office/drawing/2014/main" id="{5B5E04A5-F9DD-68FA-34A9-1D7818A029C8}"/>
              </a:ext>
            </a:extLst>
          </p:cNvPr>
          <p:cNvCxnSpPr>
            <a:cxnSpLocks/>
          </p:cNvCxnSpPr>
          <p:nvPr/>
        </p:nvCxnSpPr>
        <p:spPr>
          <a:xfrm>
            <a:off x="2256616" y="3605698"/>
            <a:ext cx="170022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委託（保守）">
            <a:extLst>
              <a:ext uri="{FF2B5EF4-FFF2-40B4-BE49-F238E27FC236}">
                <a16:creationId xmlns:a16="http://schemas.microsoft.com/office/drawing/2014/main" id="{1E43C37A-7BA1-B5BB-EB26-AAF3E899CB04}"/>
              </a:ext>
            </a:extLst>
          </p:cNvPr>
          <p:cNvSpPr/>
          <p:nvPr/>
        </p:nvSpPr>
        <p:spPr>
          <a:xfrm>
            <a:off x="3209066" y="3590493"/>
            <a:ext cx="254762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アプリケーション保守委託</a:t>
            </a:r>
          </a:p>
        </p:txBody>
      </p:sp>
      <p:sp>
        <p:nvSpPr>
          <p:cNvPr id="30" name="委託（運用）">
            <a:extLst>
              <a:ext uri="{FF2B5EF4-FFF2-40B4-BE49-F238E27FC236}">
                <a16:creationId xmlns:a16="http://schemas.microsoft.com/office/drawing/2014/main" id="{9C921A38-075F-C775-EA60-E47E3C24A96E}"/>
              </a:ext>
            </a:extLst>
          </p:cNvPr>
          <p:cNvSpPr/>
          <p:nvPr/>
        </p:nvSpPr>
        <p:spPr>
          <a:xfrm>
            <a:off x="3209066" y="3804056"/>
            <a:ext cx="2547530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8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運用支援委託</a:t>
            </a:r>
          </a:p>
        </p:txBody>
      </p:sp>
      <p:sp>
        <p:nvSpPr>
          <p:cNvPr id="35" name="NEXTプロジェクト">
            <a:extLst>
              <a:ext uri="{FF2B5EF4-FFF2-40B4-BE49-F238E27FC236}">
                <a16:creationId xmlns:a16="http://schemas.microsoft.com/office/drawing/2014/main" id="{ECD5D7D9-AC03-0BF6-B865-E2B5DA6D7D2F}"/>
              </a:ext>
            </a:extLst>
          </p:cNvPr>
          <p:cNvSpPr/>
          <p:nvPr/>
        </p:nvSpPr>
        <p:spPr>
          <a:xfrm rot="16200000" flipV="1">
            <a:off x="5065325" y="5041081"/>
            <a:ext cx="368059" cy="2350700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0 h 21882"/>
              <a:gd name="connsiteX1" fmla="*/ 21600 w 21600"/>
              <a:gd name="connsiteY1" fmla="*/ 0 h 21882"/>
              <a:gd name="connsiteX2" fmla="*/ 21600 w 21600"/>
              <a:gd name="connsiteY2" fmla="*/ 20336 h 21882"/>
              <a:gd name="connsiteX3" fmla="*/ 0 w 21600"/>
              <a:gd name="connsiteY3" fmla="*/ 20172 h 21882"/>
              <a:gd name="connsiteX4" fmla="*/ 0 w 21600"/>
              <a:gd name="connsiteY4" fmla="*/ 0 h 21882"/>
              <a:gd name="connsiteX0" fmla="*/ 1125 w 22725"/>
              <a:gd name="connsiteY0" fmla="*/ 0 h 22468"/>
              <a:gd name="connsiteX1" fmla="*/ 22725 w 22725"/>
              <a:gd name="connsiteY1" fmla="*/ 0 h 22468"/>
              <a:gd name="connsiteX2" fmla="*/ 22725 w 22725"/>
              <a:gd name="connsiteY2" fmla="*/ 20336 h 22468"/>
              <a:gd name="connsiteX3" fmla="*/ 0 w 22725"/>
              <a:gd name="connsiteY3" fmla="*/ 20947 h 22468"/>
              <a:gd name="connsiteX4" fmla="*/ 1125 w 22725"/>
              <a:gd name="connsiteY4" fmla="*/ 0 h 22468"/>
              <a:gd name="connsiteX0" fmla="*/ 1125 w 22725"/>
              <a:gd name="connsiteY0" fmla="*/ 0 h 21453"/>
              <a:gd name="connsiteX1" fmla="*/ 22725 w 22725"/>
              <a:gd name="connsiteY1" fmla="*/ 0 h 21453"/>
              <a:gd name="connsiteX2" fmla="*/ 22725 w 22725"/>
              <a:gd name="connsiteY2" fmla="*/ 20336 h 21453"/>
              <a:gd name="connsiteX3" fmla="*/ 0 w 22725"/>
              <a:gd name="connsiteY3" fmla="*/ 20947 h 21453"/>
              <a:gd name="connsiteX4" fmla="*/ 1125 w 22725"/>
              <a:gd name="connsiteY4" fmla="*/ 0 h 21453"/>
              <a:gd name="connsiteX0" fmla="*/ 1125 w 22725"/>
              <a:gd name="connsiteY0" fmla="*/ 0 h 21311"/>
              <a:gd name="connsiteX1" fmla="*/ 22725 w 22725"/>
              <a:gd name="connsiteY1" fmla="*/ 0 h 21311"/>
              <a:gd name="connsiteX2" fmla="*/ 22725 w 22725"/>
              <a:gd name="connsiteY2" fmla="*/ 20336 h 21311"/>
              <a:gd name="connsiteX3" fmla="*/ 0 w 22725"/>
              <a:gd name="connsiteY3" fmla="*/ 20775 h 21311"/>
              <a:gd name="connsiteX4" fmla="*/ 1125 w 22725"/>
              <a:gd name="connsiteY4" fmla="*/ 0 h 21311"/>
              <a:gd name="connsiteX0" fmla="*/ 891 w 22491"/>
              <a:gd name="connsiteY0" fmla="*/ 0 h 21282"/>
              <a:gd name="connsiteX1" fmla="*/ 22491 w 22491"/>
              <a:gd name="connsiteY1" fmla="*/ 0 h 21282"/>
              <a:gd name="connsiteX2" fmla="*/ 22491 w 22491"/>
              <a:gd name="connsiteY2" fmla="*/ 20336 h 21282"/>
              <a:gd name="connsiteX3" fmla="*/ 0 w 22491"/>
              <a:gd name="connsiteY3" fmla="*/ 20739 h 21282"/>
              <a:gd name="connsiteX4" fmla="*/ 891 w 22491"/>
              <a:gd name="connsiteY4" fmla="*/ 0 h 21282"/>
              <a:gd name="connsiteX0" fmla="*/ 188 w 21788"/>
              <a:gd name="connsiteY0" fmla="*/ 0 h 21282"/>
              <a:gd name="connsiteX1" fmla="*/ 21788 w 21788"/>
              <a:gd name="connsiteY1" fmla="*/ 0 h 21282"/>
              <a:gd name="connsiteX2" fmla="*/ 21788 w 21788"/>
              <a:gd name="connsiteY2" fmla="*/ 20336 h 21282"/>
              <a:gd name="connsiteX3" fmla="*/ 0 w 21788"/>
              <a:gd name="connsiteY3" fmla="*/ 20739 h 21282"/>
              <a:gd name="connsiteX4" fmla="*/ 188 w 21788"/>
              <a:gd name="connsiteY4" fmla="*/ 0 h 2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88" h="21282">
                <a:moveTo>
                  <a:pt x="188" y="0"/>
                </a:moveTo>
                <a:lnTo>
                  <a:pt x="21788" y="0"/>
                </a:lnTo>
                <a:lnTo>
                  <a:pt x="21788" y="20336"/>
                </a:lnTo>
                <a:cubicBezTo>
                  <a:pt x="10988" y="20336"/>
                  <a:pt x="18675" y="22164"/>
                  <a:pt x="0" y="20739"/>
                </a:cubicBezTo>
                <a:cubicBezTo>
                  <a:pt x="63" y="13826"/>
                  <a:pt x="125" y="6913"/>
                  <a:pt x="18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6000" tIns="36000" rIns="36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8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後続プロジェクト</a:t>
            </a:r>
          </a:p>
        </p:txBody>
      </p:sp>
      <p:sp>
        <p:nvSpPr>
          <p:cNvPr id="37" name="７章">
            <a:extLst>
              <a:ext uri="{FF2B5EF4-FFF2-40B4-BE49-F238E27FC236}">
                <a16:creationId xmlns:a16="http://schemas.microsoft.com/office/drawing/2014/main" id="{2E80A18C-CA93-5878-4D49-6D0E46D5E02E}"/>
              </a:ext>
            </a:extLst>
          </p:cNvPr>
          <p:cNvSpPr/>
          <p:nvPr/>
        </p:nvSpPr>
        <p:spPr>
          <a:xfrm>
            <a:off x="2596268" y="2620328"/>
            <a:ext cx="590573" cy="338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rtlCol="0" anchor="b" anchorCtr="0"/>
          <a:lstStyle/>
          <a:p>
            <a:pPr algn="ctr">
              <a:lnSpc>
                <a:spcPct val="120000"/>
              </a:lnSpc>
            </a:pPr>
            <a:r>
              <a:rPr lang="ja-JP" altLang="en-US" sz="65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設計・開発</a:t>
            </a:r>
          </a:p>
        </p:txBody>
      </p:sp>
      <p:sp>
        <p:nvSpPr>
          <p:cNvPr id="43" name="フリーフォーム 36">
            <a:extLst>
              <a:ext uri="{FF2B5EF4-FFF2-40B4-BE49-F238E27FC236}">
                <a16:creationId xmlns:a16="http://schemas.microsoft.com/office/drawing/2014/main" id="{3C224C1D-D819-E57E-F0F7-98D3E28052AC}"/>
              </a:ext>
            </a:extLst>
          </p:cNvPr>
          <p:cNvSpPr/>
          <p:nvPr/>
        </p:nvSpPr>
        <p:spPr>
          <a:xfrm flipH="1">
            <a:off x="1667162" y="2481904"/>
            <a:ext cx="875788" cy="611146"/>
          </a:xfrm>
          <a:custGeom>
            <a:avLst/>
            <a:gdLst>
              <a:gd name="connsiteX0" fmla="*/ 0 w 1653986"/>
              <a:gd name="connsiteY0" fmla="*/ 31807 h 517487"/>
              <a:gd name="connsiteX1" fmla="*/ 0 w 1653986"/>
              <a:gd name="connsiteY1" fmla="*/ 517487 h 517487"/>
              <a:gd name="connsiteX2" fmla="*/ 1090855 w 1653986"/>
              <a:gd name="connsiteY2" fmla="*/ 517487 h 517487"/>
              <a:gd name="connsiteX3" fmla="*/ 0 w 1653986"/>
              <a:gd name="connsiteY3" fmla="*/ 0 h 517487"/>
              <a:gd name="connsiteX4" fmla="*/ 0 w 1653986"/>
              <a:gd name="connsiteY4" fmla="*/ 282 h 517487"/>
              <a:gd name="connsiteX5" fmla="*/ 1161662 w 1653986"/>
              <a:gd name="connsiteY5" fmla="*/ 517487 h 517487"/>
              <a:gd name="connsiteX6" fmla="*/ 1653986 w 1653986"/>
              <a:gd name="connsiteY6" fmla="*/ 517487 h 517487"/>
              <a:gd name="connsiteX7" fmla="*/ 1150184 w 1653986"/>
              <a:gd name="connsiteY7" fmla="*/ 7643 h 517487"/>
              <a:gd name="connsiteX8" fmla="*/ 1150184 w 1653986"/>
              <a:gd name="connsiteY8" fmla="*/ 3959 h 517487"/>
              <a:gd name="connsiteX9" fmla="*/ 8848 w 1653986"/>
              <a:gd name="connsiteY9" fmla="*/ 3959 h 517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53986" h="517487">
                <a:moveTo>
                  <a:pt x="0" y="31807"/>
                </a:moveTo>
                <a:lnTo>
                  <a:pt x="0" y="517487"/>
                </a:lnTo>
                <a:lnTo>
                  <a:pt x="1090855" y="517487"/>
                </a:lnTo>
                <a:close/>
                <a:moveTo>
                  <a:pt x="0" y="0"/>
                </a:moveTo>
                <a:lnTo>
                  <a:pt x="0" y="282"/>
                </a:lnTo>
                <a:lnTo>
                  <a:pt x="1161662" y="517487"/>
                </a:lnTo>
                <a:lnTo>
                  <a:pt x="1653986" y="517487"/>
                </a:lnTo>
                <a:lnTo>
                  <a:pt x="1150184" y="7643"/>
                </a:lnTo>
                <a:lnTo>
                  <a:pt x="1150184" y="3959"/>
                </a:lnTo>
                <a:lnTo>
                  <a:pt x="8848" y="395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ja-JP" altLang="en-US" sz="6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4" name="４章文字">
            <a:extLst>
              <a:ext uri="{FF2B5EF4-FFF2-40B4-BE49-F238E27FC236}">
                <a16:creationId xmlns:a16="http://schemas.microsoft.com/office/drawing/2014/main" id="{B3454A1A-FD7E-13CA-4E3F-4E6F2308A642}"/>
              </a:ext>
            </a:extLst>
          </p:cNvPr>
          <p:cNvSpPr/>
          <p:nvPr/>
        </p:nvSpPr>
        <p:spPr>
          <a:xfrm>
            <a:off x="1849006" y="2694498"/>
            <a:ext cx="354855" cy="153888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ja-JP" altLang="en-US" sz="5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サービス・</a:t>
            </a:r>
            <a:endParaRPr lang="en-US" altLang="ja-JP" sz="5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r>
              <a:rPr lang="ja-JP" altLang="en-US" sz="5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業務企画</a:t>
            </a:r>
            <a:endParaRPr lang="en-US" altLang="ja-JP" sz="5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5" name="５章文字">
            <a:extLst>
              <a:ext uri="{FF2B5EF4-FFF2-40B4-BE49-F238E27FC236}">
                <a16:creationId xmlns:a16="http://schemas.microsoft.com/office/drawing/2014/main" id="{CE37A3F0-907A-7EDD-AD19-203C8AF279BE}"/>
              </a:ext>
            </a:extLst>
          </p:cNvPr>
          <p:cNvSpPr/>
          <p:nvPr/>
        </p:nvSpPr>
        <p:spPr>
          <a:xfrm>
            <a:off x="2172376" y="2956880"/>
            <a:ext cx="414390" cy="80087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5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要件定義</a:t>
            </a:r>
            <a:endParaRPr lang="en-US" altLang="ja-JP" sz="5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6" name="角丸四角形 47">
            <a:extLst>
              <a:ext uri="{FF2B5EF4-FFF2-40B4-BE49-F238E27FC236}">
                <a16:creationId xmlns:a16="http://schemas.microsoft.com/office/drawing/2014/main" id="{2E62D8FF-38D8-1410-5A1D-61F67FC3F806}"/>
              </a:ext>
            </a:extLst>
          </p:cNvPr>
          <p:cNvSpPr/>
          <p:nvPr/>
        </p:nvSpPr>
        <p:spPr>
          <a:xfrm>
            <a:off x="1345317" y="1477548"/>
            <a:ext cx="540410" cy="561994"/>
          </a:xfrm>
          <a:prstGeom prst="roundRect">
            <a:avLst>
              <a:gd name="adj" fmla="val 7628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計画</a:t>
            </a:r>
            <a:endParaRPr lang="en-US" altLang="ja-JP" sz="10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7" name="角丸四角形 48">
            <a:extLst>
              <a:ext uri="{FF2B5EF4-FFF2-40B4-BE49-F238E27FC236}">
                <a16:creationId xmlns:a16="http://schemas.microsoft.com/office/drawing/2014/main" id="{701647DB-50EF-B062-DE1A-B7E0AE828CE5}"/>
              </a:ext>
            </a:extLst>
          </p:cNvPr>
          <p:cNvSpPr/>
          <p:nvPr/>
        </p:nvSpPr>
        <p:spPr>
          <a:xfrm>
            <a:off x="1975391" y="1477548"/>
            <a:ext cx="1190835" cy="561994"/>
          </a:xfrm>
          <a:prstGeom prst="roundRect">
            <a:avLst>
              <a:gd name="adj" fmla="val 683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整備</a:t>
            </a:r>
          </a:p>
        </p:txBody>
      </p:sp>
      <p:sp>
        <p:nvSpPr>
          <p:cNvPr id="48" name="角丸四角形 49">
            <a:extLst>
              <a:ext uri="{FF2B5EF4-FFF2-40B4-BE49-F238E27FC236}">
                <a16:creationId xmlns:a16="http://schemas.microsoft.com/office/drawing/2014/main" id="{D3A0E410-86D8-9953-6A48-50AFE525BFFE}"/>
              </a:ext>
            </a:extLst>
          </p:cNvPr>
          <p:cNvSpPr/>
          <p:nvPr/>
        </p:nvSpPr>
        <p:spPr>
          <a:xfrm>
            <a:off x="3249706" y="1477548"/>
            <a:ext cx="2904986" cy="2623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運営</a:t>
            </a:r>
          </a:p>
        </p:txBody>
      </p:sp>
      <p:sp>
        <p:nvSpPr>
          <p:cNvPr id="49" name="角丸四角形 50">
            <a:extLst>
              <a:ext uri="{FF2B5EF4-FFF2-40B4-BE49-F238E27FC236}">
                <a16:creationId xmlns:a16="http://schemas.microsoft.com/office/drawing/2014/main" id="{18CE3FFE-B46A-DA5B-8BA5-CA8D174651E8}"/>
              </a:ext>
            </a:extLst>
          </p:cNvPr>
          <p:cNvSpPr/>
          <p:nvPr/>
        </p:nvSpPr>
        <p:spPr>
          <a:xfrm>
            <a:off x="3249706" y="1777226"/>
            <a:ext cx="2904986" cy="26231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0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状況把握</a:t>
            </a:r>
          </a:p>
        </p:txBody>
      </p:sp>
      <p:sp>
        <p:nvSpPr>
          <p:cNvPr id="50" name="委託２（保守）">
            <a:extLst>
              <a:ext uri="{FF2B5EF4-FFF2-40B4-BE49-F238E27FC236}">
                <a16:creationId xmlns:a16="http://schemas.microsoft.com/office/drawing/2014/main" id="{760A03BE-97FD-BD86-FD65-395576576101}"/>
              </a:ext>
            </a:extLst>
          </p:cNvPr>
          <p:cNvSpPr/>
          <p:nvPr/>
        </p:nvSpPr>
        <p:spPr>
          <a:xfrm>
            <a:off x="2931091" y="4347900"/>
            <a:ext cx="912975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6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サービス利用</a:t>
            </a:r>
            <a:endParaRPr lang="en-US" altLang="ja-JP" sz="6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grpSp>
        <p:nvGrpSpPr>
          <p:cNvPr id="251" name="グループ化 250">
            <a:extLst>
              <a:ext uri="{FF2B5EF4-FFF2-40B4-BE49-F238E27FC236}">
                <a16:creationId xmlns:a16="http://schemas.microsoft.com/office/drawing/2014/main" id="{D8B35909-C54D-D83B-37FC-6BC49040551F}"/>
              </a:ext>
            </a:extLst>
          </p:cNvPr>
          <p:cNvGrpSpPr/>
          <p:nvPr/>
        </p:nvGrpSpPr>
        <p:grpSpPr>
          <a:xfrm>
            <a:off x="3257325" y="4629142"/>
            <a:ext cx="1212195" cy="252000"/>
            <a:chOff x="2979419" y="4557422"/>
            <a:chExt cx="1212195" cy="252000"/>
          </a:xfrm>
        </p:grpSpPr>
        <p:sp>
          <p:nvSpPr>
            <p:cNvPr id="52" name="調達（保守運用）">
              <a:extLst>
                <a:ext uri="{FF2B5EF4-FFF2-40B4-BE49-F238E27FC236}">
                  <a16:creationId xmlns:a16="http://schemas.microsoft.com/office/drawing/2014/main" id="{8642316B-4BDB-2515-C09C-935EA32D5852}"/>
                </a:ext>
              </a:extLst>
            </p:cNvPr>
            <p:cNvSpPr/>
            <p:nvPr/>
          </p:nvSpPr>
          <p:spPr>
            <a:xfrm>
              <a:off x="3394177" y="4557422"/>
              <a:ext cx="179194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調達</a:t>
              </a:r>
            </a:p>
          </p:txBody>
        </p:sp>
        <p:sp>
          <p:nvSpPr>
            <p:cNvPr id="53" name="予算要求（保守運用）">
              <a:extLst>
                <a:ext uri="{FF2B5EF4-FFF2-40B4-BE49-F238E27FC236}">
                  <a16:creationId xmlns:a16="http://schemas.microsoft.com/office/drawing/2014/main" id="{2B7D8445-1AB4-A8A8-BF0D-E3171D57AE69}"/>
                </a:ext>
              </a:extLst>
            </p:cNvPr>
            <p:cNvSpPr/>
            <p:nvPr/>
          </p:nvSpPr>
          <p:spPr>
            <a:xfrm>
              <a:off x="2979419" y="4557422"/>
              <a:ext cx="260327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4290" rIns="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予算</a:t>
              </a:r>
              <a:br>
                <a:rPr lang="en-US" altLang="ja-JP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</a:br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要求</a:t>
              </a:r>
            </a:p>
          </p:txBody>
        </p:sp>
        <p:cxnSp>
          <p:nvCxnSpPr>
            <p:cNvPr id="54" name="コネクタ（保守運用）">
              <a:extLst>
                <a:ext uri="{FF2B5EF4-FFF2-40B4-BE49-F238E27FC236}">
                  <a16:creationId xmlns:a16="http://schemas.microsoft.com/office/drawing/2014/main" id="{8D67B69C-237D-93B3-500A-7A50F24A3011}"/>
                </a:ext>
              </a:extLst>
            </p:cNvPr>
            <p:cNvCxnSpPr>
              <a:cxnSpLocks/>
              <a:stCxn id="53" idx="3"/>
              <a:endCxn id="52" idx="1"/>
            </p:cNvCxnSpPr>
            <p:nvPr/>
          </p:nvCxnSpPr>
          <p:spPr>
            <a:xfrm>
              <a:off x="3239746" y="4683422"/>
              <a:ext cx="154431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委託２（保守）">
              <a:extLst>
                <a:ext uri="{FF2B5EF4-FFF2-40B4-BE49-F238E27FC236}">
                  <a16:creationId xmlns:a16="http://schemas.microsoft.com/office/drawing/2014/main" id="{2E84A971-7812-348F-B504-1C41A02F14FB}"/>
                </a:ext>
              </a:extLst>
            </p:cNvPr>
            <p:cNvSpPr/>
            <p:nvPr/>
          </p:nvSpPr>
          <p:spPr>
            <a:xfrm>
              <a:off x="3567657" y="4557422"/>
              <a:ext cx="623957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サービス利用</a:t>
              </a:r>
              <a:endParaRPr lang="en-US" altLang="ja-JP" sz="6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</p:grpSp>
      <p:sp>
        <p:nvSpPr>
          <p:cNvPr id="69" name="１１章">
            <a:extLst>
              <a:ext uri="{FF2B5EF4-FFF2-40B4-BE49-F238E27FC236}">
                <a16:creationId xmlns:a16="http://schemas.microsoft.com/office/drawing/2014/main" id="{80FC4DA4-8A58-EEF5-13F2-01045E28AD78}"/>
              </a:ext>
            </a:extLst>
          </p:cNvPr>
          <p:cNvSpPr/>
          <p:nvPr/>
        </p:nvSpPr>
        <p:spPr>
          <a:xfrm>
            <a:off x="2057706" y="5561930"/>
            <a:ext cx="3704060" cy="264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120000"/>
              </a:lnSpc>
            </a:pPr>
            <a:r>
              <a:rPr lang="ja-JP" altLang="en-US" sz="8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              システム監査</a:t>
            </a:r>
          </a:p>
        </p:txBody>
      </p:sp>
      <p:graphicFrame>
        <p:nvGraphicFramePr>
          <p:cNvPr id="185" name="Group 6">
            <a:extLst>
              <a:ext uri="{FF2B5EF4-FFF2-40B4-BE49-F238E27FC236}">
                <a16:creationId xmlns:a16="http://schemas.microsoft.com/office/drawing/2014/main" id="{760E0126-BF07-E61B-3F8E-F82C8EB30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42412"/>
              </p:ext>
            </p:extLst>
          </p:nvPr>
        </p:nvGraphicFramePr>
        <p:xfrm>
          <a:off x="6699026" y="1008119"/>
          <a:ext cx="4176000" cy="5603794"/>
        </p:xfrm>
        <a:graphic>
          <a:graphicData uri="http://schemas.openxmlformats.org/drawingml/2006/table">
            <a:tbl>
              <a:tblPr/>
              <a:tblGrid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94760989"/>
                    </a:ext>
                  </a:extLst>
                </a:gridCol>
              </a:tblGrid>
              <a:tr h="55405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Segoe UI"/>
                          <a:ea typeface="游ゴシック Medium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2</a:t>
                      </a: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プロジェクトの管理</a:t>
                      </a:r>
                      <a:endParaRPr kumimoji="1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プロジェクトの立ち上げ及び初動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プロジェクト計画の策定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デジタル庁によるレビュー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プロジェクトの終結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一元的なプロジェクト監理</a:t>
                      </a: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3086"/>
                  </a:ext>
                </a:extLst>
              </a:tr>
              <a:tr h="5540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3</a:t>
                      </a: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予算及び執行</a:t>
                      </a:r>
                      <a:endParaRPr kumimoji="1" lang="zh-TW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予算要求の対象の特定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経費の見積り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en-US" altLang="ja-JP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PMO</a:t>
                      </a: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との調整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デジタル庁による確認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概算要求作業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629921"/>
                  </a:ext>
                </a:extLst>
              </a:tr>
              <a:tr h="35519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4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サービス・業務企画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現状の把握と分析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サービス・業務企画内容の検討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業務要件の定義</a:t>
                      </a: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737471"/>
                  </a:ext>
                </a:extLst>
              </a:tr>
              <a:tr h="264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5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要件定義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要件定義の準備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要件定義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7511636"/>
                  </a:ext>
                </a:extLst>
              </a:tr>
              <a:tr h="6376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6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調達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調達の計画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調達仕様書の作成等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en-US" altLang="ja-JP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RFP</a:t>
                      </a: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・公告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審査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入開札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契約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検収</a:t>
                      </a: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699914"/>
                  </a:ext>
                </a:extLst>
              </a:tr>
              <a:tr h="8047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7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設計・開発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設計・開発実施計画の策定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設計・開発工程に入る前の要件定義の内容の調整・確定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設計の実施・管理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開発・テストの実施・管理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受入テストの実施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移行の実施・管理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引継ぎ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検査・納品管理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696633"/>
                  </a:ext>
                </a:extLst>
              </a:tr>
              <a:tr h="3869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8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サービス・業務の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運営と改善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サービス・業務の運営準備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サービス・業務の運営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サービス・業務の改善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情報システムの改善</a:t>
                      </a:r>
                      <a:endParaRPr kumimoji="1" lang="en-US" altLang="ja-JP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ＭＳ Ｐゴシック" panose="020B0600070205080204" pitchFamily="50" charset="-128"/>
                        <a:ea typeface="ＭＳ Ｐゴシック" panose="020B0600070205080204" pitchFamily="50" charset="-128"/>
                        <a:cs typeface="Segoe UI" panose="020B0502040204020203" pitchFamily="34" charset="0"/>
                      </a:endParaRP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996344"/>
                  </a:ext>
                </a:extLst>
              </a:tr>
              <a:tr h="3869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9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運用及び保守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運用開始前の準備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運用及び保守の実施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運用及び保守の改善</a:t>
                      </a:r>
                    </a:p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運用及び保守の引継ぎ</a:t>
                      </a: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494361"/>
                  </a:ext>
                </a:extLst>
              </a:tr>
              <a:tr h="2991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6E5A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第</a:t>
                      </a:r>
                      <a: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10</a:t>
                      </a: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1964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章</a:t>
                      </a:r>
                      <a:br>
                        <a:rPr kumimoji="1" lang="en-US" altLang="ja-JP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</a:br>
                      <a:r>
                        <a:rPr kumimoji="1" lang="ja-JP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システム監査</a:t>
                      </a:r>
                    </a:p>
                  </a:txBody>
                  <a:tcPr marL="126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6ECFF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7D9CFF"/>
                        </a:buClr>
                        <a:buSzPct val="80000"/>
                        <a:buFont typeface="Wingdings" panose="05000000000000000000" pitchFamily="2" charset="2"/>
                        <a:buChar char="l"/>
                        <a:tabLst/>
                      </a:pPr>
                      <a:r>
                        <a:rPr kumimoji="1" lang="ja-JP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50" charset="-128"/>
                          <a:ea typeface="ＭＳ Ｐゴシック" panose="020B0600070205080204" pitchFamily="50" charset="-128"/>
                          <a:cs typeface="Segoe UI" panose="020B0502040204020203" pitchFamily="34" charset="0"/>
                        </a:rPr>
                        <a:t>システム監査</a:t>
                      </a:r>
                    </a:p>
                  </a:txBody>
                  <a:tcPr marL="144000" marR="0" marT="36000" marB="36000" anchor="ctr" horzOverflow="overflow">
                    <a:lnL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D9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823771"/>
                  </a:ext>
                </a:extLst>
              </a:tr>
            </a:tbl>
          </a:graphicData>
        </a:graphic>
      </p:graphicFrame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A1E32D81-27A7-21B1-ECD0-464E05DC41C3}"/>
              </a:ext>
            </a:extLst>
          </p:cNvPr>
          <p:cNvGrpSpPr/>
          <p:nvPr/>
        </p:nvGrpSpPr>
        <p:grpSpPr>
          <a:xfrm>
            <a:off x="6245856" y="1835652"/>
            <a:ext cx="208285" cy="4667345"/>
            <a:chOff x="5967950" y="1763932"/>
            <a:chExt cx="208285" cy="4667345"/>
          </a:xfrm>
        </p:grpSpPr>
        <p:sp>
          <p:nvSpPr>
            <p:cNvPr id="36" name="波線の角隠し">
              <a:extLst>
                <a:ext uri="{FF2B5EF4-FFF2-40B4-BE49-F238E27FC236}">
                  <a16:creationId xmlns:a16="http://schemas.microsoft.com/office/drawing/2014/main" id="{10E9937A-A192-3D5F-8C29-91480E066C6D}"/>
                </a:ext>
              </a:extLst>
            </p:cNvPr>
            <p:cNvSpPr/>
            <p:nvPr/>
          </p:nvSpPr>
          <p:spPr>
            <a:xfrm>
              <a:off x="6116669" y="1772652"/>
              <a:ext cx="59566" cy="46586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600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  <p:sp>
          <p:nvSpPr>
            <p:cNvPr id="38" name="波線">
              <a:extLst>
                <a:ext uri="{FF2B5EF4-FFF2-40B4-BE49-F238E27FC236}">
                  <a16:creationId xmlns:a16="http://schemas.microsoft.com/office/drawing/2014/main" id="{EF54B353-C933-98A4-2C02-5F488C4C9BC9}"/>
                </a:ext>
              </a:extLst>
            </p:cNvPr>
            <p:cNvSpPr>
              <a:spLocks/>
            </p:cNvSpPr>
            <p:nvPr/>
          </p:nvSpPr>
          <p:spPr bwMode="auto">
            <a:xfrm rot="16200000">
              <a:off x="3708047" y="4023835"/>
              <a:ext cx="4667344" cy="147538"/>
            </a:xfrm>
            <a:custGeom>
              <a:avLst/>
              <a:gdLst>
                <a:gd name="T0" fmla="*/ 0 w 5806"/>
                <a:gd name="T1" fmla="*/ 91 h 91"/>
                <a:gd name="T2" fmla="*/ 181 w 5806"/>
                <a:gd name="T3" fmla="*/ 0 h 91"/>
                <a:gd name="T4" fmla="*/ 363 w 5806"/>
                <a:gd name="T5" fmla="*/ 91 h 91"/>
                <a:gd name="T6" fmla="*/ 544 w 5806"/>
                <a:gd name="T7" fmla="*/ 0 h 91"/>
                <a:gd name="T8" fmla="*/ 726 w 5806"/>
                <a:gd name="T9" fmla="*/ 91 h 91"/>
                <a:gd name="T10" fmla="*/ 907 w 5806"/>
                <a:gd name="T11" fmla="*/ 0 h 91"/>
                <a:gd name="T12" fmla="*/ 1089 w 5806"/>
                <a:gd name="T13" fmla="*/ 91 h 91"/>
                <a:gd name="T14" fmla="*/ 1270 w 5806"/>
                <a:gd name="T15" fmla="*/ 0 h 91"/>
                <a:gd name="T16" fmla="*/ 1451 w 5806"/>
                <a:gd name="T17" fmla="*/ 91 h 91"/>
                <a:gd name="T18" fmla="*/ 1633 w 5806"/>
                <a:gd name="T19" fmla="*/ 0 h 91"/>
                <a:gd name="T20" fmla="*/ 1814 w 5806"/>
                <a:gd name="T21" fmla="*/ 91 h 91"/>
                <a:gd name="T22" fmla="*/ 1996 w 5806"/>
                <a:gd name="T23" fmla="*/ 0 h 91"/>
                <a:gd name="T24" fmla="*/ 2177 w 5806"/>
                <a:gd name="T25" fmla="*/ 91 h 91"/>
                <a:gd name="T26" fmla="*/ 2359 w 5806"/>
                <a:gd name="T27" fmla="*/ 0 h 91"/>
                <a:gd name="T28" fmla="*/ 2540 w 5806"/>
                <a:gd name="T29" fmla="*/ 91 h 91"/>
                <a:gd name="T30" fmla="*/ 2722 w 5806"/>
                <a:gd name="T31" fmla="*/ 0 h 91"/>
                <a:gd name="T32" fmla="*/ 2903 w 5806"/>
                <a:gd name="T33" fmla="*/ 91 h 91"/>
                <a:gd name="T34" fmla="*/ 3084 w 5806"/>
                <a:gd name="T35" fmla="*/ 0 h 91"/>
                <a:gd name="T36" fmla="*/ 3266 w 5806"/>
                <a:gd name="T37" fmla="*/ 91 h 91"/>
                <a:gd name="T38" fmla="*/ 3447 w 5806"/>
                <a:gd name="T39" fmla="*/ 0 h 91"/>
                <a:gd name="T40" fmla="*/ 3629 w 5806"/>
                <a:gd name="T41" fmla="*/ 91 h 91"/>
                <a:gd name="T42" fmla="*/ 3810 w 5806"/>
                <a:gd name="T43" fmla="*/ 0 h 91"/>
                <a:gd name="T44" fmla="*/ 3992 w 5806"/>
                <a:gd name="T45" fmla="*/ 91 h 91"/>
                <a:gd name="T46" fmla="*/ 4173 w 5806"/>
                <a:gd name="T47" fmla="*/ 0 h 91"/>
                <a:gd name="T48" fmla="*/ 4355 w 5806"/>
                <a:gd name="T49" fmla="*/ 91 h 91"/>
                <a:gd name="T50" fmla="*/ 4536 w 5806"/>
                <a:gd name="T51" fmla="*/ 0 h 91"/>
                <a:gd name="T52" fmla="*/ 4717 w 5806"/>
                <a:gd name="T53" fmla="*/ 91 h 91"/>
                <a:gd name="T54" fmla="*/ 4899 w 5806"/>
                <a:gd name="T55" fmla="*/ 0 h 91"/>
                <a:gd name="T56" fmla="*/ 5080 w 5806"/>
                <a:gd name="T57" fmla="*/ 91 h 91"/>
                <a:gd name="T58" fmla="*/ 5262 w 5806"/>
                <a:gd name="T59" fmla="*/ 0 h 91"/>
                <a:gd name="T60" fmla="*/ 5443 w 5806"/>
                <a:gd name="T61" fmla="*/ 91 h 91"/>
                <a:gd name="T62" fmla="*/ 5625 w 5806"/>
                <a:gd name="T63" fmla="*/ 0 h 91"/>
                <a:gd name="T64" fmla="*/ 5806 w 5806"/>
                <a:gd name="T65" fmla="*/ 9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806" h="91">
                  <a:moveTo>
                    <a:pt x="0" y="91"/>
                  </a:moveTo>
                  <a:cubicBezTo>
                    <a:pt x="60" y="45"/>
                    <a:pt x="121" y="0"/>
                    <a:pt x="181" y="0"/>
                  </a:cubicBezTo>
                  <a:cubicBezTo>
                    <a:pt x="241" y="0"/>
                    <a:pt x="303" y="91"/>
                    <a:pt x="363" y="91"/>
                  </a:cubicBezTo>
                  <a:cubicBezTo>
                    <a:pt x="423" y="91"/>
                    <a:pt x="484" y="0"/>
                    <a:pt x="544" y="0"/>
                  </a:cubicBezTo>
                  <a:cubicBezTo>
                    <a:pt x="604" y="0"/>
                    <a:pt x="666" y="91"/>
                    <a:pt x="726" y="91"/>
                  </a:cubicBezTo>
                  <a:cubicBezTo>
                    <a:pt x="786" y="91"/>
                    <a:pt x="847" y="0"/>
                    <a:pt x="907" y="0"/>
                  </a:cubicBezTo>
                  <a:cubicBezTo>
                    <a:pt x="967" y="0"/>
                    <a:pt x="1029" y="91"/>
                    <a:pt x="1089" y="91"/>
                  </a:cubicBezTo>
                  <a:cubicBezTo>
                    <a:pt x="1149" y="91"/>
                    <a:pt x="1210" y="0"/>
                    <a:pt x="1270" y="0"/>
                  </a:cubicBezTo>
                  <a:cubicBezTo>
                    <a:pt x="1330" y="0"/>
                    <a:pt x="1391" y="91"/>
                    <a:pt x="1451" y="91"/>
                  </a:cubicBezTo>
                  <a:cubicBezTo>
                    <a:pt x="1511" y="91"/>
                    <a:pt x="1573" y="0"/>
                    <a:pt x="1633" y="0"/>
                  </a:cubicBezTo>
                  <a:cubicBezTo>
                    <a:pt x="1693" y="0"/>
                    <a:pt x="1754" y="91"/>
                    <a:pt x="1814" y="91"/>
                  </a:cubicBezTo>
                  <a:cubicBezTo>
                    <a:pt x="1874" y="91"/>
                    <a:pt x="1936" y="0"/>
                    <a:pt x="1996" y="0"/>
                  </a:cubicBezTo>
                  <a:cubicBezTo>
                    <a:pt x="2056" y="0"/>
                    <a:pt x="2117" y="91"/>
                    <a:pt x="2177" y="91"/>
                  </a:cubicBezTo>
                  <a:cubicBezTo>
                    <a:pt x="2237" y="91"/>
                    <a:pt x="2299" y="0"/>
                    <a:pt x="2359" y="0"/>
                  </a:cubicBezTo>
                  <a:cubicBezTo>
                    <a:pt x="2419" y="0"/>
                    <a:pt x="2480" y="91"/>
                    <a:pt x="2540" y="91"/>
                  </a:cubicBezTo>
                  <a:cubicBezTo>
                    <a:pt x="2600" y="91"/>
                    <a:pt x="2662" y="0"/>
                    <a:pt x="2722" y="0"/>
                  </a:cubicBezTo>
                  <a:cubicBezTo>
                    <a:pt x="2782" y="0"/>
                    <a:pt x="2843" y="91"/>
                    <a:pt x="2903" y="91"/>
                  </a:cubicBezTo>
                  <a:cubicBezTo>
                    <a:pt x="2963" y="91"/>
                    <a:pt x="3024" y="0"/>
                    <a:pt x="3084" y="0"/>
                  </a:cubicBezTo>
                  <a:cubicBezTo>
                    <a:pt x="3144" y="0"/>
                    <a:pt x="3206" y="91"/>
                    <a:pt x="3266" y="91"/>
                  </a:cubicBezTo>
                  <a:cubicBezTo>
                    <a:pt x="3326" y="91"/>
                    <a:pt x="3387" y="0"/>
                    <a:pt x="3447" y="0"/>
                  </a:cubicBezTo>
                  <a:cubicBezTo>
                    <a:pt x="3507" y="0"/>
                    <a:pt x="3569" y="91"/>
                    <a:pt x="3629" y="91"/>
                  </a:cubicBezTo>
                  <a:cubicBezTo>
                    <a:pt x="3689" y="91"/>
                    <a:pt x="3750" y="0"/>
                    <a:pt x="3810" y="0"/>
                  </a:cubicBezTo>
                  <a:cubicBezTo>
                    <a:pt x="3870" y="0"/>
                    <a:pt x="3932" y="91"/>
                    <a:pt x="3992" y="91"/>
                  </a:cubicBezTo>
                  <a:cubicBezTo>
                    <a:pt x="4052" y="91"/>
                    <a:pt x="4113" y="0"/>
                    <a:pt x="4173" y="0"/>
                  </a:cubicBezTo>
                  <a:cubicBezTo>
                    <a:pt x="4233" y="0"/>
                    <a:pt x="4295" y="91"/>
                    <a:pt x="4355" y="91"/>
                  </a:cubicBezTo>
                  <a:cubicBezTo>
                    <a:pt x="4415" y="91"/>
                    <a:pt x="4476" y="0"/>
                    <a:pt x="4536" y="0"/>
                  </a:cubicBezTo>
                  <a:cubicBezTo>
                    <a:pt x="4596" y="0"/>
                    <a:pt x="4657" y="91"/>
                    <a:pt x="4717" y="91"/>
                  </a:cubicBezTo>
                  <a:cubicBezTo>
                    <a:pt x="4777" y="91"/>
                    <a:pt x="4839" y="0"/>
                    <a:pt x="4899" y="0"/>
                  </a:cubicBezTo>
                  <a:cubicBezTo>
                    <a:pt x="4959" y="0"/>
                    <a:pt x="5020" y="91"/>
                    <a:pt x="5080" y="91"/>
                  </a:cubicBezTo>
                  <a:cubicBezTo>
                    <a:pt x="5140" y="91"/>
                    <a:pt x="5202" y="0"/>
                    <a:pt x="5262" y="0"/>
                  </a:cubicBezTo>
                  <a:cubicBezTo>
                    <a:pt x="5322" y="0"/>
                    <a:pt x="5383" y="91"/>
                    <a:pt x="5443" y="91"/>
                  </a:cubicBezTo>
                  <a:cubicBezTo>
                    <a:pt x="5503" y="91"/>
                    <a:pt x="5565" y="0"/>
                    <a:pt x="5625" y="0"/>
                  </a:cubicBezTo>
                  <a:cubicBezTo>
                    <a:pt x="5685" y="0"/>
                    <a:pt x="5745" y="45"/>
                    <a:pt x="5806" y="91"/>
                  </a:cubicBezTo>
                </a:path>
              </a:pathLst>
            </a:cu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ja-JP" altLang="en-US" sz="600"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</p:grpSp>
      <p:sp>
        <p:nvSpPr>
          <p:cNvPr id="15" name="フリーフォーム 52">
            <a:extLst>
              <a:ext uri="{FF2B5EF4-FFF2-40B4-BE49-F238E27FC236}">
                <a16:creationId xmlns:a16="http://schemas.microsoft.com/office/drawing/2014/main" id="{9374489F-2704-238F-174F-12A3958219FC}"/>
              </a:ext>
            </a:extLst>
          </p:cNvPr>
          <p:cNvSpPr/>
          <p:nvPr/>
        </p:nvSpPr>
        <p:spPr>
          <a:xfrm flipV="1">
            <a:off x="2583568" y="2485714"/>
            <a:ext cx="3178198" cy="295596"/>
          </a:xfrm>
          <a:custGeom>
            <a:avLst/>
            <a:gdLst>
              <a:gd name="connsiteX0" fmla="*/ 499006 w 2526574"/>
              <a:gd name="connsiteY0" fmla="*/ 0 h 237051"/>
              <a:gd name="connsiteX1" fmla="*/ 2526574 w 2526574"/>
              <a:gd name="connsiteY1" fmla="*/ 0 h 237051"/>
              <a:gd name="connsiteX2" fmla="*/ 2526574 w 2526574"/>
              <a:gd name="connsiteY2" fmla="*/ 237051 h 237051"/>
              <a:gd name="connsiteX3" fmla="*/ 499006 w 2526574"/>
              <a:gd name="connsiteY3" fmla="*/ 237051 h 237051"/>
              <a:gd name="connsiteX4" fmla="*/ 499006 w 2526574"/>
              <a:gd name="connsiteY4" fmla="*/ 236788 h 237051"/>
              <a:gd name="connsiteX5" fmla="*/ 0 w 2526574"/>
              <a:gd name="connsiteY5" fmla="*/ 236788 h 237051"/>
              <a:gd name="connsiteX6" fmla="*/ 0 w 2526574"/>
              <a:gd name="connsiteY6" fmla="*/ 147606 h 237051"/>
              <a:gd name="connsiteX7" fmla="*/ 499006 w 2526574"/>
              <a:gd name="connsiteY7" fmla="*/ 147606 h 23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6574" h="237051">
                <a:moveTo>
                  <a:pt x="499006" y="0"/>
                </a:moveTo>
                <a:lnTo>
                  <a:pt x="2526574" y="0"/>
                </a:lnTo>
                <a:lnTo>
                  <a:pt x="2526574" y="237051"/>
                </a:lnTo>
                <a:lnTo>
                  <a:pt x="499006" y="237051"/>
                </a:lnTo>
                <a:lnTo>
                  <a:pt x="499006" y="236788"/>
                </a:lnTo>
                <a:lnTo>
                  <a:pt x="0" y="236788"/>
                </a:lnTo>
                <a:lnTo>
                  <a:pt x="0" y="147606"/>
                </a:lnTo>
                <a:lnTo>
                  <a:pt x="499006" y="14760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ja-JP" altLang="en-US" sz="6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1" name="５章文字">
            <a:extLst>
              <a:ext uri="{FF2B5EF4-FFF2-40B4-BE49-F238E27FC236}">
                <a16:creationId xmlns:a16="http://schemas.microsoft.com/office/drawing/2014/main" id="{CA8C44F2-59AC-39C0-E354-4ADC4DFDDB64}"/>
              </a:ext>
            </a:extLst>
          </p:cNvPr>
          <p:cNvSpPr/>
          <p:nvPr/>
        </p:nvSpPr>
        <p:spPr>
          <a:xfrm>
            <a:off x="3967892" y="2571957"/>
            <a:ext cx="1470660" cy="123111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ja-JP" altLang="en-US" sz="8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サービス・業務の運営と改善</a:t>
            </a:r>
          </a:p>
        </p:txBody>
      </p:sp>
      <p:sp>
        <p:nvSpPr>
          <p:cNvPr id="31" name="調達（保守運用）">
            <a:extLst>
              <a:ext uri="{FF2B5EF4-FFF2-40B4-BE49-F238E27FC236}">
                <a16:creationId xmlns:a16="http://schemas.microsoft.com/office/drawing/2014/main" id="{D0CF3B63-B6FC-B238-4EF0-F26E549E1FF1}"/>
              </a:ext>
            </a:extLst>
          </p:cNvPr>
          <p:cNvSpPr/>
          <p:nvPr/>
        </p:nvSpPr>
        <p:spPr>
          <a:xfrm>
            <a:off x="2717994" y="4131337"/>
            <a:ext cx="179194" cy="4333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調達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47951A2E-6BDF-6D45-C47A-496A214B0801}"/>
              </a:ext>
            </a:extLst>
          </p:cNvPr>
          <p:cNvCxnSpPr>
            <a:cxnSpLocks/>
          </p:cNvCxnSpPr>
          <p:nvPr/>
        </p:nvCxnSpPr>
        <p:spPr>
          <a:xfrm>
            <a:off x="2240056" y="4347987"/>
            <a:ext cx="470535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予算要求（保守運用）">
            <a:extLst>
              <a:ext uri="{FF2B5EF4-FFF2-40B4-BE49-F238E27FC236}">
                <a16:creationId xmlns:a16="http://schemas.microsoft.com/office/drawing/2014/main" id="{1A050A24-35F7-2A74-6ED4-B27403B6A8ED}"/>
              </a:ext>
            </a:extLst>
          </p:cNvPr>
          <p:cNvSpPr/>
          <p:nvPr/>
        </p:nvSpPr>
        <p:spPr>
          <a:xfrm>
            <a:off x="1981181" y="4131987"/>
            <a:ext cx="277340" cy="4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34290" rIns="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予算</a:t>
            </a:r>
            <a:br>
              <a:rPr lang="en-US" altLang="ja-JP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</a:br>
            <a:r>
              <a:rPr lang="ja-JP" altLang="en-US" sz="6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要求</a:t>
            </a:r>
          </a:p>
        </p:txBody>
      </p:sp>
      <p:sp>
        <p:nvSpPr>
          <p:cNvPr id="22" name="角丸四角形 47">
            <a:extLst>
              <a:ext uri="{FF2B5EF4-FFF2-40B4-BE49-F238E27FC236}">
                <a16:creationId xmlns:a16="http://schemas.microsoft.com/office/drawing/2014/main" id="{C6B0DE89-165B-5697-C4B0-A48900517267}"/>
              </a:ext>
            </a:extLst>
          </p:cNvPr>
          <p:cNvSpPr/>
          <p:nvPr/>
        </p:nvSpPr>
        <p:spPr>
          <a:xfrm>
            <a:off x="2968377" y="2181887"/>
            <a:ext cx="438809" cy="189353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2</a:t>
            </a:r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8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25" name="角丸四角形 47">
            <a:extLst>
              <a:ext uri="{FF2B5EF4-FFF2-40B4-BE49-F238E27FC236}">
                <a16:creationId xmlns:a16="http://schemas.microsoft.com/office/drawing/2014/main" id="{552BD733-EB38-853D-0CB9-0E19711B9CBC}"/>
              </a:ext>
            </a:extLst>
          </p:cNvPr>
          <p:cNvSpPr/>
          <p:nvPr/>
        </p:nvSpPr>
        <p:spPr>
          <a:xfrm>
            <a:off x="3429387" y="2538112"/>
            <a:ext cx="438809" cy="190800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8</a:t>
            </a:r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8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30" name="角丸四角形 47">
            <a:extLst>
              <a:ext uri="{FF2B5EF4-FFF2-40B4-BE49-F238E27FC236}">
                <a16:creationId xmlns:a16="http://schemas.microsoft.com/office/drawing/2014/main" id="{AB1DB4D8-636A-B2E4-89F8-A1C33361E17E}"/>
              </a:ext>
            </a:extLst>
          </p:cNvPr>
          <p:cNvSpPr/>
          <p:nvPr/>
        </p:nvSpPr>
        <p:spPr>
          <a:xfrm>
            <a:off x="2672150" y="2660032"/>
            <a:ext cx="438809" cy="135838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7</a:t>
            </a:r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6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32" name="角丸四角形 47">
            <a:extLst>
              <a:ext uri="{FF2B5EF4-FFF2-40B4-BE49-F238E27FC236}">
                <a16:creationId xmlns:a16="http://schemas.microsoft.com/office/drawing/2014/main" id="{4EFBFB66-CBB6-62F6-F271-81A31413D0C3}"/>
              </a:ext>
            </a:extLst>
          </p:cNvPr>
          <p:cNvSpPr/>
          <p:nvPr/>
        </p:nvSpPr>
        <p:spPr>
          <a:xfrm>
            <a:off x="2240196" y="2799097"/>
            <a:ext cx="278751" cy="135838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5</a:t>
            </a:r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6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34" name="角丸四角形 47">
            <a:extLst>
              <a:ext uri="{FF2B5EF4-FFF2-40B4-BE49-F238E27FC236}">
                <a16:creationId xmlns:a16="http://schemas.microsoft.com/office/drawing/2014/main" id="{69D9AB90-D3F9-6ECA-6849-58CC9174372A}"/>
              </a:ext>
            </a:extLst>
          </p:cNvPr>
          <p:cNvSpPr/>
          <p:nvPr/>
        </p:nvSpPr>
        <p:spPr>
          <a:xfrm>
            <a:off x="1881391" y="2538112"/>
            <a:ext cx="278751" cy="135838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4</a:t>
            </a:r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6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40" name="角丸四角形 47">
            <a:extLst>
              <a:ext uri="{FF2B5EF4-FFF2-40B4-BE49-F238E27FC236}">
                <a16:creationId xmlns:a16="http://schemas.microsoft.com/office/drawing/2014/main" id="{45ABC88B-0D3D-C2D0-49FB-CFFF3DABA2BA}"/>
              </a:ext>
            </a:extLst>
          </p:cNvPr>
          <p:cNvSpPr/>
          <p:nvPr/>
        </p:nvSpPr>
        <p:spPr>
          <a:xfrm>
            <a:off x="1979770" y="3817002"/>
            <a:ext cx="278751" cy="135838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3</a:t>
            </a:r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6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34" name="委託２（保守）">
            <a:extLst>
              <a:ext uri="{FF2B5EF4-FFF2-40B4-BE49-F238E27FC236}">
                <a16:creationId xmlns:a16="http://schemas.microsoft.com/office/drawing/2014/main" id="{303B8FC9-B459-B749-5222-47C534E4CEB7}"/>
              </a:ext>
            </a:extLst>
          </p:cNvPr>
          <p:cNvSpPr/>
          <p:nvPr/>
        </p:nvSpPr>
        <p:spPr>
          <a:xfrm>
            <a:off x="2931091" y="4131337"/>
            <a:ext cx="2825505" cy="216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0000"/>
              </a:lnSpc>
            </a:pPr>
            <a:r>
              <a:rPr lang="ja-JP" altLang="en-US" sz="6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賃貸借・保守（ハードウェア・ソフトウェア等）</a:t>
            </a:r>
            <a:endParaRPr lang="en-US" altLang="ja-JP" sz="600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48" name="角丸四角形 47">
            <a:extLst>
              <a:ext uri="{FF2B5EF4-FFF2-40B4-BE49-F238E27FC236}">
                <a16:creationId xmlns:a16="http://schemas.microsoft.com/office/drawing/2014/main" id="{72E1B2FD-F915-AD9A-9F62-5764C8323705}"/>
              </a:ext>
            </a:extLst>
          </p:cNvPr>
          <p:cNvSpPr/>
          <p:nvPr/>
        </p:nvSpPr>
        <p:spPr>
          <a:xfrm>
            <a:off x="2379820" y="3817002"/>
            <a:ext cx="278751" cy="135838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6</a:t>
            </a:r>
            <a:r>
              <a:rPr lang="ja-JP" altLang="en-US" sz="6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6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250" name="角丸四角形 47">
            <a:extLst>
              <a:ext uri="{FF2B5EF4-FFF2-40B4-BE49-F238E27FC236}">
                <a16:creationId xmlns:a16="http://schemas.microsoft.com/office/drawing/2014/main" id="{04348A61-C198-42BD-5D2B-1F96F69D9A6D}"/>
              </a:ext>
            </a:extLst>
          </p:cNvPr>
          <p:cNvSpPr/>
          <p:nvPr/>
        </p:nvSpPr>
        <p:spPr>
          <a:xfrm>
            <a:off x="3429387" y="5599651"/>
            <a:ext cx="438809" cy="189353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10</a:t>
            </a:r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8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grpSp>
        <p:nvGrpSpPr>
          <p:cNvPr id="253" name="グループ化 252">
            <a:extLst>
              <a:ext uri="{FF2B5EF4-FFF2-40B4-BE49-F238E27FC236}">
                <a16:creationId xmlns:a16="http://schemas.microsoft.com/office/drawing/2014/main" id="{A1A2F44A-8EFE-2C52-9DC1-7ABD4A48968D}"/>
              </a:ext>
            </a:extLst>
          </p:cNvPr>
          <p:cNvGrpSpPr/>
          <p:nvPr/>
        </p:nvGrpSpPr>
        <p:grpSpPr>
          <a:xfrm>
            <a:off x="3783105" y="4940071"/>
            <a:ext cx="1212195" cy="252000"/>
            <a:chOff x="2979419" y="4557422"/>
            <a:chExt cx="1212195" cy="252000"/>
          </a:xfrm>
        </p:grpSpPr>
        <p:sp>
          <p:nvSpPr>
            <p:cNvPr id="256" name="調達（保守運用）">
              <a:extLst>
                <a:ext uri="{FF2B5EF4-FFF2-40B4-BE49-F238E27FC236}">
                  <a16:creationId xmlns:a16="http://schemas.microsoft.com/office/drawing/2014/main" id="{147C9856-62E3-40B2-7D8A-C5691DDAF03D}"/>
                </a:ext>
              </a:extLst>
            </p:cNvPr>
            <p:cNvSpPr/>
            <p:nvPr/>
          </p:nvSpPr>
          <p:spPr>
            <a:xfrm>
              <a:off x="3394177" y="4557422"/>
              <a:ext cx="179194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調達</a:t>
              </a:r>
            </a:p>
          </p:txBody>
        </p:sp>
        <p:sp>
          <p:nvSpPr>
            <p:cNvPr id="260" name="予算要求（保守運用）">
              <a:extLst>
                <a:ext uri="{FF2B5EF4-FFF2-40B4-BE49-F238E27FC236}">
                  <a16:creationId xmlns:a16="http://schemas.microsoft.com/office/drawing/2014/main" id="{B10A02DD-FF6F-BC6B-1A64-E4E5BFA4F22F}"/>
                </a:ext>
              </a:extLst>
            </p:cNvPr>
            <p:cNvSpPr/>
            <p:nvPr/>
          </p:nvSpPr>
          <p:spPr>
            <a:xfrm>
              <a:off x="2979419" y="4557422"/>
              <a:ext cx="260327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4290" rIns="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予算</a:t>
              </a:r>
              <a:br>
                <a:rPr lang="en-US" altLang="ja-JP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</a:br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要求</a:t>
              </a:r>
            </a:p>
          </p:txBody>
        </p:sp>
        <p:cxnSp>
          <p:nvCxnSpPr>
            <p:cNvPr id="261" name="コネクタ（保守運用）">
              <a:extLst>
                <a:ext uri="{FF2B5EF4-FFF2-40B4-BE49-F238E27FC236}">
                  <a16:creationId xmlns:a16="http://schemas.microsoft.com/office/drawing/2014/main" id="{39686C64-2C5C-DFBC-231B-BB5D438DE9EC}"/>
                </a:ext>
              </a:extLst>
            </p:cNvPr>
            <p:cNvCxnSpPr>
              <a:cxnSpLocks/>
              <a:stCxn id="260" idx="3"/>
              <a:endCxn id="256" idx="1"/>
            </p:cNvCxnSpPr>
            <p:nvPr/>
          </p:nvCxnSpPr>
          <p:spPr>
            <a:xfrm>
              <a:off x="3239746" y="4683422"/>
              <a:ext cx="154431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5" name="委託２（保守）">
              <a:extLst>
                <a:ext uri="{FF2B5EF4-FFF2-40B4-BE49-F238E27FC236}">
                  <a16:creationId xmlns:a16="http://schemas.microsoft.com/office/drawing/2014/main" id="{0E2F3DA5-744F-C0CD-477C-31A5B543BDD1}"/>
                </a:ext>
              </a:extLst>
            </p:cNvPr>
            <p:cNvSpPr/>
            <p:nvPr/>
          </p:nvSpPr>
          <p:spPr>
            <a:xfrm>
              <a:off x="3567657" y="4557422"/>
              <a:ext cx="623957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サービス利用</a:t>
              </a:r>
              <a:endParaRPr lang="en-US" altLang="ja-JP" sz="6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</p:grpSp>
      <p:grpSp>
        <p:nvGrpSpPr>
          <p:cNvPr id="266" name="グループ化 265">
            <a:extLst>
              <a:ext uri="{FF2B5EF4-FFF2-40B4-BE49-F238E27FC236}">
                <a16:creationId xmlns:a16="http://schemas.microsoft.com/office/drawing/2014/main" id="{E88D55A8-15A6-AD30-C2B1-E170294218FE}"/>
              </a:ext>
            </a:extLst>
          </p:cNvPr>
          <p:cNvGrpSpPr/>
          <p:nvPr/>
        </p:nvGrpSpPr>
        <p:grpSpPr>
          <a:xfrm>
            <a:off x="4540025" y="5251000"/>
            <a:ext cx="1212195" cy="252000"/>
            <a:chOff x="2979419" y="4557422"/>
            <a:chExt cx="1212195" cy="252000"/>
          </a:xfrm>
        </p:grpSpPr>
        <p:sp>
          <p:nvSpPr>
            <p:cNvPr id="267" name="調達（保守運用）">
              <a:extLst>
                <a:ext uri="{FF2B5EF4-FFF2-40B4-BE49-F238E27FC236}">
                  <a16:creationId xmlns:a16="http://schemas.microsoft.com/office/drawing/2014/main" id="{EB8D6EBC-EE48-EE79-6417-E80963117041}"/>
                </a:ext>
              </a:extLst>
            </p:cNvPr>
            <p:cNvSpPr/>
            <p:nvPr/>
          </p:nvSpPr>
          <p:spPr>
            <a:xfrm>
              <a:off x="3394177" y="4557422"/>
              <a:ext cx="179194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調達</a:t>
              </a:r>
            </a:p>
          </p:txBody>
        </p:sp>
        <p:sp>
          <p:nvSpPr>
            <p:cNvPr id="268" name="予算要求（保守運用）">
              <a:extLst>
                <a:ext uri="{FF2B5EF4-FFF2-40B4-BE49-F238E27FC236}">
                  <a16:creationId xmlns:a16="http://schemas.microsoft.com/office/drawing/2014/main" id="{8D1DEBE4-E621-2CDC-E1DD-97F7614F3F1D}"/>
                </a:ext>
              </a:extLst>
            </p:cNvPr>
            <p:cNvSpPr/>
            <p:nvPr/>
          </p:nvSpPr>
          <p:spPr>
            <a:xfrm>
              <a:off x="2979419" y="4557422"/>
              <a:ext cx="260327" cy="25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34290" rIns="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予算</a:t>
              </a:r>
              <a:br>
                <a:rPr lang="en-US" altLang="ja-JP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</a:br>
              <a:r>
                <a:rPr lang="ja-JP" altLang="en-US" sz="600" b="1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要求</a:t>
              </a:r>
            </a:p>
          </p:txBody>
        </p:sp>
        <p:cxnSp>
          <p:nvCxnSpPr>
            <p:cNvPr id="274" name="コネクタ（保守運用）">
              <a:extLst>
                <a:ext uri="{FF2B5EF4-FFF2-40B4-BE49-F238E27FC236}">
                  <a16:creationId xmlns:a16="http://schemas.microsoft.com/office/drawing/2014/main" id="{2BC11A44-8503-9D58-9225-D80A3A91B737}"/>
                </a:ext>
              </a:extLst>
            </p:cNvPr>
            <p:cNvCxnSpPr>
              <a:cxnSpLocks/>
              <a:stCxn id="268" idx="3"/>
              <a:endCxn id="267" idx="1"/>
            </p:cNvCxnSpPr>
            <p:nvPr/>
          </p:nvCxnSpPr>
          <p:spPr>
            <a:xfrm>
              <a:off x="3239746" y="4683422"/>
              <a:ext cx="154431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7" name="委託２（保守）">
              <a:extLst>
                <a:ext uri="{FF2B5EF4-FFF2-40B4-BE49-F238E27FC236}">
                  <a16:creationId xmlns:a16="http://schemas.microsoft.com/office/drawing/2014/main" id="{554E5204-7A1D-71D3-DA73-BE539B580447}"/>
                </a:ext>
              </a:extLst>
            </p:cNvPr>
            <p:cNvSpPr/>
            <p:nvPr/>
          </p:nvSpPr>
          <p:spPr>
            <a:xfrm>
              <a:off x="3567657" y="4557422"/>
              <a:ext cx="623957" cy="25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600" dirty="0">
                  <a:solidFill>
                    <a:schemeClr val="tx1"/>
                  </a:solidFill>
                  <a:latin typeface="ＭＳ ゴシック" panose="020B0609070205080204" pitchFamily="49" charset="-128"/>
                  <a:ea typeface="ＭＳ ゴシック" panose="020B0609070205080204" pitchFamily="49" charset="-128"/>
                </a:rPr>
                <a:t>サービス利用</a:t>
              </a:r>
              <a:endParaRPr lang="en-US" altLang="ja-JP" sz="600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endParaRPr>
            </a:p>
          </p:txBody>
        </p:sp>
      </p:grpSp>
      <p:sp>
        <p:nvSpPr>
          <p:cNvPr id="73" name="フリーフォーム 52">
            <a:extLst>
              <a:ext uri="{FF2B5EF4-FFF2-40B4-BE49-F238E27FC236}">
                <a16:creationId xmlns:a16="http://schemas.microsoft.com/office/drawing/2014/main" id="{5094322A-9533-76A1-07DB-19E281B31B6E}"/>
              </a:ext>
            </a:extLst>
          </p:cNvPr>
          <p:cNvSpPr/>
          <p:nvPr/>
        </p:nvSpPr>
        <p:spPr>
          <a:xfrm>
            <a:off x="2583568" y="2797499"/>
            <a:ext cx="3178198" cy="295596"/>
          </a:xfrm>
          <a:custGeom>
            <a:avLst/>
            <a:gdLst>
              <a:gd name="connsiteX0" fmla="*/ 499006 w 2526574"/>
              <a:gd name="connsiteY0" fmla="*/ 0 h 237051"/>
              <a:gd name="connsiteX1" fmla="*/ 2526574 w 2526574"/>
              <a:gd name="connsiteY1" fmla="*/ 0 h 237051"/>
              <a:gd name="connsiteX2" fmla="*/ 2526574 w 2526574"/>
              <a:gd name="connsiteY2" fmla="*/ 237051 h 237051"/>
              <a:gd name="connsiteX3" fmla="*/ 499006 w 2526574"/>
              <a:gd name="connsiteY3" fmla="*/ 237051 h 237051"/>
              <a:gd name="connsiteX4" fmla="*/ 499006 w 2526574"/>
              <a:gd name="connsiteY4" fmla="*/ 236788 h 237051"/>
              <a:gd name="connsiteX5" fmla="*/ 0 w 2526574"/>
              <a:gd name="connsiteY5" fmla="*/ 236788 h 237051"/>
              <a:gd name="connsiteX6" fmla="*/ 0 w 2526574"/>
              <a:gd name="connsiteY6" fmla="*/ 147606 h 237051"/>
              <a:gd name="connsiteX7" fmla="*/ 499006 w 2526574"/>
              <a:gd name="connsiteY7" fmla="*/ 147606 h 237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26574" h="237051">
                <a:moveTo>
                  <a:pt x="499006" y="0"/>
                </a:moveTo>
                <a:lnTo>
                  <a:pt x="2526574" y="0"/>
                </a:lnTo>
                <a:lnTo>
                  <a:pt x="2526574" y="237051"/>
                </a:lnTo>
                <a:lnTo>
                  <a:pt x="499006" y="237051"/>
                </a:lnTo>
                <a:lnTo>
                  <a:pt x="499006" y="236788"/>
                </a:lnTo>
                <a:lnTo>
                  <a:pt x="0" y="236788"/>
                </a:lnTo>
                <a:lnTo>
                  <a:pt x="0" y="147606"/>
                </a:lnTo>
                <a:lnTo>
                  <a:pt x="499006" y="14760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ja-JP" altLang="en-US" sz="600" b="1" dirty="0">
              <a:solidFill>
                <a:schemeClr val="tx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2" name="５章文字">
            <a:extLst>
              <a:ext uri="{FF2B5EF4-FFF2-40B4-BE49-F238E27FC236}">
                <a16:creationId xmlns:a16="http://schemas.microsoft.com/office/drawing/2014/main" id="{39DA0C51-D274-6316-F8C7-124D316CC2FF}"/>
              </a:ext>
            </a:extLst>
          </p:cNvPr>
          <p:cNvSpPr/>
          <p:nvPr/>
        </p:nvSpPr>
        <p:spPr>
          <a:xfrm>
            <a:off x="3967891" y="2881241"/>
            <a:ext cx="931545" cy="12811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ja-JP" altLang="en-US" sz="800" b="1" dirty="0">
                <a:solidFill>
                  <a:schemeClr val="tx1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</a:rPr>
              <a:t>運用及び保守</a:t>
            </a:r>
          </a:p>
        </p:txBody>
      </p:sp>
      <p:sp>
        <p:nvSpPr>
          <p:cNvPr id="226" name="角丸四角形 47">
            <a:extLst>
              <a:ext uri="{FF2B5EF4-FFF2-40B4-BE49-F238E27FC236}">
                <a16:creationId xmlns:a16="http://schemas.microsoft.com/office/drawing/2014/main" id="{EC68D514-373F-A403-1119-9D950212E07F}"/>
              </a:ext>
            </a:extLst>
          </p:cNvPr>
          <p:cNvSpPr/>
          <p:nvPr/>
        </p:nvSpPr>
        <p:spPr>
          <a:xfrm>
            <a:off x="3429387" y="2849897"/>
            <a:ext cx="438809" cy="190800"/>
          </a:xfrm>
          <a:prstGeom prst="rect">
            <a:avLst/>
          </a:prstGeom>
          <a:solidFill>
            <a:srgbClr val="00196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第</a:t>
            </a:r>
            <a:r>
              <a:rPr lang="en-US" altLang="ja-JP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9</a:t>
            </a:r>
            <a:r>
              <a:rPr lang="ja-JP" altLang="en-US" sz="800" b="1" dirty="0">
                <a:solidFill>
                  <a:schemeClr val="bg1"/>
                </a:solidFill>
                <a:latin typeface="Segoe UI" panose="020B0502040204020203" pitchFamily="34" charset="0"/>
                <a:ea typeface="Yu Gothic UI" panose="020B0500000000000000" pitchFamily="50" charset="-128"/>
                <a:cs typeface="Segoe UI" panose="020B0502040204020203" pitchFamily="34" charset="0"/>
              </a:rPr>
              <a:t>章</a:t>
            </a:r>
            <a:endParaRPr lang="en-US" altLang="ja-JP" sz="800" b="1" dirty="0">
              <a:solidFill>
                <a:schemeClr val="bg1"/>
              </a:solidFill>
              <a:latin typeface="Segoe UI" panose="020B0502040204020203" pitchFamily="34" charset="0"/>
              <a:ea typeface="Yu Gothic UI" panose="020B0500000000000000" pitchFamily="50" charset="-128"/>
              <a:cs typeface="Segoe UI" panose="020B0502040204020203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5DC7F7F-488D-755B-BC5A-D2F634D51DE5}"/>
              </a:ext>
            </a:extLst>
          </p:cNvPr>
          <p:cNvSpPr txBox="1"/>
          <p:nvPr/>
        </p:nvSpPr>
        <p:spPr>
          <a:xfrm>
            <a:off x="6723532" y="6611913"/>
            <a:ext cx="42671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※</a:t>
            </a:r>
            <a:r>
              <a:rPr kumimoji="1" lang="ja-JP" altLang="en-US" sz="8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本表には全体像を把握する上で主要な作業のみ掲載しています。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829636214"/>
      </p:ext>
    </p:extLst>
  </p:cSld>
  <p:clrMapOvr>
    <a:masterClrMapping/>
  </p:clrMapOvr>
</p:sld>
</file>

<file path=ppt/theme/theme1.xml><?xml version="1.0" encoding="utf-8"?>
<a:theme xmlns:a="http://schemas.openxmlformats.org/drawingml/2006/main" name="デジタル庁_20210907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igitalAgencyCustomized">
      <a:majorFont>
        <a:latin typeface="Roboto"/>
        <a:ea typeface="游ゴシック Medium"/>
        <a:cs typeface=""/>
      </a:majorFont>
      <a:minorFont>
        <a:latin typeface="游ゴシック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gital_Agency_Powerpoint_Template_JA_Wide" id="{BBEB91CB-58E1-4C2D-80C2-2798298F4F4C}" vid="{1D442F1E-F6D9-4C84-BE32-6A75489F6BA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36fffe2-e74d-4f21-833f-6f054a10cb50}" enabled="1" method="Privileged" siteId="{a4dd5294-24e4-4102-8420-cb86d0baae1e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374</Words>
  <Application>Microsoft Office PowerPoint</Application>
  <PresentationFormat>ワイド画面</PresentationFormat>
  <Paragraphs>100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Meiryo UI</vt:lpstr>
      <vt:lpstr>ＭＳ Ｐゴシック</vt:lpstr>
      <vt:lpstr>ＭＳ ゴシック</vt:lpstr>
      <vt:lpstr>游ゴシック</vt:lpstr>
      <vt:lpstr>Yu Gothic Medium</vt:lpstr>
      <vt:lpstr>Arial</vt:lpstr>
      <vt:lpstr>Roboto</vt:lpstr>
      <vt:lpstr>Segoe UI</vt:lpstr>
      <vt:lpstr>Wingdings</vt:lpstr>
      <vt:lpstr>デジタル庁_20210907</vt:lpstr>
      <vt:lpstr>ITマネジメントの全体像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2026-07-09T08:25:32Z</dcterms:created>
  <dcterms:modified xsi:type="dcterms:W3CDTF">2026-07-09T08:25:39Z</dcterms:modified>
</cp:coreProperties>
</file>